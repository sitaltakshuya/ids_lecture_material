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0" r:id="rId14"/>
    <p:sldId id="266" r:id="rId15"/>
    <p:sldId id="271" r:id="rId16"/>
    <p:sldId id="267" r:id="rId17"/>
    <p:sldId id="272" r:id="rId18"/>
    <p:sldId id="268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741C-1B55-A1ED-3138-E10C6165A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53222A-6E09-D93C-A4AF-785ADDB37A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C363E-3BDE-6669-48B7-924FB2276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4EAC-66EE-4C1B-A9FA-6A49939DB8E5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21220-7F8A-7BE8-8BBB-2F06ABEE2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1D84C-6083-D322-C98B-59C2AF30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D2-466E-4D47-AD16-12BCEBC9B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38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27259-A2EC-9048-3F2D-FC4404672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2867F-ABD9-0434-7395-484996985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8CECA-0B7D-C9DE-9FD7-84A8436D5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4EAC-66EE-4C1B-A9FA-6A49939DB8E5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3FB37-6411-BE36-D11D-0382AEBFA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38F26-0182-1A7B-46C0-4143494D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D2-466E-4D47-AD16-12BCEBC9B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422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DBE3-BD19-F8D4-93CA-D0F2EB5E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E66E3-FE16-C662-9FE7-424127C1B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4E1E8-C14C-3DDC-61C5-814F881B3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4EAC-66EE-4C1B-A9FA-6A49939DB8E5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5CB03-8097-1BAC-DEA0-2F63B362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C163F-06C1-7D6B-6CF1-9FB85FD53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D2-466E-4D47-AD16-12BCEBC9B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96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12A7E-224F-4CF2-14F5-4310006A5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78779-F0D7-1305-E3EC-830879C23D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8BB67-BF21-CED5-A41C-6FC6B9711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C594E-4F04-64F1-42B3-72CA2AB8F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4EAC-66EE-4C1B-A9FA-6A49939DB8E5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C68EF-B11E-B960-0333-B5F8C3B5C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BB355-A88B-25CC-37F2-412F0D9A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D2-466E-4D47-AD16-12BCEBC9B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017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606E1-DE9E-5CAD-383C-0AB5F623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0BA05-AE73-10DC-FFC3-634373FC8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0D9A0-3AB4-633B-D0C3-5E13AB00C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25F40-7B1E-7757-1384-9B607EBA9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92641-1115-1E95-8591-F8791F36FC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D8791-FC12-B467-AF2C-8FA452C50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4EAC-66EE-4C1B-A9FA-6A49939DB8E5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B3B82-64C9-FEE5-4796-4943D47EC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DE5E93-CAAD-2A30-361E-AC548E930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D2-466E-4D47-AD16-12BCEBC9B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90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D669C-FEB2-FFA9-7677-0454A88F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07C61-E43A-9B1C-18DC-E7E1C0F7C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4EAC-66EE-4C1B-A9FA-6A49939DB8E5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000AFE-893B-EB6C-92F8-80BA9919D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903131-038B-BAD2-3F01-15B8E596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D2-466E-4D47-AD16-12BCEBC9B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5842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A4E432-0720-0879-6A7A-F38C1E457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4EAC-66EE-4C1B-A9FA-6A49939DB8E5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401704-E9FC-F2E5-29F2-6BE91F0C4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9CB9C-DA88-278D-BC00-7A13163B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D2-466E-4D47-AD16-12BCEBC9B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33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5A7E-38CA-B0FA-E20F-F1009C493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3E0EF-8155-6120-2AA7-5D4A2C07E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A8568-6003-A706-7528-9C47A2983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68215-7AF3-250A-6E48-BD50FD05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4EAC-66EE-4C1B-A9FA-6A49939DB8E5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27A56-5A20-B5DB-9728-34DFCBED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F6F2F-F1FC-54D4-4961-8876DEB3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D2-466E-4D47-AD16-12BCEBC9B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6E944-5E67-79BA-A292-78709DDF9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08B195-FA06-602B-9AE4-CAB2CCEA4C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5A2FE-BB9E-070A-BCBF-1421A2C36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27B4-4D66-2FCE-B3C0-B3FA6EDF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4EAC-66EE-4C1B-A9FA-6A49939DB8E5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531C9-01EE-4159-E8DF-10105B7D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60014-03FE-2148-05FE-A1DD005DA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D2-466E-4D47-AD16-12BCEBC9B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4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5E9E1-E1E7-D1A1-747B-8F4B769DD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7081D-00FC-2CDB-9499-09F8BDD89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9C5DF-2F49-4C1C-A8B0-A2D704AB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4EAC-66EE-4C1B-A9FA-6A49939DB8E5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94657-7634-5DDB-E3C1-C76F35EAB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382C4-609E-A08D-CA6B-21779F22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D2-466E-4D47-AD16-12BCEBC9B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2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E72F17-0773-5106-8150-A0BA6EEA4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70ACDB-CF9F-7D16-66AA-E359C579ED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62F1D-4C1C-71DD-207A-DAA7B0B4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4EAC-66EE-4C1B-A9FA-6A49939DB8E5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FEE77-BD17-CBDA-FDBF-4B9BBA13B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357AD-095E-1CB6-2AB5-CC7C5543B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6BD2-466E-4D47-AD16-12BCEBC9B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66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552C2-0DE0-18CB-A7BF-CBD43C13E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B720F-D15E-3045-E24C-3BD33F1D1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CF9C1-EE4D-40DA-7F08-D4F278BDF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84EAC-66EE-4C1B-A9FA-6A49939DB8E5}" type="datetimeFigureOut">
              <a:rPr lang="en-IN" smtClean="0"/>
              <a:t>21-10-2024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4E058-08D6-D652-FDAA-F2D787706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F2AEF-43F2-F32E-54F5-19E0C608CD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96BD2-466E-4D47-AD16-12BCEBC9B6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99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6E97B-2D18-BFCD-5B7E-F4C2AF042E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One way and two way </a:t>
            </a:r>
            <a:r>
              <a:rPr lang="en-IN" dirty="0" err="1"/>
              <a:t>anova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9565BF-A9D6-8AAE-E2D0-D4B225B6B3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-Sital Sharma</a:t>
            </a:r>
          </a:p>
        </p:txBody>
      </p:sp>
    </p:spTree>
    <p:extLst>
      <p:ext uri="{BB962C8B-B14F-4D97-AF65-F5344CB8AC3E}">
        <p14:creationId xmlns:p14="http://schemas.microsoft.com/office/powerpoint/2010/main" val="3061690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2275-A820-B4D2-7DAF-3004A49C3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F-Distribution Table for 5% level of significance (</a:t>
            </a:r>
            <a:r>
              <a:rPr lang="el-GR" dirty="0"/>
              <a:t>α = 0.05</a:t>
            </a:r>
            <a:r>
              <a:rPr lang="en-IN" dirty="0"/>
              <a:t>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09CA1C-CDAA-81D1-9574-ECE01B2030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0787755"/>
              </p:ext>
            </p:extLst>
          </p:nvPr>
        </p:nvGraphicFramePr>
        <p:xfrm>
          <a:off x="838200" y="1825625"/>
          <a:ext cx="10515600" cy="4475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631">
                  <a:extLst>
                    <a:ext uri="{9D8B030D-6E8A-4147-A177-3AD203B41FA5}">
                      <a16:colId xmlns:a16="http://schemas.microsoft.com/office/drawing/2014/main" val="61076484"/>
                    </a:ext>
                  </a:extLst>
                </a:gridCol>
                <a:gridCol w="1355569">
                  <a:extLst>
                    <a:ext uri="{9D8B030D-6E8A-4147-A177-3AD203B41FA5}">
                      <a16:colId xmlns:a16="http://schemas.microsoft.com/office/drawing/2014/main" val="38828218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469450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5565339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6330471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32787823"/>
                    </a:ext>
                  </a:extLst>
                </a:gridCol>
              </a:tblGrid>
              <a:tr h="924038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Numerator df1 / Denominator df2</a:t>
                      </a:r>
                      <a:endParaRPr lang="en-IN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752818"/>
                  </a:ext>
                </a:extLst>
              </a:tr>
              <a:tr h="535355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4.08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269428"/>
                  </a:ext>
                </a:extLst>
              </a:tr>
              <a:tr h="535355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989968"/>
                  </a:ext>
                </a:extLst>
              </a:tr>
              <a:tr h="535355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045672"/>
                  </a:ext>
                </a:extLst>
              </a:tr>
              <a:tr h="535355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419822"/>
                  </a:ext>
                </a:extLst>
              </a:tr>
              <a:tr h="535355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2.48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0694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54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6414-D1C7-50E1-D33C-E11D4EC1B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ONE WAY 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1DF0D-3542-0DA9-23B8-990A5F595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4000" dirty="0"/>
              <a:t>Here One independent factor is influenced  different sample group (or level)</a:t>
            </a:r>
          </a:p>
          <a:p>
            <a:r>
              <a:rPr lang="en-IN" sz="4000" dirty="0"/>
              <a:t>Data is classified according to one criterion.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139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CF471-B420-654C-3198-BE1198601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9764"/>
            <a:ext cx="10515600" cy="5817199"/>
          </a:xfrm>
        </p:spPr>
        <p:txBody>
          <a:bodyPr/>
          <a:lstStyle/>
          <a:p>
            <a:r>
              <a:rPr lang="en-IN" dirty="0" err="1"/>
              <a:t>E.g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>
                <a:latin typeface="Hind" panose="02000000000000000000" pitchFamily="2" charset="0"/>
                <a:cs typeface="Hind" panose="02000000000000000000" pitchFamily="2" charset="0"/>
              </a:rPr>
              <a:t>ΣX1=? ,X1 (mean)= ?</a:t>
            </a:r>
          </a:p>
          <a:p>
            <a:r>
              <a:rPr lang="en-IN" b="1" dirty="0">
                <a:latin typeface="Hind" panose="02000000000000000000" pitchFamily="2" charset="0"/>
                <a:cs typeface="Hind" panose="02000000000000000000" pitchFamily="2" charset="0"/>
              </a:rPr>
              <a:t>ΣX2=? ,X2 (mean)= ?</a:t>
            </a:r>
          </a:p>
          <a:p>
            <a:r>
              <a:rPr lang="en-IN" b="1" dirty="0">
                <a:latin typeface="Hind" panose="02000000000000000000" pitchFamily="2" charset="0"/>
                <a:cs typeface="Hind" panose="02000000000000000000" pitchFamily="2" charset="0"/>
              </a:rPr>
              <a:t>ΣX3=? </a:t>
            </a:r>
            <a:r>
              <a:rPr lang="en-IN" b="1">
                <a:latin typeface="Hind" panose="02000000000000000000" pitchFamily="2" charset="0"/>
                <a:cs typeface="Hind" panose="02000000000000000000" pitchFamily="2" charset="0"/>
              </a:rPr>
              <a:t>,X3 </a:t>
            </a:r>
            <a:r>
              <a:rPr lang="en-IN" b="1" dirty="0">
                <a:latin typeface="Hind" panose="02000000000000000000" pitchFamily="2" charset="0"/>
                <a:cs typeface="Hind" panose="02000000000000000000" pitchFamily="2" charset="0"/>
              </a:rPr>
              <a:t>(mean)= ?</a:t>
            </a:r>
          </a:p>
          <a:p>
            <a:endParaRPr lang="en-IN" dirty="0">
              <a:latin typeface="Hind" panose="02000000000000000000" pitchFamily="2" charset="0"/>
              <a:cs typeface="Hind" panose="02000000000000000000" pitchFamily="2" charset="0"/>
            </a:endParaRPr>
          </a:p>
          <a:p>
            <a:endParaRPr lang="en-IN" dirty="0">
              <a:latin typeface="Hind" panose="02000000000000000000" pitchFamily="2" charset="0"/>
              <a:cs typeface="Hind" panose="02000000000000000000" pitchFamily="2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F2E386-DBD0-214D-97D6-0580968E5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488047"/>
              </p:ext>
            </p:extLst>
          </p:nvPr>
        </p:nvGraphicFramePr>
        <p:xfrm>
          <a:off x="2032000" y="1150479"/>
          <a:ext cx="812799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7369259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6095040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03852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 of Payment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125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CASH (X1)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CARD (X2)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UPI(X3)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76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95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66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950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186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537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789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E972F-7900-9DDD-8DCA-3A8409C41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5929F-187B-BB00-738F-F67FA4036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9764"/>
            <a:ext cx="10515600" cy="5817199"/>
          </a:xfrm>
        </p:spPr>
        <p:txBody>
          <a:bodyPr/>
          <a:lstStyle/>
          <a:p>
            <a:r>
              <a:rPr lang="en-IN" dirty="0" err="1"/>
              <a:t>E.g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latin typeface="Hind" panose="02000000000000000000" pitchFamily="2" charset="0"/>
                <a:cs typeface="Hind" panose="02000000000000000000" pitchFamily="2" charset="0"/>
              </a:rPr>
              <a:t>ΣX1=50 ,X1 (mean)= 10</a:t>
            </a:r>
          </a:p>
          <a:p>
            <a:r>
              <a:rPr lang="en-IN" dirty="0">
                <a:latin typeface="Hind" panose="02000000000000000000" pitchFamily="2" charset="0"/>
                <a:cs typeface="Hind" panose="02000000000000000000" pitchFamily="2" charset="0"/>
              </a:rPr>
              <a:t>ΣX2=40 ,X2 (mean)= 8</a:t>
            </a:r>
          </a:p>
          <a:p>
            <a:r>
              <a:rPr lang="en-IN" dirty="0">
                <a:latin typeface="Hind" panose="02000000000000000000" pitchFamily="2" charset="0"/>
                <a:cs typeface="Hind" panose="02000000000000000000" pitchFamily="2" charset="0"/>
              </a:rPr>
              <a:t>ΣX3=60 ,X2(mean)= 12</a:t>
            </a:r>
          </a:p>
          <a:p>
            <a:endParaRPr lang="en-IN" dirty="0">
              <a:latin typeface="Hind" panose="02000000000000000000" pitchFamily="2" charset="0"/>
              <a:cs typeface="Hind" panose="02000000000000000000" pitchFamily="2" charset="0"/>
            </a:endParaRPr>
          </a:p>
          <a:p>
            <a:endParaRPr lang="en-IN" dirty="0">
              <a:latin typeface="Hind" panose="02000000000000000000" pitchFamily="2" charset="0"/>
              <a:cs typeface="Hind" panose="02000000000000000000" pitchFamily="2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92EA84-AE62-82A3-3C70-315272281971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1150479"/>
          <a:ext cx="812799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7369259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6095040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03852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 of Payment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125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CASH (X1)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CARD (X2)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UPI(X3)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76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95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66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950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186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537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762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CAFB4-57BC-2A09-2150-E4BA0EB80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872"/>
            <a:ext cx="10515600" cy="5982091"/>
          </a:xfrm>
        </p:spPr>
        <p:txBody>
          <a:bodyPr/>
          <a:lstStyle/>
          <a:p>
            <a:r>
              <a:rPr lang="en-IN" dirty="0"/>
              <a:t>Ho: X1 (Mean)=X2(Mean)=X3(Mean)</a:t>
            </a:r>
          </a:p>
          <a:p>
            <a:r>
              <a:rPr lang="en-IN" dirty="0"/>
              <a:t>H1: At least one mean is different</a:t>
            </a:r>
          </a:p>
          <a:p>
            <a:r>
              <a:rPr lang="en-IN" b="1" dirty="0"/>
              <a:t>STEPS:</a:t>
            </a:r>
          </a:p>
          <a:p>
            <a:r>
              <a:rPr lang="en-IN" b="1" dirty="0"/>
              <a:t>1. Grand Total: </a:t>
            </a:r>
            <a:r>
              <a:rPr lang="en-IN" dirty="0">
                <a:latin typeface="Hind" panose="02000000000000000000" pitchFamily="2" charset="0"/>
                <a:cs typeface="Hind" panose="02000000000000000000" pitchFamily="2" charset="0"/>
              </a:rPr>
              <a:t>ΣX1+ΣX2+ΣX3.</a:t>
            </a:r>
          </a:p>
          <a:p>
            <a:r>
              <a:rPr lang="en-IN" b="1" dirty="0">
                <a:latin typeface="Hind" panose="02000000000000000000" pitchFamily="2" charset="0"/>
                <a:cs typeface="Hind" panose="02000000000000000000" pitchFamily="2" charset="0"/>
              </a:rPr>
              <a:t>2. Find correction factor : T^2 / N , where N= n1+n2+n3</a:t>
            </a:r>
          </a:p>
          <a:p>
            <a:r>
              <a:rPr lang="en-IN" b="1" dirty="0">
                <a:latin typeface="Hind" panose="02000000000000000000" pitchFamily="2" charset="0"/>
                <a:cs typeface="Hind" panose="02000000000000000000" pitchFamily="2" charset="0"/>
              </a:rPr>
              <a:t>3. Sum of square between sample (SSC)</a:t>
            </a:r>
          </a:p>
          <a:p>
            <a:r>
              <a:rPr lang="en-IN" dirty="0">
                <a:latin typeface="Hind" panose="02000000000000000000" pitchFamily="2" charset="0"/>
                <a:cs typeface="Hind" panose="02000000000000000000" pitchFamily="2" charset="0"/>
              </a:rPr>
              <a:t>SSC= (ΣX1)^2 / n1 + (ΣX2)^2 / n2 + (ΣX1)^2 / n3 – T^2 /N</a:t>
            </a:r>
          </a:p>
          <a:p>
            <a:r>
              <a:rPr lang="en-IN" dirty="0" err="1">
                <a:latin typeface="Hind" panose="02000000000000000000" pitchFamily="2" charset="0"/>
                <a:cs typeface="Hind" panose="02000000000000000000" pitchFamily="2" charset="0"/>
              </a:rPr>
              <a:t>df</a:t>
            </a:r>
            <a:r>
              <a:rPr lang="en-IN" dirty="0">
                <a:latin typeface="Hind" panose="02000000000000000000" pitchFamily="2" charset="0"/>
                <a:cs typeface="Hind" panose="02000000000000000000" pitchFamily="2" charset="0"/>
              </a:rPr>
              <a:t> (Degree of freedom) = C-1 (No of column -1)</a:t>
            </a:r>
          </a:p>
          <a:p>
            <a:r>
              <a:rPr lang="en-IN" b="1" dirty="0">
                <a:latin typeface="Hind" panose="02000000000000000000" pitchFamily="2" charset="0"/>
                <a:cs typeface="Hind" panose="02000000000000000000" pitchFamily="2" charset="0"/>
              </a:rPr>
              <a:t>4. Total Sum of Square (SST):</a:t>
            </a:r>
          </a:p>
          <a:p>
            <a:r>
              <a:rPr lang="en-IN" dirty="0">
                <a:latin typeface="Hind" panose="02000000000000000000" pitchFamily="2" charset="0"/>
                <a:cs typeface="Hind" panose="02000000000000000000" pitchFamily="2" charset="0"/>
              </a:rPr>
              <a:t>SST= ΣX1^2 + ΣX2^2+ΣX3^2 – T^2 /N</a:t>
            </a:r>
          </a:p>
          <a:p>
            <a:r>
              <a:rPr lang="en-IN" dirty="0" err="1">
                <a:latin typeface="Hind" panose="02000000000000000000" pitchFamily="2" charset="0"/>
                <a:cs typeface="Hind" panose="02000000000000000000" pitchFamily="2" charset="0"/>
              </a:rPr>
              <a:t>df</a:t>
            </a:r>
            <a:r>
              <a:rPr lang="en-IN" dirty="0">
                <a:latin typeface="Hind" panose="02000000000000000000" pitchFamily="2" charset="0"/>
                <a:cs typeface="Hind" panose="02000000000000000000" pitchFamily="2" charset="0"/>
              </a:rPr>
              <a:t>=N-1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73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46468-A94B-4152-6D98-965AD47FF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803"/>
            <a:ext cx="10515600" cy="5877160"/>
          </a:xfrm>
        </p:spPr>
        <p:txBody>
          <a:bodyPr/>
          <a:lstStyle/>
          <a:p>
            <a:r>
              <a:rPr lang="en-IN" b="1" dirty="0"/>
              <a:t>5. Sum of square withing sample  (SSE) aka error:</a:t>
            </a:r>
          </a:p>
          <a:p>
            <a:r>
              <a:rPr lang="en-IN" dirty="0"/>
              <a:t>SSE=SST-SSC</a:t>
            </a:r>
          </a:p>
          <a:p>
            <a:r>
              <a:rPr lang="en-IN" dirty="0" err="1"/>
              <a:t>d.f</a:t>
            </a:r>
            <a:r>
              <a:rPr lang="en-IN" dirty="0"/>
              <a:t>=N-C</a:t>
            </a:r>
          </a:p>
          <a:p>
            <a:r>
              <a:rPr lang="en-IN" b="1" dirty="0"/>
              <a:t>6. Mean sum of square between sample (MSC):</a:t>
            </a:r>
          </a:p>
          <a:p>
            <a:r>
              <a:rPr lang="en-IN" dirty="0"/>
              <a:t>MSC= SSC / C-1 // it will give you variance b/w sample</a:t>
            </a:r>
          </a:p>
          <a:p>
            <a:r>
              <a:rPr lang="en-IN" b="1" dirty="0"/>
              <a:t>7. Mean sum of square within sample (MSE)</a:t>
            </a:r>
          </a:p>
          <a:p>
            <a:r>
              <a:rPr lang="en-IN" dirty="0"/>
              <a:t>MSE= SSE/N-C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037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C82D5-D018-64B6-C664-DF372A225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one way </a:t>
            </a:r>
            <a:r>
              <a:rPr lang="en-IN" dirty="0" err="1"/>
              <a:t>anova</a:t>
            </a:r>
            <a:r>
              <a:rPr lang="en-IN" dirty="0"/>
              <a:t>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BA40CA-E975-55C6-2B74-B1DFB53A55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4607698"/>
              </p:ext>
            </p:extLst>
          </p:nvPr>
        </p:nvGraphicFramePr>
        <p:xfrm>
          <a:off x="838200" y="1825625"/>
          <a:ext cx="105156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9593015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693971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4871302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396957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46208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Source of Variation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Sum of 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Degree of Freedom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 sum of 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F-Ratio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81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B/W Sample</a:t>
                      </a:r>
                    </a:p>
                    <a:p>
                      <a:r>
                        <a:rPr lang="en-IN" dirty="0"/>
                        <a:t>Within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SSC</a:t>
                      </a:r>
                    </a:p>
                    <a:p>
                      <a:r>
                        <a:rPr lang="en-IN" dirty="0"/>
                        <a:t>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C-1</a:t>
                      </a:r>
                    </a:p>
                    <a:p>
                      <a:r>
                        <a:rPr lang="en-IN" dirty="0"/>
                        <a:t>N-C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MSC= SSC/C-1</a:t>
                      </a:r>
                    </a:p>
                    <a:p>
                      <a:r>
                        <a:rPr lang="en-IN" dirty="0"/>
                        <a:t>MSE= SSE/N-C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F= MSC / 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8337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6595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AE707ED-1055-B9EF-0CCF-099EA11F53F1}"/>
              </a:ext>
            </a:extLst>
          </p:cNvPr>
          <p:cNvSpPr txBox="1"/>
          <p:nvPr/>
        </p:nvSpPr>
        <p:spPr>
          <a:xfrm>
            <a:off x="569626" y="4212235"/>
            <a:ext cx="111227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Note:  Whatever the variance we take in numerator we have to write its degree of freedom first , and whatever the variance we take in denominator we have to write its degree of freedom second.</a:t>
            </a:r>
          </a:p>
          <a:p>
            <a:endParaRPr lang="en-IN" sz="2400" b="1" dirty="0">
              <a:solidFill>
                <a:srgbClr val="FF0000"/>
              </a:solidFill>
            </a:endParaRPr>
          </a:p>
          <a:p>
            <a:r>
              <a:rPr lang="en-IN" sz="2400" b="1" dirty="0">
                <a:solidFill>
                  <a:srgbClr val="FF0000"/>
                </a:solidFill>
              </a:rPr>
              <a:t>Variance is decided based on value whosever value is greater write it in numerator.</a:t>
            </a:r>
          </a:p>
        </p:txBody>
      </p:sp>
    </p:spTree>
    <p:extLst>
      <p:ext uri="{BB962C8B-B14F-4D97-AF65-F5344CB8AC3E}">
        <p14:creationId xmlns:p14="http://schemas.microsoft.com/office/powerpoint/2010/main" val="3510353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B2088-61D7-3BA2-F226-39D10B4EA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9725"/>
            <a:ext cx="10515600" cy="5757238"/>
          </a:xfrm>
        </p:spPr>
        <p:txBody>
          <a:bodyPr>
            <a:normAutofit/>
          </a:bodyPr>
          <a:lstStyle/>
          <a:p>
            <a:r>
              <a:rPr lang="en-IN" sz="3600" dirty="0"/>
              <a:t>Whatever the value we  calculate for F we have to compare the value with the table value.</a:t>
            </a:r>
          </a:p>
          <a:p>
            <a:r>
              <a:rPr lang="en-IN" sz="3600" dirty="0"/>
              <a:t>If </a:t>
            </a:r>
            <a:r>
              <a:rPr lang="en-IN" sz="3600" dirty="0" err="1"/>
              <a:t>cal</a:t>
            </a:r>
            <a:r>
              <a:rPr lang="en-IN" sz="3600" dirty="0"/>
              <a:t> F &gt; tab F , Reject the Null Hypothesis </a:t>
            </a:r>
          </a:p>
          <a:p>
            <a:r>
              <a:rPr lang="en-IN" sz="3600" dirty="0"/>
              <a:t>If </a:t>
            </a:r>
            <a:r>
              <a:rPr lang="en-IN" sz="3600" dirty="0" err="1"/>
              <a:t>cal</a:t>
            </a:r>
            <a:r>
              <a:rPr lang="en-IN" sz="3600" dirty="0"/>
              <a:t> F  &lt; tab F , Ho accepted</a:t>
            </a:r>
          </a:p>
        </p:txBody>
      </p:sp>
    </p:spTree>
    <p:extLst>
      <p:ext uri="{BB962C8B-B14F-4D97-AF65-F5344CB8AC3E}">
        <p14:creationId xmlns:p14="http://schemas.microsoft.com/office/powerpoint/2010/main" val="223571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E88D-F5F3-AC1C-E368-90BDC08C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80464-CE8B-914D-2AD1-D3F44F08C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812"/>
            <a:ext cx="10515600" cy="5069850"/>
          </a:xfrm>
        </p:spPr>
        <p:txBody>
          <a:bodyPr/>
          <a:lstStyle/>
          <a:p>
            <a:r>
              <a:rPr lang="en-IN" dirty="0"/>
              <a:t>To assess the significance of possible variation in performance in a certain test b/w the school of a city , a common test was given to a number of students taken at random from the senior firth class of each of the four schools concerned. The result are given below. Make an analysis of variance of data.</a:t>
            </a:r>
          </a:p>
        </p:txBody>
      </p:sp>
    </p:spTree>
    <p:extLst>
      <p:ext uri="{BB962C8B-B14F-4D97-AF65-F5344CB8AC3E}">
        <p14:creationId xmlns:p14="http://schemas.microsoft.com/office/powerpoint/2010/main" val="1285187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033C2D-4CCC-1398-9F4C-54D26AAA34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250138"/>
              </p:ext>
            </p:extLst>
          </p:nvPr>
        </p:nvGraphicFramePr>
        <p:xfrm>
          <a:off x="718279" y="746334"/>
          <a:ext cx="10704228" cy="4035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057">
                  <a:extLst>
                    <a:ext uri="{9D8B030D-6E8A-4147-A177-3AD203B41FA5}">
                      <a16:colId xmlns:a16="http://schemas.microsoft.com/office/drawing/2014/main" val="3343053523"/>
                    </a:ext>
                  </a:extLst>
                </a:gridCol>
                <a:gridCol w="2676057">
                  <a:extLst>
                    <a:ext uri="{9D8B030D-6E8A-4147-A177-3AD203B41FA5}">
                      <a16:colId xmlns:a16="http://schemas.microsoft.com/office/drawing/2014/main" val="1370447281"/>
                    </a:ext>
                  </a:extLst>
                </a:gridCol>
                <a:gridCol w="2676057">
                  <a:extLst>
                    <a:ext uri="{9D8B030D-6E8A-4147-A177-3AD203B41FA5}">
                      <a16:colId xmlns:a16="http://schemas.microsoft.com/office/drawing/2014/main" val="119375487"/>
                    </a:ext>
                  </a:extLst>
                </a:gridCol>
                <a:gridCol w="2676057">
                  <a:extLst>
                    <a:ext uri="{9D8B030D-6E8A-4147-A177-3AD203B41FA5}">
                      <a16:colId xmlns:a16="http://schemas.microsoft.com/office/drawing/2014/main" val="3576936654"/>
                    </a:ext>
                  </a:extLst>
                </a:gridCol>
              </a:tblGrid>
              <a:tr h="6725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462097"/>
                  </a:ext>
                </a:extLst>
              </a:tr>
              <a:tr h="672588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742418"/>
                  </a:ext>
                </a:extLst>
              </a:tr>
              <a:tr h="672588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617742"/>
                  </a:ext>
                </a:extLst>
              </a:tr>
              <a:tr h="672588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492921"/>
                  </a:ext>
                </a:extLst>
              </a:tr>
              <a:tr h="672588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988716"/>
                  </a:ext>
                </a:extLst>
              </a:tr>
              <a:tr h="672588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2667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8FA5F6F-7989-739F-FFA1-D6CB3912C01B}"/>
              </a:ext>
            </a:extLst>
          </p:cNvPr>
          <p:cNvSpPr txBox="1"/>
          <p:nvPr/>
        </p:nvSpPr>
        <p:spPr>
          <a:xfrm>
            <a:off x="3117954" y="5381469"/>
            <a:ext cx="4005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Ho: Performance of students are same</a:t>
            </a:r>
          </a:p>
        </p:txBody>
      </p:sp>
    </p:spTree>
    <p:extLst>
      <p:ext uri="{BB962C8B-B14F-4D97-AF65-F5344CB8AC3E}">
        <p14:creationId xmlns:p14="http://schemas.microsoft.com/office/powerpoint/2010/main" val="1785399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2D603-E3AE-A81D-094B-FE4C3944A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4734"/>
            <a:ext cx="10515600" cy="5772229"/>
          </a:xfrm>
        </p:spPr>
        <p:txBody>
          <a:bodyPr/>
          <a:lstStyle/>
          <a:p>
            <a:r>
              <a:rPr lang="en-IN" dirty="0"/>
              <a:t>A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B668B8-57CB-DFC7-FAB7-8A134EF19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015631"/>
              </p:ext>
            </p:extLst>
          </p:nvPr>
        </p:nvGraphicFramePr>
        <p:xfrm>
          <a:off x="838200" y="404733"/>
          <a:ext cx="11048997" cy="556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574">
                  <a:extLst>
                    <a:ext uri="{9D8B030D-6E8A-4147-A177-3AD203B41FA5}">
                      <a16:colId xmlns:a16="http://schemas.microsoft.com/office/drawing/2014/main" val="2640959418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3570962288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3657992923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3069694951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981131529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2593441575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2291537039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2287091527"/>
                    </a:ext>
                  </a:extLst>
                </a:gridCol>
              </a:tblGrid>
              <a:tr h="695169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87378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r>
                        <a:rPr lang="en-IN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X1^2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X2^2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X3^2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X4^2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786988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008630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08271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80306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317976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989260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777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4656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82754-1F4B-5E8A-CB31-A18B580E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AF40F-01EA-5717-16C2-57E64933E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4734"/>
            <a:ext cx="10515600" cy="5772229"/>
          </a:xfrm>
        </p:spPr>
        <p:txBody>
          <a:bodyPr/>
          <a:lstStyle/>
          <a:p>
            <a:r>
              <a:rPr lang="en-IN" dirty="0"/>
              <a:t>A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CD2FEF-FBF7-9E7A-4BC7-D2A29E3A07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679219"/>
              </p:ext>
            </p:extLst>
          </p:nvPr>
        </p:nvGraphicFramePr>
        <p:xfrm>
          <a:off x="838200" y="404733"/>
          <a:ext cx="11048997" cy="556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574">
                  <a:extLst>
                    <a:ext uri="{9D8B030D-6E8A-4147-A177-3AD203B41FA5}">
                      <a16:colId xmlns:a16="http://schemas.microsoft.com/office/drawing/2014/main" val="2640959418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3570962288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3657992923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3069694951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981131529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2593441575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2291537039"/>
                    </a:ext>
                  </a:extLst>
                </a:gridCol>
                <a:gridCol w="1315489">
                  <a:extLst>
                    <a:ext uri="{9D8B030D-6E8A-4147-A177-3AD203B41FA5}">
                      <a16:colId xmlns:a16="http://schemas.microsoft.com/office/drawing/2014/main" val="2287091527"/>
                    </a:ext>
                  </a:extLst>
                </a:gridCol>
              </a:tblGrid>
              <a:tr h="695169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87378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r>
                        <a:rPr lang="en-IN" b="1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X1^2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X2^2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X3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X3^2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X4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X4^2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786988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r>
                        <a:rPr lang="en-IN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7008630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r>
                        <a:rPr lang="en-IN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08271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r>
                        <a:rPr lang="en-IN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80306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r>
                        <a:rPr lang="en-IN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256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317976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r>
                        <a:rPr lang="en-IN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989260"/>
                  </a:ext>
                </a:extLst>
              </a:tr>
              <a:tr h="695169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Hind" panose="02000000000000000000" pitchFamily="2" charset="0"/>
                          <a:cs typeface="Hind" panose="02000000000000000000" pitchFamily="2" charset="0"/>
                        </a:rPr>
                        <a:t>ΣX1=45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Hind" panose="02000000000000000000" pitchFamily="2" charset="0"/>
                          <a:cs typeface="Hind" panose="02000000000000000000" pitchFamily="2" charset="0"/>
                        </a:rPr>
                        <a:t>ΣX1^2=421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Hind" panose="02000000000000000000" pitchFamily="2" charset="0"/>
                          <a:cs typeface="Hind" panose="02000000000000000000" pitchFamily="2" charset="0"/>
                        </a:rPr>
                        <a:t>ΣX2=50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Hind" panose="02000000000000000000" pitchFamily="2" charset="0"/>
                          <a:cs typeface="Hind" panose="02000000000000000000" pitchFamily="2" charset="0"/>
                        </a:rPr>
                        <a:t>ΣX2^2=558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Hind" panose="02000000000000000000" pitchFamily="2" charset="0"/>
                          <a:cs typeface="Hind" panose="02000000000000000000" pitchFamily="2" charset="0"/>
                        </a:rPr>
                        <a:t>ΣX3=60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Hind" panose="02000000000000000000" pitchFamily="2" charset="0"/>
                          <a:cs typeface="Hind" panose="02000000000000000000" pitchFamily="2" charset="0"/>
                        </a:rPr>
                        <a:t>ΣX3^2=824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Hind" panose="02000000000000000000" pitchFamily="2" charset="0"/>
                          <a:cs typeface="Hind" panose="02000000000000000000" pitchFamily="2" charset="0"/>
                        </a:rPr>
                        <a:t>ΣX4=65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Hind" panose="02000000000000000000" pitchFamily="2" charset="0"/>
                          <a:cs typeface="Hind" panose="02000000000000000000" pitchFamily="2" charset="0"/>
                        </a:rPr>
                        <a:t>ΣX4^2=875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777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699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E6BA8-5363-EC52-3554-F2D6F701E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9764"/>
            <a:ext cx="10515600" cy="5817199"/>
          </a:xfrm>
        </p:spPr>
        <p:txBody>
          <a:bodyPr/>
          <a:lstStyle/>
          <a:p>
            <a:r>
              <a:rPr lang="en-IN" dirty="0"/>
              <a:t>Grand Total (T)</a:t>
            </a:r>
          </a:p>
          <a:p>
            <a:r>
              <a:rPr lang="en-IN" dirty="0"/>
              <a:t>Correction factor= </a:t>
            </a:r>
          </a:p>
          <a:p>
            <a:r>
              <a:rPr lang="en-IN" dirty="0"/>
              <a:t> = </a:t>
            </a:r>
          </a:p>
          <a:p>
            <a:r>
              <a:rPr lang="en-IN" dirty="0"/>
              <a:t>Sum of Square between sample (SSC): </a:t>
            </a:r>
          </a:p>
          <a:p>
            <a:r>
              <a:rPr lang="en-IN" dirty="0"/>
              <a:t>=</a:t>
            </a:r>
          </a:p>
          <a:p>
            <a:r>
              <a:rPr lang="en-IN" dirty="0" err="1"/>
              <a:t>df</a:t>
            </a:r>
            <a:r>
              <a:rPr lang="en-IN" dirty="0"/>
              <a:t>= (c-1)</a:t>
            </a:r>
          </a:p>
          <a:p>
            <a:r>
              <a:rPr lang="en-IN" dirty="0"/>
              <a:t>Sum of square of Total</a:t>
            </a:r>
          </a:p>
          <a:p>
            <a:r>
              <a:rPr lang="en-IN" dirty="0"/>
              <a:t>SST=</a:t>
            </a:r>
          </a:p>
          <a:p>
            <a:r>
              <a:rPr lang="en-IN" dirty="0" err="1"/>
              <a:t>df</a:t>
            </a:r>
            <a:r>
              <a:rPr lang="en-IN" dirty="0"/>
              <a:t>= </a:t>
            </a:r>
          </a:p>
          <a:p>
            <a:r>
              <a:rPr lang="en-IN" dirty="0"/>
              <a:t>Sum of square within sample</a:t>
            </a:r>
          </a:p>
          <a:p>
            <a:r>
              <a:rPr lang="en-IN" dirty="0"/>
              <a:t>SSE=SST-SSC = </a:t>
            </a:r>
          </a:p>
        </p:txBody>
      </p:sp>
    </p:spTree>
    <p:extLst>
      <p:ext uri="{BB962C8B-B14F-4D97-AF65-F5344CB8AC3E}">
        <p14:creationId xmlns:p14="http://schemas.microsoft.com/office/powerpoint/2010/main" val="1382534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BFACD-1225-1B8F-32F3-5DDC88303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538E4-6ADA-69E2-08E8-151EA853C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9764"/>
            <a:ext cx="10515600" cy="5817199"/>
          </a:xfrm>
        </p:spPr>
        <p:txBody>
          <a:bodyPr/>
          <a:lstStyle/>
          <a:p>
            <a:r>
              <a:rPr lang="en-IN" dirty="0"/>
              <a:t>Grand Total (T):45+50+60+65 =</a:t>
            </a:r>
            <a:r>
              <a:rPr lang="en-IN" b="1" dirty="0"/>
              <a:t>220</a:t>
            </a:r>
          </a:p>
          <a:p>
            <a:r>
              <a:rPr lang="en-IN" dirty="0"/>
              <a:t>Correction factor= T^2 / N</a:t>
            </a:r>
          </a:p>
          <a:p>
            <a:r>
              <a:rPr lang="en-IN" dirty="0"/>
              <a:t> = (220) ^2/  20= </a:t>
            </a:r>
            <a:r>
              <a:rPr lang="en-IN" b="1" dirty="0"/>
              <a:t>2420</a:t>
            </a:r>
          </a:p>
          <a:p>
            <a:r>
              <a:rPr lang="en-IN" dirty="0"/>
              <a:t>Sum of Square between sample (SSC): </a:t>
            </a:r>
          </a:p>
          <a:p>
            <a:r>
              <a:rPr lang="en-IN" dirty="0"/>
              <a:t>(45)^2 / 5 + (50)^2 / 5+(60)^2/5+(65)^2/5 - 2420 =</a:t>
            </a:r>
            <a:r>
              <a:rPr lang="en-IN" b="1" dirty="0"/>
              <a:t>50</a:t>
            </a:r>
          </a:p>
          <a:p>
            <a:r>
              <a:rPr lang="en-IN" dirty="0" err="1"/>
              <a:t>df</a:t>
            </a:r>
            <a:r>
              <a:rPr lang="en-IN" dirty="0"/>
              <a:t>= (c-1)=4-1=</a:t>
            </a:r>
            <a:r>
              <a:rPr lang="en-IN" b="1" dirty="0"/>
              <a:t>3</a:t>
            </a:r>
          </a:p>
          <a:p>
            <a:r>
              <a:rPr lang="en-IN" dirty="0"/>
              <a:t>Sum of square of Total</a:t>
            </a:r>
          </a:p>
          <a:p>
            <a:r>
              <a:rPr lang="en-IN" dirty="0"/>
              <a:t>SST= 421+558+824+875-2420 = 258</a:t>
            </a:r>
          </a:p>
          <a:p>
            <a:r>
              <a:rPr lang="en-IN" dirty="0" err="1"/>
              <a:t>df</a:t>
            </a:r>
            <a:r>
              <a:rPr lang="en-IN" dirty="0"/>
              <a:t>= n-1=</a:t>
            </a:r>
            <a:r>
              <a:rPr lang="en-IN" b="1" dirty="0"/>
              <a:t>20-1</a:t>
            </a:r>
            <a:r>
              <a:rPr lang="en-IN" dirty="0"/>
              <a:t>=19</a:t>
            </a:r>
          </a:p>
          <a:p>
            <a:r>
              <a:rPr lang="en-IN" dirty="0"/>
              <a:t>Sum of square within sample</a:t>
            </a:r>
          </a:p>
          <a:p>
            <a:r>
              <a:rPr lang="en-IN" dirty="0"/>
              <a:t>SSE=SST-SSC = 258-50= </a:t>
            </a:r>
            <a:r>
              <a:rPr lang="en-IN" b="1" dirty="0"/>
              <a:t>208</a:t>
            </a:r>
          </a:p>
        </p:txBody>
      </p:sp>
    </p:spTree>
    <p:extLst>
      <p:ext uri="{BB962C8B-B14F-4D97-AF65-F5344CB8AC3E}">
        <p14:creationId xmlns:p14="http://schemas.microsoft.com/office/powerpoint/2010/main" val="70351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547D0C-17AF-A9DA-F70C-43F074B88E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4612152"/>
              </p:ext>
            </p:extLst>
          </p:nvPr>
        </p:nvGraphicFramePr>
        <p:xfrm>
          <a:off x="254833" y="524656"/>
          <a:ext cx="11662345" cy="59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469">
                  <a:extLst>
                    <a:ext uri="{9D8B030D-6E8A-4147-A177-3AD203B41FA5}">
                      <a16:colId xmlns:a16="http://schemas.microsoft.com/office/drawing/2014/main" val="3500021540"/>
                    </a:ext>
                  </a:extLst>
                </a:gridCol>
                <a:gridCol w="2332469">
                  <a:extLst>
                    <a:ext uri="{9D8B030D-6E8A-4147-A177-3AD203B41FA5}">
                      <a16:colId xmlns:a16="http://schemas.microsoft.com/office/drawing/2014/main" val="1400005111"/>
                    </a:ext>
                  </a:extLst>
                </a:gridCol>
                <a:gridCol w="2332469">
                  <a:extLst>
                    <a:ext uri="{9D8B030D-6E8A-4147-A177-3AD203B41FA5}">
                      <a16:colId xmlns:a16="http://schemas.microsoft.com/office/drawing/2014/main" val="1593842406"/>
                    </a:ext>
                  </a:extLst>
                </a:gridCol>
                <a:gridCol w="2332469">
                  <a:extLst>
                    <a:ext uri="{9D8B030D-6E8A-4147-A177-3AD203B41FA5}">
                      <a16:colId xmlns:a16="http://schemas.microsoft.com/office/drawing/2014/main" val="1007974625"/>
                    </a:ext>
                  </a:extLst>
                </a:gridCol>
                <a:gridCol w="2332469">
                  <a:extLst>
                    <a:ext uri="{9D8B030D-6E8A-4147-A177-3AD203B41FA5}">
                      <a16:colId xmlns:a16="http://schemas.microsoft.com/office/drawing/2014/main" val="2497298504"/>
                    </a:ext>
                  </a:extLst>
                </a:gridCol>
              </a:tblGrid>
              <a:tr h="1364407">
                <a:tc>
                  <a:txBody>
                    <a:bodyPr/>
                    <a:lstStyle/>
                    <a:p>
                      <a:r>
                        <a:rPr lang="en-IN" sz="3200" dirty="0"/>
                        <a:t>Source of Variation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Sum of 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Degree of Freedom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Mean sum of 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F-Ratio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72620"/>
                  </a:ext>
                </a:extLst>
              </a:tr>
              <a:tr h="3859323">
                <a:tc>
                  <a:txBody>
                    <a:bodyPr/>
                    <a:lstStyle/>
                    <a:p>
                      <a:r>
                        <a:rPr lang="en-IN" sz="3200" dirty="0"/>
                        <a:t>B/W Sample</a:t>
                      </a:r>
                    </a:p>
                    <a:p>
                      <a:r>
                        <a:rPr lang="en-IN" sz="3200" dirty="0"/>
                        <a:t>Within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SSC=?</a:t>
                      </a:r>
                    </a:p>
                    <a:p>
                      <a:r>
                        <a:rPr lang="en-IN" sz="3200" dirty="0"/>
                        <a:t>SSE=?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C-1=?</a:t>
                      </a:r>
                    </a:p>
                    <a:p>
                      <a:r>
                        <a:rPr lang="en-IN" sz="3200" dirty="0"/>
                        <a:t>N-C=?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MSC= SSC/C-1 =</a:t>
                      </a:r>
                    </a:p>
                    <a:p>
                      <a:r>
                        <a:rPr lang="en-IN" sz="3200" dirty="0"/>
                        <a:t>?</a:t>
                      </a:r>
                    </a:p>
                    <a:p>
                      <a:r>
                        <a:rPr lang="en-IN" sz="3200" dirty="0"/>
                        <a:t>MSE= SSE/N-C</a:t>
                      </a:r>
                    </a:p>
                    <a:p>
                      <a:r>
                        <a:rPr lang="en-IN" sz="3200" dirty="0"/>
                        <a:t>=?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F= MSC / MSE</a:t>
                      </a:r>
                    </a:p>
                    <a:p>
                      <a:endParaRPr lang="en-IN" sz="3200" dirty="0"/>
                    </a:p>
                    <a:p>
                      <a:r>
                        <a:rPr lang="en-IN" sz="3200" dirty="0"/>
                        <a:t>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615838"/>
                  </a:ext>
                </a:extLst>
              </a:tr>
              <a:tr h="740678">
                <a:tc>
                  <a:txBody>
                    <a:bodyPr/>
                    <a:lstStyle/>
                    <a:p>
                      <a:r>
                        <a:rPr lang="en-IN" sz="32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SST=?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N-1=?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20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332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7EF47-B9ED-FAEA-FB1C-BF038C66D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808CEC-B006-E2DD-C845-4F1970C9EF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813889"/>
              </p:ext>
            </p:extLst>
          </p:nvPr>
        </p:nvGraphicFramePr>
        <p:xfrm>
          <a:off x="299803" y="539646"/>
          <a:ext cx="11647360" cy="5827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9472">
                  <a:extLst>
                    <a:ext uri="{9D8B030D-6E8A-4147-A177-3AD203B41FA5}">
                      <a16:colId xmlns:a16="http://schemas.microsoft.com/office/drawing/2014/main" val="3500021540"/>
                    </a:ext>
                  </a:extLst>
                </a:gridCol>
                <a:gridCol w="2329472">
                  <a:extLst>
                    <a:ext uri="{9D8B030D-6E8A-4147-A177-3AD203B41FA5}">
                      <a16:colId xmlns:a16="http://schemas.microsoft.com/office/drawing/2014/main" val="1400005111"/>
                    </a:ext>
                  </a:extLst>
                </a:gridCol>
                <a:gridCol w="2329472">
                  <a:extLst>
                    <a:ext uri="{9D8B030D-6E8A-4147-A177-3AD203B41FA5}">
                      <a16:colId xmlns:a16="http://schemas.microsoft.com/office/drawing/2014/main" val="1593842406"/>
                    </a:ext>
                  </a:extLst>
                </a:gridCol>
                <a:gridCol w="2329472">
                  <a:extLst>
                    <a:ext uri="{9D8B030D-6E8A-4147-A177-3AD203B41FA5}">
                      <a16:colId xmlns:a16="http://schemas.microsoft.com/office/drawing/2014/main" val="1007974625"/>
                    </a:ext>
                  </a:extLst>
                </a:gridCol>
                <a:gridCol w="2329472">
                  <a:extLst>
                    <a:ext uri="{9D8B030D-6E8A-4147-A177-3AD203B41FA5}">
                      <a16:colId xmlns:a16="http://schemas.microsoft.com/office/drawing/2014/main" val="2497298504"/>
                    </a:ext>
                  </a:extLst>
                </a:gridCol>
              </a:tblGrid>
              <a:tr h="1212432">
                <a:tc>
                  <a:txBody>
                    <a:bodyPr/>
                    <a:lstStyle/>
                    <a:p>
                      <a:r>
                        <a:rPr lang="en-IN" sz="2800" dirty="0"/>
                        <a:t>Source of Variation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Sum of 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Degree of Freedom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Mean sum of 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F-Ratio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72620"/>
                  </a:ext>
                </a:extLst>
              </a:tr>
              <a:tr h="3950183">
                <a:tc>
                  <a:txBody>
                    <a:bodyPr/>
                    <a:lstStyle/>
                    <a:p>
                      <a:r>
                        <a:rPr lang="en-IN" sz="2800" dirty="0"/>
                        <a:t>B/W Sample</a:t>
                      </a:r>
                    </a:p>
                    <a:p>
                      <a:r>
                        <a:rPr lang="en-IN" sz="2800" dirty="0"/>
                        <a:t>Within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SSC= </a:t>
                      </a:r>
                      <a:r>
                        <a:rPr lang="en-IN" sz="2800" b="1" dirty="0"/>
                        <a:t>50</a:t>
                      </a:r>
                    </a:p>
                    <a:p>
                      <a:r>
                        <a:rPr lang="en-IN" sz="2800" dirty="0"/>
                        <a:t>SSE=</a:t>
                      </a:r>
                      <a:r>
                        <a:rPr lang="en-IN" sz="2800" b="1" dirty="0"/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C-1=4-1=</a:t>
                      </a:r>
                      <a:r>
                        <a:rPr lang="en-IN" sz="2800" b="1" dirty="0"/>
                        <a:t>3</a:t>
                      </a:r>
                    </a:p>
                    <a:p>
                      <a:r>
                        <a:rPr lang="en-IN" sz="2800" dirty="0"/>
                        <a:t>N-C=</a:t>
                      </a:r>
                      <a:r>
                        <a:rPr lang="en-IN" sz="2800" b="1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MSC= SSC/C-1 =</a:t>
                      </a:r>
                    </a:p>
                    <a:p>
                      <a:r>
                        <a:rPr lang="en-IN" sz="2800" b="1" dirty="0"/>
                        <a:t>50/3= 16.67</a:t>
                      </a:r>
                    </a:p>
                    <a:p>
                      <a:r>
                        <a:rPr lang="en-IN" sz="2800" dirty="0"/>
                        <a:t>MSE= SSE/N-C</a:t>
                      </a:r>
                    </a:p>
                    <a:p>
                      <a:r>
                        <a:rPr lang="en-IN" sz="2800" dirty="0"/>
                        <a:t>=</a:t>
                      </a:r>
                      <a:r>
                        <a:rPr lang="en-IN" sz="2800" b="1" dirty="0"/>
                        <a:t>208/16=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F= MSC / MSE</a:t>
                      </a:r>
                    </a:p>
                    <a:p>
                      <a:endParaRPr lang="en-IN" sz="2800" dirty="0"/>
                    </a:p>
                    <a:p>
                      <a:r>
                        <a:rPr lang="en-IN" sz="2800" dirty="0"/>
                        <a:t>F(3,16)=16.57 /13</a:t>
                      </a:r>
                    </a:p>
                    <a:p>
                      <a:endParaRPr lang="en-IN" sz="2800" dirty="0"/>
                    </a:p>
                    <a:p>
                      <a:r>
                        <a:rPr lang="en-IN" sz="2800" b="1" dirty="0"/>
                        <a:t>1.28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615838"/>
                  </a:ext>
                </a:extLst>
              </a:tr>
              <a:tr h="664882">
                <a:tc>
                  <a:txBody>
                    <a:bodyPr/>
                    <a:lstStyle/>
                    <a:p>
                      <a:r>
                        <a:rPr lang="en-IN" sz="28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SST=</a:t>
                      </a:r>
                      <a:r>
                        <a:rPr lang="en-IN" sz="2800" b="1" dirty="0"/>
                        <a:t>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N-1=19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20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670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77FE1-694F-0001-3896-FECFDE7C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BF92D7-D6CC-AB61-F598-EC2E4F0B5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227" y="3696615"/>
            <a:ext cx="9144000" cy="316138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Decision = Calculated value of  F(3,16)=1.28 at 5% level of significance.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Tabulated value of F(3,16)= 3.24 at 5% level of significance.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Cal F &lt; Tab F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Conclusion : we fail to reject the null hypothesis.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AACA48-4214-5C62-7B79-074314633D3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430755"/>
              </p:ext>
            </p:extLst>
          </p:nvPr>
        </p:nvGraphicFramePr>
        <p:xfrm>
          <a:off x="838200" y="349732"/>
          <a:ext cx="10515600" cy="2963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000215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0000511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938424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079746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97298504"/>
                    </a:ext>
                  </a:extLst>
                </a:gridCol>
              </a:tblGrid>
              <a:tr h="768209">
                <a:tc>
                  <a:txBody>
                    <a:bodyPr/>
                    <a:lstStyle/>
                    <a:p>
                      <a:r>
                        <a:rPr lang="en-IN" dirty="0"/>
                        <a:t>Source of Variation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Sum of 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Degree of Freedom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 sum of 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F-Ratio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72620"/>
                  </a:ext>
                </a:extLst>
              </a:tr>
              <a:tr h="1755907">
                <a:tc>
                  <a:txBody>
                    <a:bodyPr/>
                    <a:lstStyle/>
                    <a:p>
                      <a:r>
                        <a:rPr lang="en-IN" dirty="0"/>
                        <a:t>B/W Sample</a:t>
                      </a:r>
                    </a:p>
                    <a:p>
                      <a:r>
                        <a:rPr lang="en-IN" dirty="0"/>
                        <a:t>Within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SSC= 50</a:t>
                      </a:r>
                    </a:p>
                    <a:p>
                      <a:r>
                        <a:rPr lang="en-IN" dirty="0"/>
                        <a:t>SSE=208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C-1=4-1=3</a:t>
                      </a:r>
                    </a:p>
                    <a:p>
                      <a:r>
                        <a:rPr lang="en-IN" dirty="0"/>
                        <a:t>N-C=16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MSC= SSC/C-1 =</a:t>
                      </a:r>
                    </a:p>
                    <a:p>
                      <a:r>
                        <a:rPr lang="en-IN" dirty="0"/>
                        <a:t>50/3= 16.67</a:t>
                      </a:r>
                    </a:p>
                    <a:p>
                      <a:r>
                        <a:rPr lang="en-IN" dirty="0"/>
                        <a:t>MSE= SSE/N-C</a:t>
                      </a:r>
                    </a:p>
                    <a:p>
                      <a:r>
                        <a:rPr lang="en-IN" dirty="0"/>
                        <a:t>=208/16=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F= MSC / MSE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F(3,16)=16.57 /13</a:t>
                      </a:r>
                    </a:p>
                    <a:p>
                      <a:endParaRPr lang="en-IN" dirty="0"/>
                    </a:p>
                    <a:p>
                      <a:r>
                        <a:rPr lang="en-IN" dirty="0"/>
                        <a:t>1.28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615838"/>
                  </a:ext>
                </a:extLst>
              </a:tr>
              <a:tr h="438977">
                <a:tc>
                  <a:txBody>
                    <a:bodyPr/>
                    <a:lstStyle/>
                    <a:p>
                      <a:r>
                        <a:rPr lang="en-IN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SST=258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N-1=19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20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11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1F3DB-EDB5-7EF6-D7A1-72C04F5D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WAY ANOVA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2C26D-07CE-3322-5FE3-A9F0239FE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two way </a:t>
            </a:r>
            <a:r>
              <a:rPr lang="en-IN" dirty="0" err="1"/>
              <a:t>anova</a:t>
            </a:r>
            <a:r>
              <a:rPr lang="en-IN" dirty="0"/>
              <a:t> two independent factor is influenced different sampling groups or levels.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737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1081</Words>
  <Application>Microsoft Office PowerPoint</Application>
  <PresentationFormat>Widescreen</PresentationFormat>
  <Paragraphs>356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Hind</vt:lpstr>
      <vt:lpstr>Office Theme</vt:lpstr>
      <vt:lpstr>One way and two way anova </vt:lpstr>
      <vt:lpstr>F-Distribution Table for 5% level of significance (α = 0.05)</vt:lpstr>
      <vt:lpstr>ONE WAY ANOVA</vt:lpstr>
      <vt:lpstr>PowerPoint Presentation</vt:lpstr>
      <vt:lpstr>PowerPoint Presentation</vt:lpstr>
      <vt:lpstr>PowerPoint Presentation</vt:lpstr>
      <vt:lpstr>PowerPoint Presentation</vt:lpstr>
      <vt:lpstr>Create one way anova table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TWO WAY ANOVA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35</cp:revision>
  <dcterms:created xsi:type="dcterms:W3CDTF">2024-10-19T06:41:56Z</dcterms:created>
  <dcterms:modified xsi:type="dcterms:W3CDTF">2024-10-21T06:04:56Z</dcterms:modified>
</cp:coreProperties>
</file>