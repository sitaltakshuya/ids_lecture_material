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8" r:id="rId23"/>
    <p:sldId id="277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8" r:id="rId33"/>
    <p:sldId id="289" r:id="rId34"/>
    <p:sldId id="290" r:id="rId35"/>
    <p:sldId id="287" r:id="rId36"/>
    <p:sldId id="291" r:id="rId3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5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4F3F1F-1830-EA53-9382-98A5D7D77C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9145BA-A77C-A0B0-27A2-395A7306A0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634ED6-CEB1-99FB-678A-DB2440E8B8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DF4A2F-55FB-4830-BBEF-1EDC797C1792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D5F48E-A8D0-CB06-B147-63A86FF482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73F8A3-ECF8-1FB4-2833-1299C7B9F0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9DE61-A104-4C51-B2EA-67B57B6C95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39155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6EA355-5349-A362-1FC7-7F9D5E4B19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36844B-503D-4C06-FEA5-7220DA35BC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E836E6-0C3E-A64C-AD48-4C3814836F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DF4A2F-55FB-4830-BBEF-1EDC797C1792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015AD3-BE11-FED2-97A1-44A2CBCAD2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0085C1-BE97-92EC-D5D2-95DEA4607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9DE61-A104-4C51-B2EA-67B57B6C95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17072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877D51-0FEB-B1B0-8D43-F51234F978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790339-5739-FFFB-ED3F-D6F4F5A48A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53C93B-BC3B-8E3E-35BA-E8B0C6A888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DF4A2F-55FB-4830-BBEF-1EDC797C1792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A118AD-A5A8-0938-FEAA-40DE1AF753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F0224E-404E-D564-F8AB-4CED051DFC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9DE61-A104-4C51-B2EA-67B57B6C95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6578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1D3AE3-294C-E8B4-E793-7A97A66CFA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5F27B7-2A04-D9C2-C18F-EC5AE42AADB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731BB4-DB7D-1BC2-1B48-08BD57CE16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73276E-B4FA-461B-175E-0F77E1E2FD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DF4A2F-55FB-4830-BBEF-1EDC797C1792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6D2AFE-EB6D-4C00-BA76-90621C72CC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D40C5C-F233-F394-B00E-9998DB94E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9DE61-A104-4C51-B2EA-67B57B6C95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17663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4A4FB5-BB1C-EC88-9917-02C72BA700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BB262D-3397-9C0D-C06F-3218453369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3749B1-5F53-3652-900B-949E8CC0FA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5871DB-85B8-98B8-9B45-A89F48ED9E2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CCA822D-8C71-5FC2-ED61-714ADE0DB15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92D6EDE-ECD9-69B1-14D6-E77A563942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DF4A2F-55FB-4830-BBEF-1EDC797C1792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1BBED38-201A-C07F-5A0B-1918CDAD82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839D77E-3588-5AD1-F421-2987647C12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9DE61-A104-4C51-B2EA-67B57B6C95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00308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F871F6-EFD3-FEBD-B3F8-A1A7978D25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15E055-626E-60BF-560B-314747CBB9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DF4A2F-55FB-4830-BBEF-1EDC797C1792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380395F-897D-02DE-A21E-90C4712471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47A1FA-7BBA-D1F9-1684-1F04699EA9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9DE61-A104-4C51-B2EA-67B57B6C95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45140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EB740A-093A-DBA6-2E91-0DC67CDEC6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DF4A2F-55FB-4830-BBEF-1EDC797C1792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6820190-FF42-051D-C445-DA343D5351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8E396D-3C1C-3D49-B23C-85ADF426A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9DE61-A104-4C51-B2EA-67B57B6C95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67270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3BE639-4143-A8B2-9B16-CA3F036540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46E798-80D4-F5C5-9697-EA45505A90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16CDA5-332E-2AD5-2EB5-5968BED4FC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510CBF-4E41-7026-10AD-AF6D99A3E6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DF4A2F-55FB-4830-BBEF-1EDC797C1792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76E0BF-956C-029E-3BF4-FCD9215BA4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74B4D6-47D7-7C04-B171-AA3F299BD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9DE61-A104-4C51-B2EA-67B57B6C95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85426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6A9483-FCC2-67E8-C9FD-E351F33F9C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788982B-BFEE-95CC-E7C3-D62F5DFA2A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CC8A3B-B53F-EBB6-3E0E-CA40BE31F6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38C537-DF9F-6332-0222-D9AE9DC5DB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DF4A2F-55FB-4830-BBEF-1EDC797C1792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1B836D-E5E2-E036-64C6-48D6A731AF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6F28E9-586A-08A3-295C-0AF1AD112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9DE61-A104-4C51-B2EA-67B57B6C95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03717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84CDA9-BC59-5B59-896F-C1F7086267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64A764-F0B9-A03A-C8AD-6230A63257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BB1613-4B6A-D093-C234-575AC3EA28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DF4A2F-55FB-4830-BBEF-1EDC797C1792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C2F1D8-86A6-B7C8-B1C3-70CDBCE168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9EE6A6-16C7-A503-F761-53C2639E33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9DE61-A104-4C51-B2EA-67B57B6C95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5560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145FB6D-9A16-A72C-D2BB-7568DE893A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F5E7B7-8F7E-A2EB-9703-DC4AB29303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7D174E-50B8-2B26-6772-F8ED1086DB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DF4A2F-55FB-4830-BBEF-1EDC797C1792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62E31F-FF1C-77D5-4524-1C6D88E260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19D4AE-31AE-8408-730C-DE16C10AFE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9DE61-A104-4C51-B2EA-67B57B6C95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75028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3C4F158-148F-C6A6-A6A6-5A77685FB6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9F3992-B7B5-9E2A-856D-F840EE7AE8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1EC859-0F93-07B0-51E4-FA6D3C2CDE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5DF4A2F-55FB-4830-BBEF-1EDC797C1792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D2EC52-AF39-596B-C773-CB8BFE554E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AB0F20-D17F-9557-0470-44A6061494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FD9DE61-A104-4C51-B2EA-67B57B6C95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66323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DCB8F2-01E0-8B25-E1F8-093CE09BE2A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Outlier Treatment, Skewness &amp; Pearson’s Median Skewness Coefficient</a:t>
            </a:r>
          </a:p>
        </p:txBody>
      </p:sp>
    </p:spTree>
    <p:extLst>
      <p:ext uri="{BB962C8B-B14F-4D97-AF65-F5344CB8AC3E}">
        <p14:creationId xmlns:p14="http://schemas.microsoft.com/office/powerpoint/2010/main" val="35798655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A6CEE7-4ACE-50C2-C7CC-E1A7C4FBE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is an Outlier?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910B19-078A-B134-9B06-D27489BFB2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outlier is an observation that lies unusually far from the other observations in a dataset.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144704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FEB508-898B-1C60-CE8F-656464F1FC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575D68-A551-0EA7-83B2-7E814F433D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is an Outlier?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6FCCB5D-D574-C8DB-F7B4-87B1D9486A3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20214988"/>
              </p:ext>
            </p:extLst>
          </p:nvPr>
        </p:nvGraphicFramePr>
        <p:xfrm>
          <a:off x="2218544" y="1825625"/>
          <a:ext cx="4332158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32158">
                  <a:extLst>
                    <a:ext uri="{9D8B030D-6E8A-4147-A177-3AD203B41FA5}">
                      <a16:colId xmlns:a16="http://schemas.microsoft.com/office/drawing/2014/main" val="160840268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₹20,000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4990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₹22,000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36436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₹24,000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69186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₹25,000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28842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₹27,000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65934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sz="3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₹2,50,000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48797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774214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873272-CAF6-6CBB-8CAF-42BF39B6D6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Why Do Outliers Matter?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9C3096-30EF-265E-C39C-33AB3EF72E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391289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B9D5FA-19EE-E531-757E-5F293F9D8E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Methods of Detecting Outliers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003F93-C37A-FA69-0463-4EC5725F5E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Visual Inspection</a:t>
            </a:r>
          </a:p>
        </p:txBody>
      </p:sp>
    </p:spTree>
    <p:extLst>
      <p:ext uri="{BB962C8B-B14F-4D97-AF65-F5344CB8AC3E}">
        <p14:creationId xmlns:p14="http://schemas.microsoft.com/office/powerpoint/2010/main" val="809112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4573C2-AD01-7079-1413-DB89727CAC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IQR Method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3E4662-7BFE-E998-7F25-37B5A3B4FE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39056"/>
            <a:ext cx="10515600" cy="4737907"/>
          </a:xfrm>
        </p:spPr>
        <p:txBody>
          <a:bodyPr>
            <a:norm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 calculate: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IQR=Q3​−Q1​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where: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Q1​ = First quartile </a:t>
            </a: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Q3​ = Third quartile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Then calculate:</a:t>
            </a:r>
          </a:p>
          <a:p>
            <a:pPr lvl="1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Lower Fence=Q1​−1.5(IQR) Upper Fence=Q3​+1.5(IQR)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Any observation below the lower fence or above the upper fence is generally treated as a potential outlier.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441013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C5759C-3371-B0DF-CF14-F50DFAC40C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is Interquartile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DA1CAB-D8C0-1C78-0CF3-43E39D8E49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32362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651A02-7BBA-260F-D484-D280A65FE4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43E6D7-D169-3C58-E19A-ED31C746C1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Given :</a:t>
            </a:r>
          </a:p>
          <a:p>
            <a:pPr lvl="1"/>
            <a:r>
              <a:rPr lang="en-IN" sz="3200" dirty="0"/>
              <a:t>Q1​=20,Q3​=40</a:t>
            </a:r>
          </a:p>
          <a:p>
            <a:pPr lvl="1"/>
            <a:r>
              <a:rPr lang="en-IN" sz="3200" dirty="0"/>
              <a:t>IQR=?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296435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A90088-8CE9-6D95-3359-B6C42043E4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5400C3-1934-B580-C6DF-B5037017BA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05AB79-9F35-9EC4-13DD-3D20AD9646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Given :</a:t>
            </a:r>
          </a:p>
          <a:p>
            <a:pPr lvl="1"/>
            <a:r>
              <a:rPr lang="en-IN" sz="3200" dirty="0"/>
              <a:t>Q1​=20,Q3​=40</a:t>
            </a:r>
          </a:p>
          <a:p>
            <a:pPr lvl="1"/>
            <a:r>
              <a:rPr lang="en-IN" sz="3200" dirty="0"/>
              <a:t>IQR=40−20=20</a:t>
            </a:r>
          </a:p>
          <a:p>
            <a:pPr lvl="1"/>
            <a:r>
              <a:rPr lang="en-IN" sz="3200" b="1" dirty="0"/>
              <a:t>LOW-FENCE:??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677696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C5DA81-7541-DD6D-8AC3-2A85F0CB10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F6052D-9A95-EEA2-40DA-F0044C63C5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836BF4-CA67-6356-D932-1FD2DA07B9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Given :</a:t>
            </a:r>
          </a:p>
          <a:p>
            <a:pPr lvl="1"/>
            <a:r>
              <a:rPr lang="en-IN" sz="3200" dirty="0"/>
              <a:t>Q1​=20,Q3​=40</a:t>
            </a:r>
          </a:p>
          <a:p>
            <a:pPr lvl="1"/>
            <a:r>
              <a:rPr lang="en-IN" sz="3200" dirty="0"/>
              <a:t>IQR=40−20=20</a:t>
            </a:r>
          </a:p>
          <a:p>
            <a:pPr lvl="1"/>
            <a:r>
              <a:rPr lang="en-IN" sz="3200" dirty="0"/>
              <a:t>LOW-FENCE: 20−1.5(20)=−10</a:t>
            </a:r>
          </a:p>
          <a:p>
            <a:pPr lvl="1"/>
            <a:r>
              <a:rPr lang="en-IN" sz="3200" b="1" dirty="0"/>
              <a:t>Upper fence:????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193932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6D9FD3-DD1A-C0C6-1220-C1596EFF58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732AED-F36F-A1C3-0DFC-3E6F755EDA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C8CA89-F690-B294-670C-299BBFC54F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Given :</a:t>
            </a:r>
          </a:p>
          <a:p>
            <a:pPr lvl="1"/>
            <a:r>
              <a:rPr lang="en-IN" sz="3200" dirty="0"/>
              <a:t>Q1​=20,Q3​=40</a:t>
            </a:r>
          </a:p>
          <a:p>
            <a:pPr lvl="1"/>
            <a:r>
              <a:rPr lang="en-IN" sz="3200" dirty="0"/>
              <a:t>IQR=40−20=20</a:t>
            </a:r>
          </a:p>
          <a:p>
            <a:pPr lvl="1"/>
            <a:r>
              <a:rPr lang="en-IN" sz="3200" dirty="0"/>
              <a:t>LOW-FENCE: 20−1.5(20)=−10</a:t>
            </a:r>
          </a:p>
          <a:p>
            <a:pPr lvl="1"/>
            <a:r>
              <a:rPr lang="en-IN" sz="3200" b="1" dirty="0"/>
              <a:t>Upper fence: </a:t>
            </a:r>
            <a:r>
              <a:rPr lang="en-IN" sz="3200" dirty="0"/>
              <a:t>40+1.5(20)=70</a:t>
            </a:r>
            <a:endParaRPr lang="en-IN" sz="3200" b="1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02656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6CDA18-C151-9466-55CF-83DAA4BC4F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D77F78-ED26-BBB1-5999-B8879992B3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FFED33-819F-C683-9148-69CF0F15FC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Given :</a:t>
            </a:r>
          </a:p>
          <a:p>
            <a:pPr lvl="1"/>
            <a:r>
              <a:rPr lang="en-IN" sz="3200" dirty="0"/>
              <a:t>Q1​=20,Q3​=40</a:t>
            </a:r>
          </a:p>
          <a:p>
            <a:pPr lvl="1"/>
            <a:r>
              <a:rPr lang="en-IN" sz="3200" dirty="0"/>
              <a:t>IQR=40−20=20</a:t>
            </a:r>
          </a:p>
          <a:p>
            <a:pPr lvl="1"/>
            <a:r>
              <a:rPr lang="en-IN" sz="3200" dirty="0"/>
              <a:t>LOW-FENCE: 20−1.5(20)=−10</a:t>
            </a:r>
          </a:p>
          <a:p>
            <a:pPr lvl="1"/>
            <a:r>
              <a:rPr lang="en-IN" sz="3200" b="1" dirty="0"/>
              <a:t>Upper fence: </a:t>
            </a:r>
            <a:r>
              <a:rPr lang="en-IN" sz="3200" dirty="0"/>
              <a:t>40+1.5(20)=70</a:t>
            </a:r>
          </a:p>
          <a:p>
            <a:r>
              <a:rPr lang="en-IN" sz="3600" dirty="0"/>
              <a:t>Therefore, values below </a:t>
            </a:r>
            <a:r>
              <a:rPr lang="en-IN" sz="3600" b="1" dirty="0"/>
              <a:t>−10</a:t>
            </a:r>
            <a:r>
              <a:rPr lang="en-IN" sz="3600" dirty="0"/>
              <a:t> or above </a:t>
            </a:r>
            <a:r>
              <a:rPr lang="en-IN" sz="3600" b="1" dirty="0"/>
              <a:t>70</a:t>
            </a:r>
            <a:r>
              <a:rPr lang="en-IN" sz="3600" dirty="0"/>
              <a:t> are potential outliers.</a:t>
            </a:r>
            <a:endParaRPr lang="en-IN" sz="3600" b="1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782527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BD34A-2911-B291-985E-0ECB82F72F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Z-Score Method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91C503-AADA-8E02-DDD6-84E1E5607E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25161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E63065-253B-F10E-C529-2FA96E29D5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Treatment of Outliers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47349E-00D7-A152-F011-587DF5F6DC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Retain the outlier</a:t>
            </a:r>
          </a:p>
        </p:txBody>
      </p:sp>
    </p:spTree>
    <p:extLst>
      <p:ext uri="{BB962C8B-B14F-4D97-AF65-F5344CB8AC3E}">
        <p14:creationId xmlns:p14="http://schemas.microsoft.com/office/powerpoint/2010/main" val="3370670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DB3757-FD5E-098C-3DAA-8163DE4C5A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BA472-341C-D686-CE07-AA97302343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Treatment of Outliers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423E65-D179-047C-B596-D392718F30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Retain the outlier</a:t>
            </a:r>
          </a:p>
          <a:p>
            <a:r>
              <a:rPr lang="en-IN" dirty="0"/>
              <a:t>Correct the observation</a:t>
            </a:r>
          </a:p>
        </p:txBody>
      </p:sp>
    </p:spTree>
    <p:extLst>
      <p:ext uri="{BB962C8B-B14F-4D97-AF65-F5344CB8AC3E}">
        <p14:creationId xmlns:p14="http://schemas.microsoft.com/office/powerpoint/2010/main" val="7914726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06955E-658C-B604-292F-667DC5989A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21BB69-B8AF-A249-E258-9F59673B0C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Treatment of Outliers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300005-18C2-E6BA-B2FA-8A0D7A8468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Retain the outlier</a:t>
            </a:r>
          </a:p>
          <a:p>
            <a:r>
              <a:rPr lang="en-IN" dirty="0"/>
              <a:t>Correct the observation</a:t>
            </a:r>
          </a:p>
          <a:p>
            <a:r>
              <a:rPr lang="en-IN" dirty="0"/>
              <a:t>Remove the observation</a:t>
            </a:r>
          </a:p>
        </p:txBody>
      </p:sp>
    </p:spTree>
    <p:extLst>
      <p:ext uri="{BB962C8B-B14F-4D97-AF65-F5344CB8AC3E}">
        <p14:creationId xmlns:p14="http://schemas.microsoft.com/office/powerpoint/2010/main" val="1612473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603D0C-65DC-F198-07BB-FC76A3E097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9C51D9-A491-D01F-6CFE-9532626099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Treatment of Outliers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B94E6D-9935-69FE-1D63-BBA597C26A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Retain the outlier</a:t>
            </a:r>
          </a:p>
          <a:p>
            <a:r>
              <a:rPr lang="en-IN" dirty="0"/>
              <a:t>Correct the observation</a:t>
            </a:r>
          </a:p>
          <a:p>
            <a:r>
              <a:rPr lang="en-IN" dirty="0"/>
              <a:t>Remove the observation</a:t>
            </a:r>
          </a:p>
          <a:p>
            <a:r>
              <a:rPr lang="en-IN" dirty="0"/>
              <a:t>Transform the data</a:t>
            </a:r>
          </a:p>
        </p:txBody>
      </p:sp>
    </p:spTree>
    <p:extLst>
      <p:ext uri="{BB962C8B-B14F-4D97-AF65-F5344CB8AC3E}">
        <p14:creationId xmlns:p14="http://schemas.microsoft.com/office/powerpoint/2010/main" val="1260078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CFEA3B-4096-6F72-CD0D-4318370986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is Asymmetry?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B1FDD1-8A24-048D-87DD-601445E861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387668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B114A4-2B5F-278C-66B4-96C94BC7FD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CBA343-D660-5741-0DB5-1B13F9CEE3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is Asymmetry?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C35214-707E-DD05-37F5-9281887988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Asymmetry refers to the lack of symmetry in a probability distribution or frequency distribution.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distribution is symmetric when its left and right sides have approximately the same shape.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one side has a longer or heavier tail than the other, the distribution is skewed.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543197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AC6AB-8C7F-E2AD-4AE3-1395C9675D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Type 1: Symmetric distribution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12BA63-0B11-EF18-D2C5-B15116AE8E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Mean=Median=Mode</a:t>
            </a:r>
          </a:p>
          <a:p>
            <a:r>
              <a:rPr lang="en-IN" dirty="0"/>
              <a:t>2, 3, 4, 5, 6, 7, 8</a:t>
            </a:r>
          </a:p>
        </p:txBody>
      </p:sp>
    </p:spTree>
    <p:extLst>
      <p:ext uri="{BB962C8B-B14F-4D97-AF65-F5344CB8AC3E}">
        <p14:creationId xmlns:p14="http://schemas.microsoft.com/office/powerpoint/2010/main" val="52667820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9D4E96-8691-32D2-1F97-3159A85E0E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Type 2: Positive Skewness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68B98A-8EA1-4BD0-A734-6885898A4F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positively skewed distribution has a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longer tail toward the right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also called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right-skewed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965749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E6B1F0-29D1-E55A-C945-9323A7431F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1C0A84-59AD-D00B-1059-EA6219EE70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Type 2: Positive Skewness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AC51934-05A2-7433-DE34-01E17CBEFAA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3593" y="1690688"/>
            <a:ext cx="7390151" cy="4430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84253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25ACE0-FE8C-5A39-98FC-47977F4814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Type 2: Negative Skewness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48F24E-F135-C761-537D-479F3C7376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 negatively skewed distribution has a longer tail toward the left.</a:t>
            </a:r>
          </a:p>
          <a:p>
            <a:pPr marL="0" indent="0">
              <a:buNone/>
            </a:pPr>
            <a:r>
              <a:rPr lang="en-IN" dirty="0"/>
              <a:t>It is also called left-skewed.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0913198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F76475-FF45-1226-2B1F-C82E9E2A9B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D710AE-7E1C-94E8-82F4-1780CF295C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Type 2: Negative Skewness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E06FFF5-0A42-2608-F8D5-92D3A5A5490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3948" y="1573967"/>
            <a:ext cx="8229600" cy="5111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79075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EF9E5A-5820-EC21-346B-C81C820B90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Part III — Pearson's Measures of Skewness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C90985-207F-60A7-0659-1E9A29B1CD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Pearson's Coefficient of Skewness:</a:t>
            </a:r>
          </a:p>
          <a:p>
            <a:r>
              <a:rPr lang="en-IN" dirty="0"/>
              <a:t>There are two commonly encountered Pearson coefficients.</a:t>
            </a:r>
          </a:p>
          <a:p>
            <a:r>
              <a:rPr lang="en-IN" b="1" dirty="0"/>
              <a:t>Pearson's First Coefficient:</a:t>
            </a:r>
          </a:p>
          <a:p>
            <a:endParaRPr lang="en-IN" b="1" dirty="0"/>
          </a:p>
          <a:p>
            <a:endParaRPr lang="en-IN" b="1" dirty="0"/>
          </a:p>
          <a:p>
            <a:pPr lvl="0"/>
            <a:r>
              <a:rPr lang="en-IN" dirty="0"/>
              <a:t>xˉ = Mean </a:t>
            </a:r>
          </a:p>
          <a:p>
            <a:pPr lvl="0"/>
            <a:r>
              <a:rPr lang="en-IN" dirty="0"/>
              <a:t>Mode = Mode </a:t>
            </a:r>
          </a:p>
          <a:p>
            <a:pPr lvl="0"/>
            <a:r>
              <a:rPr lang="en-IN" dirty="0"/>
              <a:t>s = Standard deviation</a:t>
            </a:r>
          </a:p>
          <a:p>
            <a:endParaRPr lang="en-IN" b="1" dirty="0"/>
          </a:p>
          <a:p>
            <a:pPr lvl="1"/>
            <a:endParaRPr lang="en-IN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9EEE055-E44D-A19A-E449-D0056D50CB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6167" y="3259217"/>
            <a:ext cx="2445683" cy="1222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527307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07449E-33CF-6F06-ABB3-680D1123A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Part III — Pearson's Measures of Skewness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94B0EC-AD72-ECE0-E314-068DC52085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PROBLEM?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661F483-249D-11A3-4400-6D07F94C73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1907" y="1825625"/>
            <a:ext cx="6096000" cy="453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95556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99D113-8C01-9054-657D-2D61BEED2F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C9039-F2E0-F460-E85C-6E0146A8D7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Part III — Pearson's Measures of Skewness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F80A8A-08D8-C538-3D91-0749AEC3C8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However, the mode may be difficult to determine or may not exist uniquely.</a:t>
            </a:r>
          </a:p>
          <a:p>
            <a:r>
              <a:rPr lang="en-IN" dirty="0"/>
              <a:t>Therefore, another form is often used.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07340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86E5DC-4606-AE43-4D18-1F34880D82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Pearson's </a:t>
            </a:r>
            <a:r>
              <a:rPr lang="en-IN" b="1" dirty="0"/>
              <a:t>Median</a:t>
            </a:r>
            <a:r>
              <a:rPr lang="en-IN" dirty="0"/>
              <a:t> Skewness Coefficient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348FBA-B6E4-267D-C4A3-E57C38A083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839138" cy="4800027"/>
          </a:xfrm>
        </p:spPr>
        <p:txBody>
          <a:bodyPr>
            <a:normAutofit lnSpcReduction="10000"/>
          </a:bodyPr>
          <a:lstStyle/>
          <a:p>
            <a:r>
              <a:rPr lang="en-IN" dirty="0"/>
              <a:t>When the median is used instead of the mode: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where:</a:t>
            </a:r>
          </a:p>
          <a:p>
            <a:pPr lvl="0"/>
            <a:r>
              <a:rPr lang="en-IN" dirty="0"/>
              <a:t>xˉ = Arithmetic mean </a:t>
            </a:r>
          </a:p>
          <a:p>
            <a:pPr lvl="0"/>
            <a:r>
              <a:rPr lang="en-IN" dirty="0"/>
              <a:t>Median = Median </a:t>
            </a:r>
          </a:p>
          <a:p>
            <a:pPr lvl="0"/>
            <a:r>
              <a:rPr lang="en-IN" dirty="0"/>
              <a:t>s = Standard deviation </a:t>
            </a:r>
          </a:p>
          <a:p>
            <a:r>
              <a:rPr lang="en-IN" dirty="0"/>
              <a:t>This is commonly called </a:t>
            </a:r>
            <a:r>
              <a:rPr lang="en-IN" b="1" dirty="0"/>
              <a:t>Pearson's second coefficient of skewness</a:t>
            </a:r>
            <a:r>
              <a:rPr lang="en-IN" dirty="0"/>
              <a:t> or the </a:t>
            </a:r>
            <a:r>
              <a:rPr lang="en-IN" b="1" dirty="0"/>
              <a:t>Pearson coefficient based on the median</a:t>
            </a:r>
            <a:r>
              <a:rPr lang="en-IN" dirty="0"/>
              <a:t>.</a:t>
            </a:r>
          </a:p>
          <a:p>
            <a:endParaRPr lang="en-IN" dirty="0"/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56DC7A7-4F61-8EA0-9BDB-936A3942E2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7954" y="2392441"/>
            <a:ext cx="4219294" cy="1145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147610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C2B2FA-9DD0-495F-ED4E-ED976C1070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Interpretation of Pearson's Median Skewness Coefficient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DD124E-1FA7-7129-F493-792E10A0E2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err="1"/>
              <a:t>Skp</a:t>
            </a:r>
            <a:r>
              <a:rPr lang="en-IN" dirty="0"/>
              <a:t>​=0 </a:t>
            </a:r>
          </a:p>
          <a:p>
            <a:r>
              <a:rPr lang="en-IN" dirty="0"/>
              <a:t>The distribution is approximately </a:t>
            </a:r>
            <a:r>
              <a:rPr lang="en-IN" b="1" dirty="0"/>
              <a:t>symmetric</a:t>
            </a:r>
            <a:r>
              <a:rPr lang="en-IN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3448246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226BAD-552F-1C5A-3B4F-731F6DFD25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C520F0-8B71-FCF2-7201-97AA61E420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Interpretation of Pearson's Median Skewness Coefficient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8CA094-5114-52EC-4CD0-36A9BA674F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err="1"/>
              <a:t>Skp</a:t>
            </a:r>
            <a:r>
              <a:rPr lang="en-IN" dirty="0"/>
              <a:t>​&gt;0 </a:t>
            </a:r>
          </a:p>
          <a:p>
            <a:r>
              <a:rPr lang="en-IN" dirty="0"/>
              <a:t>The distribution is </a:t>
            </a:r>
            <a:r>
              <a:rPr lang="en-IN" b="1" dirty="0"/>
              <a:t>positively skewed</a:t>
            </a:r>
            <a:r>
              <a:rPr lang="en-IN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5179859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FB4324-F18E-254E-9243-00257A5AD5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E4CCA0-26A0-B43A-7973-91690BD2D0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Interpretation of Pearson's Median Skewness Coefficient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CD95A3-4AE2-C42B-16FD-5BDE4DF77B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err="1"/>
              <a:t>Skp</a:t>
            </a:r>
            <a:r>
              <a:rPr lang="en-IN" dirty="0"/>
              <a:t>​&lt;0 </a:t>
            </a:r>
          </a:p>
          <a:p>
            <a:r>
              <a:rPr lang="en-IN" dirty="0"/>
              <a:t>The distribution is </a:t>
            </a:r>
            <a:r>
              <a:rPr lang="en-IN" b="1" dirty="0"/>
              <a:t>negatively skewed</a:t>
            </a:r>
            <a:r>
              <a:rPr lang="en-IN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8571822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2041FC-6D93-8CD0-8C35-3A3928DFD0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Class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4A2379-9C24-9FCA-A089-445F44D4C5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IN" dirty="0"/>
              <a:t>Mean = 50 </a:t>
            </a:r>
          </a:p>
          <a:p>
            <a:pPr lvl="0"/>
            <a:r>
              <a:rPr lang="en-IN" dirty="0"/>
              <a:t>Median = 45 </a:t>
            </a:r>
          </a:p>
          <a:p>
            <a:pPr lvl="0"/>
            <a:r>
              <a:rPr lang="en-IN" dirty="0"/>
              <a:t>Standard deviation = 10</a:t>
            </a:r>
          </a:p>
          <a:p>
            <a:r>
              <a:rPr lang="en-IN" dirty="0"/>
              <a:t>Skewness:????</a:t>
            </a:r>
          </a:p>
        </p:txBody>
      </p:sp>
    </p:spTree>
    <p:extLst>
      <p:ext uri="{BB962C8B-B14F-4D97-AF65-F5344CB8AC3E}">
        <p14:creationId xmlns:p14="http://schemas.microsoft.com/office/powerpoint/2010/main" val="276740034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265E49-549D-3567-8DB6-BA98085C09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CF07A4-4481-DA6A-5D01-3598881333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Class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F734B8-806A-9761-0073-18A9B96449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IN" dirty="0"/>
              <a:t>Mean = 40 </a:t>
            </a:r>
          </a:p>
          <a:p>
            <a:pPr lvl="0"/>
            <a:r>
              <a:rPr lang="en-IN" dirty="0"/>
              <a:t>Median = 45 </a:t>
            </a:r>
          </a:p>
          <a:p>
            <a:pPr lvl="0"/>
            <a:r>
              <a:rPr lang="en-IN" dirty="0"/>
              <a:t>Standard deviation = 10</a:t>
            </a:r>
          </a:p>
          <a:p>
            <a:r>
              <a:rPr lang="en-IN" dirty="0"/>
              <a:t>Skewness:????</a:t>
            </a:r>
          </a:p>
        </p:txBody>
      </p:sp>
    </p:spTree>
    <p:extLst>
      <p:ext uri="{BB962C8B-B14F-4D97-AF65-F5344CB8AC3E}">
        <p14:creationId xmlns:p14="http://schemas.microsoft.com/office/powerpoint/2010/main" val="391419943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FEA838-C3CE-9700-223B-05B3927CA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1A0116-F220-DE86-2645-8423687C3D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Class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173EE7-2A69-BBB3-1092-20425715FD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IN" dirty="0"/>
              <a:t>Mean = 60 </a:t>
            </a:r>
          </a:p>
          <a:p>
            <a:pPr lvl="0"/>
            <a:r>
              <a:rPr lang="en-IN" dirty="0"/>
              <a:t>Median = 60 </a:t>
            </a:r>
          </a:p>
          <a:p>
            <a:pPr lvl="0"/>
            <a:r>
              <a:rPr lang="en-IN" dirty="0"/>
              <a:t>Standard deviation = 12</a:t>
            </a:r>
          </a:p>
          <a:p>
            <a:r>
              <a:rPr lang="en-IN" dirty="0"/>
              <a:t>Skewness:????</a:t>
            </a:r>
          </a:p>
        </p:txBody>
      </p:sp>
    </p:spTree>
    <p:extLst>
      <p:ext uri="{BB962C8B-B14F-4D97-AF65-F5344CB8AC3E}">
        <p14:creationId xmlns:p14="http://schemas.microsoft.com/office/powerpoint/2010/main" val="283437918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FDAD985-D9E7-8DA9-8020-F28B54A38D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4026" y="509666"/>
            <a:ext cx="8257139" cy="5486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816502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E0893C-1D73-C5C0-C188-BB73A9B7C2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BEF7C84-DABF-8F3D-6C79-C1737428C2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4944" y="798538"/>
            <a:ext cx="5817590" cy="3878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17226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652</Words>
  <Application>Microsoft Office PowerPoint</Application>
  <PresentationFormat>Widescreen</PresentationFormat>
  <Paragraphs>130</Paragraphs>
  <Slides>36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1" baseType="lpstr">
      <vt:lpstr>Aptos</vt:lpstr>
      <vt:lpstr>Aptos Display</vt:lpstr>
      <vt:lpstr>Arial</vt:lpstr>
      <vt:lpstr>Times New Roman</vt:lpstr>
      <vt:lpstr>Office Theme</vt:lpstr>
      <vt:lpstr>Outlier Treatment, Skewness &amp; Pearson’s Median Skewness Coefficient</vt:lpstr>
      <vt:lpstr>What is an Outlier?</vt:lpstr>
      <vt:lpstr>What is an Outlier?</vt:lpstr>
      <vt:lpstr>Why Do Outliers Matter?</vt:lpstr>
      <vt:lpstr>Methods of Detecting Outliers</vt:lpstr>
      <vt:lpstr>IQR Method</vt:lpstr>
      <vt:lpstr>What is Interquartile </vt:lpstr>
      <vt:lpstr>Example</vt:lpstr>
      <vt:lpstr>Example</vt:lpstr>
      <vt:lpstr>Example</vt:lpstr>
      <vt:lpstr>Example</vt:lpstr>
      <vt:lpstr>Example</vt:lpstr>
      <vt:lpstr>Z-Score Method</vt:lpstr>
      <vt:lpstr>Treatment of Outliers</vt:lpstr>
      <vt:lpstr>Treatment of Outliers</vt:lpstr>
      <vt:lpstr>Treatment of Outliers</vt:lpstr>
      <vt:lpstr>Treatment of Outliers</vt:lpstr>
      <vt:lpstr>What is Asymmetry?</vt:lpstr>
      <vt:lpstr>What is Asymmetry?</vt:lpstr>
      <vt:lpstr>Type 1: Symmetric distribution</vt:lpstr>
      <vt:lpstr>Type 2: Positive Skewness</vt:lpstr>
      <vt:lpstr>Type 2: Positive Skewness</vt:lpstr>
      <vt:lpstr>Type 2: Negative Skewness</vt:lpstr>
      <vt:lpstr>Type 2: Negative Skewness</vt:lpstr>
      <vt:lpstr>Part III — Pearson's Measures of Skewness</vt:lpstr>
      <vt:lpstr>Part III — Pearson's Measures of Skewness</vt:lpstr>
      <vt:lpstr>Part III — Pearson's Measures of Skewness</vt:lpstr>
      <vt:lpstr>Pearson's Median Skewness Coefficient</vt:lpstr>
      <vt:lpstr>Interpretation of Pearson's Median Skewness Coefficient</vt:lpstr>
      <vt:lpstr>Interpretation of Pearson's Median Skewness Coefficient</vt:lpstr>
      <vt:lpstr>Interpretation of Pearson's Median Skewness Coefficient</vt:lpstr>
      <vt:lpstr>Class work</vt:lpstr>
      <vt:lpstr>Class work</vt:lpstr>
      <vt:lpstr>Class work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Sital Sharma</dc:creator>
  <cp:lastModifiedBy>Sital Sharma</cp:lastModifiedBy>
  <cp:revision>31</cp:revision>
  <dcterms:created xsi:type="dcterms:W3CDTF">2026-08-13T10:44:17Z</dcterms:created>
  <dcterms:modified xsi:type="dcterms:W3CDTF">2026-08-13T11:34:31Z</dcterms:modified>
</cp:coreProperties>
</file>