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05601-4391-0FF5-CB54-2D5394F65E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15677F5-418A-C6A6-3E98-0F6C5FDE88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9E8F35-64E3-F49F-9EB7-B72FAF5CD29D}"/>
              </a:ext>
            </a:extLst>
          </p:cNvPr>
          <p:cNvSpPr>
            <a:spLocks noGrp="1"/>
          </p:cNvSpPr>
          <p:nvPr>
            <p:ph type="dt" sz="half" idx="10"/>
          </p:nvPr>
        </p:nvSpPr>
        <p:spPr/>
        <p:txBody>
          <a:bodyPr/>
          <a:lstStyle/>
          <a:p>
            <a:fld id="{B61F2C16-CEAB-47AC-A770-8A9202B2C74B}" type="datetimeFigureOut">
              <a:rPr lang="en-IN" smtClean="0"/>
              <a:t>25-10-2024</a:t>
            </a:fld>
            <a:endParaRPr lang="en-IN"/>
          </a:p>
        </p:txBody>
      </p:sp>
      <p:sp>
        <p:nvSpPr>
          <p:cNvPr id="5" name="Footer Placeholder 4">
            <a:extLst>
              <a:ext uri="{FF2B5EF4-FFF2-40B4-BE49-F238E27FC236}">
                <a16:creationId xmlns:a16="http://schemas.microsoft.com/office/drawing/2014/main" id="{8BCEE6FB-741E-410C-9EC0-9D6347B2CD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691A87-F6BF-7020-042C-38101B601F8C}"/>
              </a:ext>
            </a:extLst>
          </p:cNvPr>
          <p:cNvSpPr>
            <a:spLocks noGrp="1"/>
          </p:cNvSpPr>
          <p:nvPr>
            <p:ph type="sldNum" sz="quarter" idx="12"/>
          </p:nvPr>
        </p:nvSpPr>
        <p:spPr/>
        <p:txBody>
          <a:bodyPr/>
          <a:lstStyle/>
          <a:p>
            <a:fld id="{7CE69C92-0077-4495-8F6F-937141D4C14C}" type="slidenum">
              <a:rPr lang="en-IN" smtClean="0"/>
              <a:t>‹#›</a:t>
            </a:fld>
            <a:endParaRPr lang="en-IN"/>
          </a:p>
        </p:txBody>
      </p:sp>
    </p:spTree>
    <p:extLst>
      <p:ext uri="{BB962C8B-B14F-4D97-AF65-F5344CB8AC3E}">
        <p14:creationId xmlns:p14="http://schemas.microsoft.com/office/powerpoint/2010/main" val="1562724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8D832-F1AC-3B24-0C5E-6B010059A2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E21D99-2E40-D332-B2A9-396C4F0005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B90975-D202-089A-7BE1-3C6BC68A5F18}"/>
              </a:ext>
            </a:extLst>
          </p:cNvPr>
          <p:cNvSpPr>
            <a:spLocks noGrp="1"/>
          </p:cNvSpPr>
          <p:nvPr>
            <p:ph type="dt" sz="half" idx="10"/>
          </p:nvPr>
        </p:nvSpPr>
        <p:spPr/>
        <p:txBody>
          <a:bodyPr/>
          <a:lstStyle/>
          <a:p>
            <a:fld id="{B61F2C16-CEAB-47AC-A770-8A9202B2C74B}" type="datetimeFigureOut">
              <a:rPr lang="en-IN" smtClean="0"/>
              <a:t>25-10-2024</a:t>
            </a:fld>
            <a:endParaRPr lang="en-IN"/>
          </a:p>
        </p:txBody>
      </p:sp>
      <p:sp>
        <p:nvSpPr>
          <p:cNvPr id="5" name="Footer Placeholder 4">
            <a:extLst>
              <a:ext uri="{FF2B5EF4-FFF2-40B4-BE49-F238E27FC236}">
                <a16:creationId xmlns:a16="http://schemas.microsoft.com/office/drawing/2014/main" id="{AEA42E8A-9967-BE89-F039-2875C0B297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4F17B6-A23F-5CBD-351D-908D86DA6512}"/>
              </a:ext>
            </a:extLst>
          </p:cNvPr>
          <p:cNvSpPr>
            <a:spLocks noGrp="1"/>
          </p:cNvSpPr>
          <p:nvPr>
            <p:ph type="sldNum" sz="quarter" idx="12"/>
          </p:nvPr>
        </p:nvSpPr>
        <p:spPr/>
        <p:txBody>
          <a:bodyPr/>
          <a:lstStyle/>
          <a:p>
            <a:fld id="{7CE69C92-0077-4495-8F6F-937141D4C14C}" type="slidenum">
              <a:rPr lang="en-IN" smtClean="0"/>
              <a:t>‹#›</a:t>
            </a:fld>
            <a:endParaRPr lang="en-IN"/>
          </a:p>
        </p:txBody>
      </p:sp>
    </p:spTree>
    <p:extLst>
      <p:ext uri="{BB962C8B-B14F-4D97-AF65-F5344CB8AC3E}">
        <p14:creationId xmlns:p14="http://schemas.microsoft.com/office/powerpoint/2010/main" val="1638135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A85D1-6AD4-8A86-07C8-9EBABE0C47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133E732-E2EB-C4F5-3375-3D439C0A52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A69579-0508-8E50-5BE2-07F78AAB6392}"/>
              </a:ext>
            </a:extLst>
          </p:cNvPr>
          <p:cNvSpPr>
            <a:spLocks noGrp="1"/>
          </p:cNvSpPr>
          <p:nvPr>
            <p:ph type="dt" sz="half" idx="10"/>
          </p:nvPr>
        </p:nvSpPr>
        <p:spPr/>
        <p:txBody>
          <a:bodyPr/>
          <a:lstStyle/>
          <a:p>
            <a:fld id="{B61F2C16-CEAB-47AC-A770-8A9202B2C74B}" type="datetimeFigureOut">
              <a:rPr lang="en-IN" smtClean="0"/>
              <a:t>25-10-2024</a:t>
            </a:fld>
            <a:endParaRPr lang="en-IN"/>
          </a:p>
        </p:txBody>
      </p:sp>
      <p:sp>
        <p:nvSpPr>
          <p:cNvPr id="5" name="Footer Placeholder 4">
            <a:extLst>
              <a:ext uri="{FF2B5EF4-FFF2-40B4-BE49-F238E27FC236}">
                <a16:creationId xmlns:a16="http://schemas.microsoft.com/office/drawing/2014/main" id="{EA588079-BB2F-99F4-EA30-A4943E835B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4BD00D-EF16-C2A6-389C-AEDF088155B2}"/>
              </a:ext>
            </a:extLst>
          </p:cNvPr>
          <p:cNvSpPr>
            <a:spLocks noGrp="1"/>
          </p:cNvSpPr>
          <p:nvPr>
            <p:ph type="sldNum" sz="quarter" idx="12"/>
          </p:nvPr>
        </p:nvSpPr>
        <p:spPr/>
        <p:txBody>
          <a:bodyPr/>
          <a:lstStyle/>
          <a:p>
            <a:fld id="{7CE69C92-0077-4495-8F6F-937141D4C14C}" type="slidenum">
              <a:rPr lang="en-IN" smtClean="0"/>
              <a:t>‹#›</a:t>
            </a:fld>
            <a:endParaRPr lang="en-IN"/>
          </a:p>
        </p:txBody>
      </p:sp>
    </p:spTree>
    <p:extLst>
      <p:ext uri="{BB962C8B-B14F-4D97-AF65-F5344CB8AC3E}">
        <p14:creationId xmlns:p14="http://schemas.microsoft.com/office/powerpoint/2010/main" val="2320192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2CB08-89D2-20A8-70B9-82D80B05E5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A32369-6DD9-A173-09F0-A0E2E60CF6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EDBC23D-2B37-B542-7B39-50A716DDA0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1016405-58C9-D554-5CF3-CB397CC7D44F}"/>
              </a:ext>
            </a:extLst>
          </p:cNvPr>
          <p:cNvSpPr>
            <a:spLocks noGrp="1"/>
          </p:cNvSpPr>
          <p:nvPr>
            <p:ph type="dt" sz="half" idx="10"/>
          </p:nvPr>
        </p:nvSpPr>
        <p:spPr/>
        <p:txBody>
          <a:bodyPr/>
          <a:lstStyle/>
          <a:p>
            <a:fld id="{B61F2C16-CEAB-47AC-A770-8A9202B2C74B}" type="datetimeFigureOut">
              <a:rPr lang="en-IN" smtClean="0"/>
              <a:t>25-10-2024</a:t>
            </a:fld>
            <a:endParaRPr lang="en-IN"/>
          </a:p>
        </p:txBody>
      </p:sp>
      <p:sp>
        <p:nvSpPr>
          <p:cNvPr id="6" name="Footer Placeholder 5">
            <a:extLst>
              <a:ext uri="{FF2B5EF4-FFF2-40B4-BE49-F238E27FC236}">
                <a16:creationId xmlns:a16="http://schemas.microsoft.com/office/drawing/2014/main" id="{F2DF1EEA-222B-E8A2-30B0-731386BADD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F42086-0739-BFA6-3881-2383A21B4177}"/>
              </a:ext>
            </a:extLst>
          </p:cNvPr>
          <p:cNvSpPr>
            <a:spLocks noGrp="1"/>
          </p:cNvSpPr>
          <p:nvPr>
            <p:ph type="sldNum" sz="quarter" idx="12"/>
          </p:nvPr>
        </p:nvSpPr>
        <p:spPr/>
        <p:txBody>
          <a:bodyPr/>
          <a:lstStyle/>
          <a:p>
            <a:fld id="{7CE69C92-0077-4495-8F6F-937141D4C14C}" type="slidenum">
              <a:rPr lang="en-IN" smtClean="0"/>
              <a:t>‹#›</a:t>
            </a:fld>
            <a:endParaRPr lang="en-IN"/>
          </a:p>
        </p:txBody>
      </p:sp>
    </p:spTree>
    <p:extLst>
      <p:ext uri="{BB962C8B-B14F-4D97-AF65-F5344CB8AC3E}">
        <p14:creationId xmlns:p14="http://schemas.microsoft.com/office/powerpoint/2010/main" val="576362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84D06-2141-F23B-B6F4-D1E9010D4C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2A88D8-3B8C-8281-CF7F-91AADA9D78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0DA4FC-1597-2A75-A0FF-B70BA00D3B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350EEE-8EFF-B6F2-9674-06DF0F2617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67DB65-03FF-654C-B668-3928D1D694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20EFF2-5C6C-FE84-6DA6-115A5099410E}"/>
              </a:ext>
            </a:extLst>
          </p:cNvPr>
          <p:cNvSpPr>
            <a:spLocks noGrp="1"/>
          </p:cNvSpPr>
          <p:nvPr>
            <p:ph type="dt" sz="half" idx="10"/>
          </p:nvPr>
        </p:nvSpPr>
        <p:spPr/>
        <p:txBody>
          <a:bodyPr/>
          <a:lstStyle/>
          <a:p>
            <a:fld id="{B61F2C16-CEAB-47AC-A770-8A9202B2C74B}" type="datetimeFigureOut">
              <a:rPr lang="en-IN" smtClean="0"/>
              <a:t>25-10-2024</a:t>
            </a:fld>
            <a:endParaRPr lang="en-IN"/>
          </a:p>
        </p:txBody>
      </p:sp>
      <p:sp>
        <p:nvSpPr>
          <p:cNvPr id="8" name="Footer Placeholder 7">
            <a:extLst>
              <a:ext uri="{FF2B5EF4-FFF2-40B4-BE49-F238E27FC236}">
                <a16:creationId xmlns:a16="http://schemas.microsoft.com/office/drawing/2014/main" id="{4C95E810-1EC7-E4B5-FA22-84006353FD9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784790-ED64-3C2B-6EC2-A2BC7D59657C}"/>
              </a:ext>
            </a:extLst>
          </p:cNvPr>
          <p:cNvSpPr>
            <a:spLocks noGrp="1"/>
          </p:cNvSpPr>
          <p:nvPr>
            <p:ph type="sldNum" sz="quarter" idx="12"/>
          </p:nvPr>
        </p:nvSpPr>
        <p:spPr/>
        <p:txBody>
          <a:bodyPr/>
          <a:lstStyle/>
          <a:p>
            <a:fld id="{7CE69C92-0077-4495-8F6F-937141D4C14C}" type="slidenum">
              <a:rPr lang="en-IN" smtClean="0"/>
              <a:t>‹#›</a:t>
            </a:fld>
            <a:endParaRPr lang="en-IN"/>
          </a:p>
        </p:txBody>
      </p:sp>
    </p:spTree>
    <p:extLst>
      <p:ext uri="{BB962C8B-B14F-4D97-AF65-F5344CB8AC3E}">
        <p14:creationId xmlns:p14="http://schemas.microsoft.com/office/powerpoint/2010/main" val="4282589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F273C-F577-7EB5-AC40-D8019DBC788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509A578-EF0E-CFB5-6C35-72E6BD7BBDE0}"/>
              </a:ext>
            </a:extLst>
          </p:cNvPr>
          <p:cNvSpPr>
            <a:spLocks noGrp="1"/>
          </p:cNvSpPr>
          <p:nvPr>
            <p:ph type="dt" sz="half" idx="10"/>
          </p:nvPr>
        </p:nvSpPr>
        <p:spPr/>
        <p:txBody>
          <a:bodyPr/>
          <a:lstStyle/>
          <a:p>
            <a:fld id="{B61F2C16-CEAB-47AC-A770-8A9202B2C74B}" type="datetimeFigureOut">
              <a:rPr lang="en-IN" smtClean="0"/>
              <a:t>25-10-2024</a:t>
            </a:fld>
            <a:endParaRPr lang="en-IN"/>
          </a:p>
        </p:txBody>
      </p:sp>
      <p:sp>
        <p:nvSpPr>
          <p:cNvPr id="4" name="Footer Placeholder 3">
            <a:extLst>
              <a:ext uri="{FF2B5EF4-FFF2-40B4-BE49-F238E27FC236}">
                <a16:creationId xmlns:a16="http://schemas.microsoft.com/office/drawing/2014/main" id="{D440A747-D464-9A35-42B3-AF7374668BF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7C38182-5884-7343-6E39-136737E608A8}"/>
              </a:ext>
            </a:extLst>
          </p:cNvPr>
          <p:cNvSpPr>
            <a:spLocks noGrp="1"/>
          </p:cNvSpPr>
          <p:nvPr>
            <p:ph type="sldNum" sz="quarter" idx="12"/>
          </p:nvPr>
        </p:nvSpPr>
        <p:spPr/>
        <p:txBody>
          <a:bodyPr/>
          <a:lstStyle/>
          <a:p>
            <a:fld id="{7CE69C92-0077-4495-8F6F-937141D4C14C}" type="slidenum">
              <a:rPr lang="en-IN" smtClean="0"/>
              <a:t>‹#›</a:t>
            </a:fld>
            <a:endParaRPr lang="en-IN"/>
          </a:p>
        </p:txBody>
      </p:sp>
    </p:spTree>
    <p:extLst>
      <p:ext uri="{BB962C8B-B14F-4D97-AF65-F5344CB8AC3E}">
        <p14:creationId xmlns:p14="http://schemas.microsoft.com/office/powerpoint/2010/main" val="3348341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4A99EF-8DBF-384D-681E-E0501A5679B2}"/>
              </a:ext>
            </a:extLst>
          </p:cNvPr>
          <p:cNvSpPr>
            <a:spLocks noGrp="1"/>
          </p:cNvSpPr>
          <p:nvPr>
            <p:ph type="dt" sz="half" idx="10"/>
          </p:nvPr>
        </p:nvSpPr>
        <p:spPr/>
        <p:txBody>
          <a:bodyPr/>
          <a:lstStyle/>
          <a:p>
            <a:fld id="{B61F2C16-CEAB-47AC-A770-8A9202B2C74B}" type="datetimeFigureOut">
              <a:rPr lang="en-IN" smtClean="0"/>
              <a:t>25-10-2024</a:t>
            </a:fld>
            <a:endParaRPr lang="en-IN"/>
          </a:p>
        </p:txBody>
      </p:sp>
      <p:sp>
        <p:nvSpPr>
          <p:cNvPr id="3" name="Footer Placeholder 2">
            <a:extLst>
              <a:ext uri="{FF2B5EF4-FFF2-40B4-BE49-F238E27FC236}">
                <a16:creationId xmlns:a16="http://schemas.microsoft.com/office/drawing/2014/main" id="{F1DC87C9-3429-44A1-A43F-B2308584507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A0E619D-CFDB-C36D-F89A-C9B523024953}"/>
              </a:ext>
            </a:extLst>
          </p:cNvPr>
          <p:cNvSpPr>
            <a:spLocks noGrp="1"/>
          </p:cNvSpPr>
          <p:nvPr>
            <p:ph type="sldNum" sz="quarter" idx="12"/>
          </p:nvPr>
        </p:nvSpPr>
        <p:spPr/>
        <p:txBody>
          <a:bodyPr/>
          <a:lstStyle/>
          <a:p>
            <a:fld id="{7CE69C92-0077-4495-8F6F-937141D4C14C}" type="slidenum">
              <a:rPr lang="en-IN" smtClean="0"/>
              <a:t>‹#›</a:t>
            </a:fld>
            <a:endParaRPr lang="en-IN"/>
          </a:p>
        </p:txBody>
      </p:sp>
    </p:spTree>
    <p:extLst>
      <p:ext uri="{BB962C8B-B14F-4D97-AF65-F5344CB8AC3E}">
        <p14:creationId xmlns:p14="http://schemas.microsoft.com/office/powerpoint/2010/main" val="1971461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D3D50-73CE-7DD0-D7D5-D40E3D8EBC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3B11E3-216D-E241-91CB-CF327E3E42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B0378E-9EC5-F7C6-B247-837361D959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6888EE-698A-208A-B049-55DDC5D3EB5E}"/>
              </a:ext>
            </a:extLst>
          </p:cNvPr>
          <p:cNvSpPr>
            <a:spLocks noGrp="1"/>
          </p:cNvSpPr>
          <p:nvPr>
            <p:ph type="dt" sz="half" idx="10"/>
          </p:nvPr>
        </p:nvSpPr>
        <p:spPr/>
        <p:txBody>
          <a:bodyPr/>
          <a:lstStyle/>
          <a:p>
            <a:fld id="{B61F2C16-CEAB-47AC-A770-8A9202B2C74B}" type="datetimeFigureOut">
              <a:rPr lang="en-IN" smtClean="0"/>
              <a:t>25-10-2024</a:t>
            </a:fld>
            <a:endParaRPr lang="en-IN"/>
          </a:p>
        </p:txBody>
      </p:sp>
      <p:sp>
        <p:nvSpPr>
          <p:cNvPr id="6" name="Footer Placeholder 5">
            <a:extLst>
              <a:ext uri="{FF2B5EF4-FFF2-40B4-BE49-F238E27FC236}">
                <a16:creationId xmlns:a16="http://schemas.microsoft.com/office/drawing/2014/main" id="{77D899AF-C1E4-C3FE-0242-63DC295BBC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5692CE-632B-412C-D770-7950375B60F9}"/>
              </a:ext>
            </a:extLst>
          </p:cNvPr>
          <p:cNvSpPr>
            <a:spLocks noGrp="1"/>
          </p:cNvSpPr>
          <p:nvPr>
            <p:ph type="sldNum" sz="quarter" idx="12"/>
          </p:nvPr>
        </p:nvSpPr>
        <p:spPr/>
        <p:txBody>
          <a:bodyPr/>
          <a:lstStyle/>
          <a:p>
            <a:fld id="{7CE69C92-0077-4495-8F6F-937141D4C14C}" type="slidenum">
              <a:rPr lang="en-IN" smtClean="0"/>
              <a:t>‹#›</a:t>
            </a:fld>
            <a:endParaRPr lang="en-IN"/>
          </a:p>
        </p:txBody>
      </p:sp>
    </p:spTree>
    <p:extLst>
      <p:ext uri="{BB962C8B-B14F-4D97-AF65-F5344CB8AC3E}">
        <p14:creationId xmlns:p14="http://schemas.microsoft.com/office/powerpoint/2010/main" val="3002146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14B40-542F-0498-37A8-748BFC27C5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F66896D-C2EF-7E07-CF53-74DC7B0979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461AE83-35A2-BAB7-4A7A-9D825EB827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AB1204-BA3C-CCC4-2900-D7A4E7C886D6}"/>
              </a:ext>
            </a:extLst>
          </p:cNvPr>
          <p:cNvSpPr>
            <a:spLocks noGrp="1"/>
          </p:cNvSpPr>
          <p:nvPr>
            <p:ph type="dt" sz="half" idx="10"/>
          </p:nvPr>
        </p:nvSpPr>
        <p:spPr/>
        <p:txBody>
          <a:bodyPr/>
          <a:lstStyle/>
          <a:p>
            <a:fld id="{B61F2C16-CEAB-47AC-A770-8A9202B2C74B}" type="datetimeFigureOut">
              <a:rPr lang="en-IN" smtClean="0"/>
              <a:t>25-10-2024</a:t>
            </a:fld>
            <a:endParaRPr lang="en-IN"/>
          </a:p>
        </p:txBody>
      </p:sp>
      <p:sp>
        <p:nvSpPr>
          <p:cNvPr id="6" name="Footer Placeholder 5">
            <a:extLst>
              <a:ext uri="{FF2B5EF4-FFF2-40B4-BE49-F238E27FC236}">
                <a16:creationId xmlns:a16="http://schemas.microsoft.com/office/drawing/2014/main" id="{2DB622E4-D1CF-0394-EB86-5B7A3CCD0A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0BA739-4320-97BD-A123-880A85CDE9C7}"/>
              </a:ext>
            </a:extLst>
          </p:cNvPr>
          <p:cNvSpPr>
            <a:spLocks noGrp="1"/>
          </p:cNvSpPr>
          <p:nvPr>
            <p:ph type="sldNum" sz="quarter" idx="12"/>
          </p:nvPr>
        </p:nvSpPr>
        <p:spPr/>
        <p:txBody>
          <a:bodyPr/>
          <a:lstStyle/>
          <a:p>
            <a:fld id="{7CE69C92-0077-4495-8F6F-937141D4C14C}" type="slidenum">
              <a:rPr lang="en-IN" smtClean="0"/>
              <a:t>‹#›</a:t>
            </a:fld>
            <a:endParaRPr lang="en-IN"/>
          </a:p>
        </p:txBody>
      </p:sp>
    </p:spTree>
    <p:extLst>
      <p:ext uri="{BB962C8B-B14F-4D97-AF65-F5344CB8AC3E}">
        <p14:creationId xmlns:p14="http://schemas.microsoft.com/office/powerpoint/2010/main" val="2102453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AC9C4-A1D0-968E-11D5-E82816367F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ED47F9-CA4D-33D6-445A-C6805E1B8B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07F489-DFC4-634E-6023-EF0B90F49A7F}"/>
              </a:ext>
            </a:extLst>
          </p:cNvPr>
          <p:cNvSpPr>
            <a:spLocks noGrp="1"/>
          </p:cNvSpPr>
          <p:nvPr>
            <p:ph type="dt" sz="half" idx="10"/>
          </p:nvPr>
        </p:nvSpPr>
        <p:spPr/>
        <p:txBody>
          <a:bodyPr/>
          <a:lstStyle/>
          <a:p>
            <a:fld id="{B61F2C16-CEAB-47AC-A770-8A9202B2C74B}" type="datetimeFigureOut">
              <a:rPr lang="en-IN" smtClean="0"/>
              <a:t>25-10-2024</a:t>
            </a:fld>
            <a:endParaRPr lang="en-IN"/>
          </a:p>
        </p:txBody>
      </p:sp>
      <p:sp>
        <p:nvSpPr>
          <p:cNvPr id="5" name="Footer Placeholder 4">
            <a:extLst>
              <a:ext uri="{FF2B5EF4-FFF2-40B4-BE49-F238E27FC236}">
                <a16:creationId xmlns:a16="http://schemas.microsoft.com/office/drawing/2014/main" id="{8F126923-1F9E-A647-FCD4-1448419B7F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E76EEB-C8FF-56ED-47E0-395DAFD0FDAB}"/>
              </a:ext>
            </a:extLst>
          </p:cNvPr>
          <p:cNvSpPr>
            <a:spLocks noGrp="1"/>
          </p:cNvSpPr>
          <p:nvPr>
            <p:ph type="sldNum" sz="quarter" idx="12"/>
          </p:nvPr>
        </p:nvSpPr>
        <p:spPr/>
        <p:txBody>
          <a:bodyPr/>
          <a:lstStyle/>
          <a:p>
            <a:fld id="{7CE69C92-0077-4495-8F6F-937141D4C14C}" type="slidenum">
              <a:rPr lang="en-IN" smtClean="0"/>
              <a:t>‹#›</a:t>
            </a:fld>
            <a:endParaRPr lang="en-IN"/>
          </a:p>
        </p:txBody>
      </p:sp>
    </p:spTree>
    <p:extLst>
      <p:ext uri="{BB962C8B-B14F-4D97-AF65-F5344CB8AC3E}">
        <p14:creationId xmlns:p14="http://schemas.microsoft.com/office/powerpoint/2010/main" val="2696799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D12CFF-7863-CE14-CD75-80A60B49F3F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CB7B35-DAC9-95C8-9439-13B38DB0CD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E6233F-ECAD-614B-C1FC-EDE77E268F41}"/>
              </a:ext>
            </a:extLst>
          </p:cNvPr>
          <p:cNvSpPr>
            <a:spLocks noGrp="1"/>
          </p:cNvSpPr>
          <p:nvPr>
            <p:ph type="dt" sz="half" idx="10"/>
          </p:nvPr>
        </p:nvSpPr>
        <p:spPr/>
        <p:txBody>
          <a:bodyPr/>
          <a:lstStyle/>
          <a:p>
            <a:fld id="{B61F2C16-CEAB-47AC-A770-8A9202B2C74B}" type="datetimeFigureOut">
              <a:rPr lang="en-IN" smtClean="0"/>
              <a:t>25-10-2024</a:t>
            </a:fld>
            <a:endParaRPr lang="en-IN"/>
          </a:p>
        </p:txBody>
      </p:sp>
      <p:sp>
        <p:nvSpPr>
          <p:cNvPr id="5" name="Footer Placeholder 4">
            <a:extLst>
              <a:ext uri="{FF2B5EF4-FFF2-40B4-BE49-F238E27FC236}">
                <a16:creationId xmlns:a16="http://schemas.microsoft.com/office/drawing/2014/main" id="{BE58A642-2416-4759-0262-BFD8A6FD7F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72EE12-2B3D-86AA-B6D1-40891BD0BA7A}"/>
              </a:ext>
            </a:extLst>
          </p:cNvPr>
          <p:cNvSpPr>
            <a:spLocks noGrp="1"/>
          </p:cNvSpPr>
          <p:nvPr>
            <p:ph type="sldNum" sz="quarter" idx="12"/>
          </p:nvPr>
        </p:nvSpPr>
        <p:spPr/>
        <p:txBody>
          <a:bodyPr/>
          <a:lstStyle/>
          <a:p>
            <a:fld id="{7CE69C92-0077-4495-8F6F-937141D4C14C}" type="slidenum">
              <a:rPr lang="en-IN" smtClean="0"/>
              <a:t>‹#›</a:t>
            </a:fld>
            <a:endParaRPr lang="en-IN"/>
          </a:p>
        </p:txBody>
      </p:sp>
    </p:spTree>
    <p:extLst>
      <p:ext uri="{BB962C8B-B14F-4D97-AF65-F5344CB8AC3E}">
        <p14:creationId xmlns:p14="http://schemas.microsoft.com/office/powerpoint/2010/main" val="2279096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A09AEB-BA9E-F41C-F918-3548B72808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334DB6-FDEE-50E8-45B2-8854B01E7F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56713A-3DFC-7A9B-EB8F-6156286B61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1F2C16-CEAB-47AC-A770-8A9202B2C74B}" type="datetimeFigureOut">
              <a:rPr lang="en-IN" smtClean="0"/>
              <a:t>25-10-2024</a:t>
            </a:fld>
            <a:endParaRPr lang="en-IN"/>
          </a:p>
        </p:txBody>
      </p:sp>
      <p:sp>
        <p:nvSpPr>
          <p:cNvPr id="5" name="Footer Placeholder 4">
            <a:extLst>
              <a:ext uri="{FF2B5EF4-FFF2-40B4-BE49-F238E27FC236}">
                <a16:creationId xmlns:a16="http://schemas.microsoft.com/office/drawing/2014/main" id="{4F1C5715-48F4-884F-020F-C077F81E07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12738EB-534A-829B-8B4F-34A1CEE50E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CE69C92-0077-4495-8F6F-937141D4C14C}" type="slidenum">
              <a:rPr lang="en-IN" smtClean="0"/>
              <a:t>‹#›</a:t>
            </a:fld>
            <a:endParaRPr lang="en-IN"/>
          </a:p>
        </p:txBody>
      </p:sp>
    </p:spTree>
    <p:extLst>
      <p:ext uri="{BB962C8B-B14F-4D97-AF65-F5344CB8AC3E}">
        <p14:creationId xmlns:p14="http://schemas.microsoft.com/office/powerpoint/2010/main" val="2237653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206A9-03A5-A0D5-1FEA-4187E823FF70}"/>
              </a:ext>
            </a:extLst>
          </p:cNvPr>
          <p:cNvSpPr>
            <a:spLocks noGrp="1"/>
          </p:cNvSpPr>
          <p:nvPr>
            <p:ph type="ctrTitle"/>
          </p:nvPr>
        </p:nvSpPr>
        <p:spPr/>
        <p:txBody>
          <a:bodyPr/>
          <a:lstStyle/>
          <a:p>
            <a:r>
              <a:rPr lang="en-US" dirty="0"/>
              <a:t>Measuring the Variability in Estimates: Point Estimates </a:t>
            </a:r>
            <a:endParaRPr lang="en-IN" dirty="0"/>
          </a:p>
        </p:txBody>
      </p:sp>
    </p:spTree>
    <p:extLst>
      <p:ext uri="{BB962C8B-B14F-4D97-AF65-F5344CB8AC3E}">
        <p14:creationId xmlns:p14="http://schemas.microsoft.com/office/powerpoint/2010/main" val="232124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B80BA-CAB8-0159-38D9-A56E7DD12D54}"/>
              </a:ext>
            </a:extLst>
          </p:cNvPr>
          <p:cNvSpPr>
            <a:spLocks noGrp="1"/>
          </p:cNvSpPr>
          <p:nvPr>
            <p:ph type="title"/>
          </p:nvPr>
        </p:nvSpPr>
        <p:spPr/>
        <p:txBody>
          <a:bodyPr/>
          <a:lstStyle/>
          <a:p>
            <a:r>
              <a:rPr lang="en-IN" dirty="0"/>
              <a:t>Point Estimates</a:t>
            </a:r>
          </a:p>
        </p:txBody>
      </p:sp>
      <p:sp>
        <p:nvSpPr>
          <p:cNvPr id="3" name="Content Placeholder 2">
            <a:extLst>
              <a:ext uri="{FF2B5EF4-FFF2-40B4-BE49-F238E27FC236}">
                <a16:creationId xmlns:a16="http://schemas.microsoft.com/office/drawing/2014/main" id="{A1409B40-5A5A-AE95-6956-D642D286D6D4}"/>
              </a:ext>
            </a:extLst>
          </p:cNvPr>
          <p:cNvSpPr>
            <a:spLocks noGrp="1"/>
          </p:cNvSpPr>
          <p:nvPr>
            <p:ph idx="1"/>
          </p:nvPr>
        </p:nvSpPr>
        <p:spPr/>
        <p:txBody>
          <a:bodyPr/>
          <a:lstStyle/>
          <a:p>
            <a:r>
              <a:rPr lang="en-US" dirty="0"/>
              <a:t>A </a:t>
            </a:r>
            <a:r>
              <a:rPr lang="en-US" b="1" dirty="0"/>
              <a:t>point estimate</a:t>
            </a:r>
            <a:r>
              <a:rPr lang="en-US" dirty="0"/>
              <a:t> is a single value that serves as the best guess for a population parameter.</a:t>
            </a:r>
          </a:p>
          <a:p>
            <a:r>
              <a:rPr lang="en-IN" dirty="0"/>
              <a:t>Common point estimators:</a:t>
            </a:r>
          </a:p>
          <a:p>
            <a:r>
              <a:rPr lang="en-US" b="1" dirty="0"/>
              <a:t>Mean</a:t>
            </a:r>
            <a:r>
              <a:rPr lang="en-US" dirty="0"/>
              <a:t> (for the population mean, μ):</a:t>
            </a:r>
            <a:endParaRPr lang="en-IN" dirty="0"/>
          </a:p>
        </p:txBody>
      </p:sp>
      <p:pic>
        <p:nvPicPr>
          <p:cNvPr id="5" name="Picture 4" descr="A number and number symbols&#10;&#10;Description automatically generated with medium confidence">
            <a:extLst>
              <a:ext uri="{FF2B5EF4-FFF2-40B4-BE49-F238E27FC236}">
                <a16:creationId xmlns:a16="http://schemas.microsoft.com/office/drawing/2014/main" id="{9C8441FE-3D09-96BF-2619-9D06A6FB41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5254" y="3835984"/>
            <a:ext cx="4001058" cy="1314633"/>
          </a:xfrm>
          <a:prstGeom prst="rect">
            <a:avLst/>
          </a:prstGeom>
        </p:spPr>
      </p:pic>
    </p:spTree>
    <p:extLst>
      <p:ext uri="{BB962C8B-B14F-4D97-AF65-F5344CB8AC3E}">
        <p14:creationId xmlns:p14="http://schemas.microsoft.com/office/powerpoint/2010/main" val="234459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5B69B0B-0C16-3631-9F1A-2F674187C1B4}"/>
              </a:ext>
            </a:extLst>
          </p:cNvPr>
          <p:cNvSpPr>
            <a:spLocks noGrp="1"/>
          </p:cNvSpPr>
          <p:nvPr>
            <p:ph type="subTitle" idx="1"/>
          </p:nvPr>
        </p:nvSpPr>
        <p:spPr>
          <a:xfrm>
            <a:off x="1524000" y="524656"/>
            <a:ext cx="9144000" cy="4733144"/>
          </a:xfrm>
        </p:spPr>
        <p:txBody>
          <a:bodyPr/>
          <a:lstStyle/>
          <a:p>
            <a:pPr marL="342900" indent="-342900" algn="l">
              <a:buFont typeface="Arial" panose="020B0604020202020204" pitchFamily="34" charset="0"/>
              <a:buChar char="•"/>
            </a:pPr>
            <a:r>
              <a:rPr lang="en-IN" b="1" dirty="0"/>
              <a:t>Proportion</a:t>
            </a:r>
            <a:r>
              <a:rPr lang="en-IN" dirty="0"/>
              <a:t> (for the population proportion, p):</a:t>
            </a:r>
          </a:p>
          <a:p>
            <a:pPr marL="342900" indent="-342900" algn="l">
              <a:buFont typeface="Arial" panose="020B0604020202020204" pitchFamily="34" charset="0"/>
              <a:buChar char="•"/>
            </a:pPr>
            <a:endParaRPr lang="en-IN" dirty="0"/>
          </a:p>
          <a:p>
            <a:pPr marL="342900" indent="-342900" algn="l">
              <a:buFont typeface="Arial" panose="020B0604020202020204" pitchFamily="34" charset="0"/>
              <a:buChar char="•"/>
            </a:pPr>
            <a:endParaRPr lang="en-IN" dirty="0"/>
          </a:p>
          <a:p>
            <a:pPr marL="342900" indent="-342900" algn="l">
              <a:buFont typeface="Arial" panose="020B0604020202020204" pitchFamily="34" charset="0"/>
              <a:buChar char="•"/>
            </a:pPr>
            <a:endParaRPr lang="en-IN" dirty="0"/>
          </a:p>
          <a:p>
            <a:pPr marL="342900" indent="-342900" algn="l">
              <a:buFont typeface="Arial" panose="020B0604020202020204" pitchFamily="34" charset="0"/>
              <a:buChar char="•"/>
            </a:pPr>
            <a:endParaRPr lang="en-IN" dirty="0"/>
          </a:p>
          <a:p>
            <a:pPr marL="342900" indent="-342900" algn="l">
              <a:buFont typeface="Arial" panose="020B0604020202020204" pitchFamily="34" charset="0"/>
              <a:buChar char="•"/>
            </a:pPr>
            <a:endParaRPr lang="en-IN" dirty="0"/>
          </a:p>
          <a:p>
            <a:pPr marL="342900" indent="-342900" algn="l">
              <a:buFont typeface="Arial" panose="020B0604020202020204" pitchFamily="34" charset="0"/>
              <a:buChar char="•"/>
            </a:pPr>
            <a:r>
              <a:rPr lang="en-US" dirty="0"/>
              <a:t>where k is the number of successes in a sample.</a:t>
            </a:r>
            <a:endParaRPr lang="en-IN" dirty="0"/>
          </a:p>
          <a:p>
            <a:pPr marL="342900" indent="-342900" algn="l">
              <a:buFont typeface="Arial" panose="020B0604020202020204" pitchFamily="34" charset="0"/>
              <a:buChar char="•"/>
            </a:pPr>
            <a:endParaRPr lang="en-IN" dirty="0"/>
          </a:p>
        </p:txBody>
      </p:sp>
      <p:pic>
        <p:nvPicPr>
          <p:cNvPr id="5" name="Picture 4">
            <a:extLst>
              <a:ext uri="{FF2B5EF4-FFF2-40B4-BE49-F238E27FC236}">
                <a16:creationId xmlns:a16="http://schemas.microsoft.com/office/drawing/2014/main" id="{5E35E7E5-200F-15D6-F3ED-BA89DAE136A6}"/>
              </a:ext>
            </a:extLst>
          </p:cNvPr>
          <p:cNvPicPr>
            <a:picLocks noChangeAspect="1"/>
          </p:cNvPicPr>
          <p:nvPr/>
        </p:nvPicPr>
        <p:blipFill>
          <a:blip r:embed="rId2"/>
          <a:stretch>
            <a:fillRect/>
          </a:stretch>
        </p:blipFill>
        <p:spPr>
          <a:xfrm>
            <a:off x="4285997" y="1235821"/>
            <a:ext cx="2834331" cy="1939279"/>
          </a:xfrm>
          <a:prstGeom prst="rect">
            <a:avLst/>
          </a:prstGeom>
        </p:spPr>
      </p:pic>
    </p:spTree>
    <p:extLst>
      <p:ext uri="{BB962C8B-B14F-4D97-AF65-F5344CB8AC3E}">
        <p14:creationId xmlns:p14="http://schemas.microsoft.com/office/powerpoint/2010/main" val="2366634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F3865-4DB2-8D33-6CF1-8368E3AECC7F}"/>
              </a:ext>
            </a:extLst>
          </p:cNvPr>
          <p:cNvSpPr>
            <a:spLocks noGrp="1"/>
          </p:cNvSpPr>
          <p:nvPr>
            <p:ph type="title"/>
          </p:nvPr>
        </p:nvSpPr>
        <p:spPr/>
        <p:txBody>
          <a:bodyPr/>
          <a:lstStyle/>
          <a:p>
            <a:r>
              <a:rPr lang="en-IN" dirty="0"/>
              <a:t>Properties of Point Estimates</a:t>
            </a:r>
          </a:p>
        </p:txBody>
      </p:sp>
      <p:sp>
        <p:nvSpPr>
          <p:cNvPr id="3" name="Content Placeholder 2">
            <a:extLst>
              <a:ext uri="{FF2B5EF4-FFF2-40B4-BE49-F238E27FC236}">
                <a16:creationId xmlns:a16="http://schemas.microsoft.com/office/drawing/2014/main" id="{83A50A02-2388-4370-781E-1DF10B06A1ED}"/>
              </a:ext>
            </a:extLst>
          </p:cNvPr>
          <p:cNvSpPr>
            <a:spLocks noGrp="1"/>
          </p:cNvSpPr>
          <p:nvPr>
            <p:ph idx="1"/>
          </p:nvPr>
        </p:nvSpPr>
        <p:spPr/>
        <p:txBody>
          <a:bodyPr/>
          <a:lstStyle/>
          <a:p>
            <a:r>
              <a:rPr lang="en-US" b="1" dirty="0"/>
              <a:t>Unbiasedness:</a:t>
            </a:r>
            <a:r>
              <a:rPr lang="en-US" dirty="0"/>
              <a:t> The expected value of the estimator is equal to the true population parameter. If E[θ^] =0 the estimator is unbiased.</a:t>
            </a:r>
          </a:p>
          <a:p>
            <a:r>
              <a:rPr lang="en-US" b="1" dirty="0"/>
              <a:t>Consistency</a:t>
            </a:r>
            <a:r>
              <a:rPr lang="en-US" dirty="0"/>
              <a:t>: As the sample size increases, the estimator converges to the true population parameter.</a:t>
            </a:r>
          </a:p>
          <a:p>
            <a:r>
              <a:rPr lang="en-US" b="1" dirty="0"/>
              <a:t>Efficiency: </a:t>
            </a:r>
            <a:r>
              <a:rPr lang="en-US" dirty="0"/>
              <a:t>Among all unbiased estimators, an efficient estimator has the smallest variance.</a:t>
            </a:r>
          </a:p>
          <a:p>
            <a:r>
              <a:rPr lang="en-US" b="1" dirty="0"/>
              <a:t>Sufficiency: </a:t>
            </a:r>
            <a:r>
              <a:rPr lang="en-US" dirty="0"/>
              <a:t>An estimator is sufficient if it uses all the information in the sample that is relevant to the parameter being estimated.</a:t>
            </a:r>
            <a:endParaRPr lang="en-IN" dirty="0"/>
          </a:p>
        </p:txBody>
      </p:sp>
    </p:spTree>
    <p:extLst>
      <p:ext uri="{BB962C8B-B14F-4D97-AF65-F5344CB8AC3E}">
        <p14:creationId xmlns:p14="http://schemas.microsoft.com/office/powerpoint/2010/main" val="215934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42990-38E4-1368-7F4A-C39000EE2497}"/>
              </a:ext>
            </a:extLst>
          </p:cNvPr>
          <p:cNvSpPr>
            <a:spLocks noGrp="1"/>
          </p:cNvSpPr>
          <p:nvPr>
            <p:ph type="title"/>
          </p:nvPr>
        </p:nvSpPr>
        <p:spPr/>
        <p:txBody>
          <a:bodyPr/>
          <a:lstStyle/>
          <a:p>
            <a:r>
              <a:rPr lang="en-IN" dirty="0"/>
              <a:t>Variability in Point Estimates</a:t>
            </a:r>
          </a:p>
        </p:txBody>
      </p:sp>
      <p:sp>
        <p:nvSpPr>
          <p:cNvPr id="3" name="Content Placeholder 2">
            <a:extLst>
              <a:ext uri="{FF2B5EF4-FFF2-40B4-BE49-F238E27FC236}">
                <a16:creationId xmlns:a16="http://schemas.microsoft.com/office/drawing/2014/main" id="{23ECDF35-80E1-7A7D-D908-A947B0C65820}"/>
              </a:ext>
            </a:extLst>
          </p:cNvPr>
          <p:cNvSpPr>
            <a:spLocks noGrp="1"/>
          </p:cNvSpPr>
          <p:nvPr>
            <p:ph idx="1"/>
          </p:nvPr>
        </p:nvSpPr>
        <p:spPr/>
        <p:txBody>
          <a:bodyPr/>
          <a:lstStyle/>
          <a:p>
            <a:r>
              <a:rPr lang="en-US" dirty="0"/>
              <a:t>Sampling variability refers to the fact that different samples from the same population may yield different estimates.</a:t>
            </a:r>
          </a:p>
          <a:p>
            <a:r>
              <a:rPr lang="en-US" dirty="0"/>
              <a:t>Key factors affecting variability:</a:t>
            </a:r>
          </a:p>
          <a:p>
            <a:endParaRPr lang="en-US" dirty="0"/>
          </a:p>
          <a:p>
            <a:r>
              <a:rPr lang="en-US" dirty="0"/>
              <a:t>  </a:t>
            </a:r>
            <a:r>
              <a:rPr lang="en-US" b="1" dirty="0"/>
              <a:t>Sample Size: </a:t>
            </a:r>
            <a:r>
              <a:rPr lang="en-US" dirty="0"/>
              <a:t>Larger samples reduce variability in the estimate.</a:t>
            </a:r>
          </a:p>
          <a:p>
            <a:r>
              <a:rPr lang="en-US" dirty="0"/>
              <a:t>  </a:t>
            </a:r>
            <a:r>
              <a:rPr lang="en-US" b="1" dirty="0"/>
              <a:t>Population Variability: </a:t>
            </a:r>
            <a:r>
              <a:rPr lang="en-US" dirty="0"/>
              <a:t>Higher variability in the population leads to greater variability in the point estimates.</a:t>
            </a:r>
            <a:endParaRPr lang="en-IN" dirty="0"/>
          </a:p>
        </p:txBody>
      </p:sp>
    </p:spTree>
    <p:extLst>
      <p:ext uri="{BB962C8B-B14F-4D97-AF65-F5344CB8AC3E}">
        <p14:creationId xmlns:p14="http://schemas.microsoft.com/office/powerpoint/2010/main" val="4084559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A7E73-7F76-A91C-B777-86F7BB453F98}"/>
              </a:ext>
            </a:extLst>
          </p:cNvPr>
          <p:cNvSpPr>
            <a:spLocks noGrp="1"/>
          </p:cNvSpPr>
          <p:nvPr>
            <p:ph type="title"/>
          </p:nvPr>
        </p:nvSpPr>
        <p:spPr/>
        <p:txBody>
          <a:bodyPr/>
          <a:lstStyle/>
          <a:p>
            <a:r>
              <a:rPr lang="en-US" dirty="0"/>
              <a:t>Standard Error of an Estimator</a:t>
            </a:r>
            <a:endParaRPr lang="en-IN" dirty="0"/>
          </a:p>
        </p:txBody>
      </p:sp>
      <p:sp>
        <p:nvSpPr>
          <p:cNvPr id="3" name="Content Placeholder 2">
            <a:extLst>
              <a:ext uri="{FF2B5EF4-FFF2-40B4-BE49-F238E27FC236}">
                <a16:creationId xmlns:a16="http://schemas.microsoft.com/office/drawing/2014/main" id="{1475607C-E9D4-099B-1AA0-53E555A5FF80}"/>
              </a:ext>
            </a:extLst>
          </p:cNvPr>
          <p:cNvSpPr>
            <a:spLocks noGrp="1"/>
          </p:cNvSpPr>
          <p:nvPr>
            <p:ph idx="1"/>
          </p:nvPr>
        </p:nvSpPr>
        <p:spPr/>
        <p:txBody>
          <a:bodyPr>
            <a:normAutofit lnSpcReduction="10000"/>
          </a:bodyPr>
          <a:lstStyle/>
          <a:p>
            <a:r>
              <a:rPr lang="en-US" dirty="0"/>
              <a:t>The </a:t>
            </a:r>
            <a:r>
              <a:rPr lang="en-US" b="1" dirty="0"/>
              <a:t>standard error (SE)</a:t>
            </a:r>
            <a:r>
              <a:rPr lang="en-US" dirty="0"/>
              <a:t> measures the variability of the sample statistic (e.g., sample mean) as an estimate of the population parameter. It quantifies how much we expect the point estimate to vary from one sample to another.</a:t>
            </a:r>
          </a:p>
          <a:p>
            <a:r>
              <a:rPr lang="en-IN" dirty="0"/>
              <a:t>For the sample mean:</a:t>
            </a:r>
          </a:p>
          <a:p>
            <a:endParaRPr lang="en-IN" dirty="0"/>
          </a:p>
          <a:p>
            <a:endParaRPr lang="en-IN" dirty="0"/>
          </a:p>
          <a:p>
            <a:endParaRPr lang="en-IN" dirty="0"/>
          </a:p>
          <a:p>
            <a:r>
              <a:rPr lang="en-US" dirty="0"/>
              <a:t>Where σ the population standard deviation, and n is the sample size.</a:t>
            </a:r>
          </a:p>
          <a:p>
            <a:endParaRPr lang="en-IN" dirty="0"/>
          </a:p>
        </p:txBody>
      </p:sp>
      <p:pic>
        <p:nvPicPr>
          <p:cNvPr id="5" name="Picture 4">
            <a:extLst>
              <a:ext uri="{FF2B5EF4-FFF2-40B4-BE49-F238E27FC236}">
                <a16:creationId xmlns:a16="http://schemas.microsoft.com/office/drawing/2014/main" id="{39748801-4A62-CAE6-6048-E249056B8931}"/>
              </a:ext>
            </a:extLst>
          </p:cNvPr>
          <p:cNvPicPr>
            <a:picLocks noChangeAspect="1"/>
          </p:cNvPicPr>
          <p:nvPr/>
        </p:nvPicPr>
        <p:blipFill>
          <a:blip r:embed="rId2"/>
          <a:stretch>
            <a:fillRect/>
          </a:stretch>
        </p:blipFill>
        <p:spPr>
          <a:xfrm>
            <a:off x="4885457" y="3597638"/>
            <a:ext cx="3509036" cy="1363565"/>
          </a:xfrm>
          <a:prstGeom prst="rect">
            <a:avLst/>
          </a:prstGeom>
        </p:spPr>
      </p:pic>
    </p:spTree>
    <p:extLst>
      <p:ext uri="{BB962C8B-B14F-4D97-AF65-F5344CB8AC3E}">
        <p14:creationId xmlns:p14="http://schemas.microsoft.com/office/powerpoint/2010/main" val="967929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5C062-D67E-DF43-27B7-74DD5AA17D1E}"/>
              </a:ext>
            </a:extLst>
          </p:cNvPr>
          <p:cNvSpPr>
            <a:spLocks noGrp="1"/>
          </p:cNvSpPr>
          <p:nvPr>
            <p:ph type="title"/>
          </p:nvPr>
        </p:nvSpPr>
        <p:spPr/>
        <p:txBody>
          <a:bodyPr/>
          <a:lstStyle/>
          <a:p>
            <a:r>
              <a:rPr lang="en-IN" dirty="0"/>
              <a:t>For the sample proportion:</a:t>
            </a:r>
          </a:p>
        </p:txBody>
      </p:sp>
      <p:sp>
        <p:nvSpPr>
          <p:cNvPr id="3" name="Content Placeholder 2">
            <a:extLst>
              <a:ext uri="{FF2B5EF4-FFF2-40B4-BE49-F238E27FC236}">
                <a16:creationId xmlns:a16="http://schemas.microsoft.com/office/drawing/2014/main" id="{064B7DAE-9F73-2E0F-D8E1-B8E38F8680B5}"/>
              </a:ext>
            </a:extLst>
          </p:cNvPr>
          <p:cNvSpPr>
            <a:spLocks noGrp="1"/>
          </p:cNvSpPr>
          <p:nvPr>
            <p:ph idx="1"/>
          </p:nvPr>
        </p:nvSpPr>
        <p:spPr/>
        <p:txBody>
          <a:bodyPr>
            <a:normAutofit lnSpcReduction="10000"/>
          </a:bodyPr>
          <a:lstStyle/>
          <a:p>
            <a:endParaRPr lang="en-US" b="1" dirty="0"/>
          </a:p>
          <a:p>
            <a:endParaRPr lang="en-US" b="1" dirty="0"/>
          </a:p>
          <a:p>
            <a:endParaRPr lang="en-US" b="1" dirty="0"/>
          </a:p>
          <a:p>
            <a:r>
              <a:rPr lang="en-US" b="1" dirty="0"/>
              <a:t>P^= No. of successes / total population</a:t>
            </a:r>
          </a:p>
          <a:p>
            <a:endParaRPr lang="en-US" b="1" dirty="0"/>
          </a:p>
          <a:p>
            <a:r>
              <a:rPr lang="en-US" b="1" dirty="0"/>
              <a:t>Interpretation of SE</a:t>
            </a:r>
            <a:r>
              <a:rPr lang="en-US" dirty="0"/>
              <a:t>:</a:t>
            </a:r>
          </a:p>
          <a:p>
            <a:pPr>
              <a:buFont typeface="Arial" panose="020B0604020202020204" pitchFamily="34" charset="0"/>
              <a:buChar char="•"/>
            </a:pPr>
            <a:r>
              <a:rPr lang="en-US" dirty="0"/>
              <a:t>Smaller SE means more precise estimates.</a:t>
            </a:r>
          </a:p>
          <a:p>
            <a:pPr>
              <a:buFont typeface="Arial" panose="020B0604020202020204" pitchFamily="34" charset="0"/>
              <a:buChar char="•"/>
            </a:pPr>
            <a:r>
              <a:rPr lang="en-US" dirty="0"/>
              <a:t>SE is directly related to the variability of the population and inversely related to the sample size.</a:t>
            </a:r>
          </a:p>
          <a:p>
            <a:endParaRPr lang="en-IN" dirty="0"/>
          </a:p>
        </p:txBody>
      </p:sp>
      <p:pic>
        <p:nvPicPr>
          <p:cNvPr id="7" name="Picture 6">
            <a:extLst>
              <a:ext uri="{FF2B5EF4-FFF2-40B4-BE49-F238E27FC236}">
                <a16:creationId xmlns:a16="http://schemas.microsoft.com/office/drawing/2014/main" id="{327120A6-F1AE-5DFB-E7BB-78D887307E3A}"/>
              </a:ext>
            </a:extLst>
          </p:cNvPr>
          <p:cNvPicPr>
            <a:picLocks noChangeAspect="1"/>
          </p:cNvPicPr>
          <p:nvPr/>
        </p:nvPicPr>
        <p:blipFill>
          <a:blip r:embed="rId2"/>
          <a:stretch>
            <a:fillRect/>
          </a:stretch>
        </p:blipFill>
        <p:spPr>
          <a:xfrm>
            <a:off x="2571088" y="1825625"/>
            <a:ext cx="3724780" cy="1445457"/>
          </a:xfrm>
          <a:prstGeom prst="rect">
            <a:avLst/>
          </a:prstGeom>
        </p:spPr>
      </p:pic>
    </p:spTree>
    <p:extLst>
      <p:ext uri="{BB962C8B-B14F-4D97-AF65-F5344CB8AC3E}">
        <p14:creationId xmlns:p14="http://schemas.microsoft.com/office/powerpoint/2010/main" val="2355612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80195C-45AE-C029-10D8-504A9C320E4C}"/>
              </a:ext>
            </a:extLst>
          </p:cNvPr>
          <p:cNvSpPr>
            <a:spLocks noGrp="1"/>
          </p:cNvSpPr>
          <p:nvPr>
            <p:ph idx="1"/>
          </p:nvPr>
        </p:nvSpPr>
        <p:spPr>
          <a:xfrm>
            <a:off x="838200" y="209862"/>
            <a:ext cx="10515600" cy="5967101"/>
          </a:xfrm>
        </p:spPr>
        <p:txBody>
          <a:bodyPr>
            <a:normAutofit fontScale="92500" lnSpcReduction="10000"/>
          </a:bodyPr>
          <a:lstStyle/>
          <a:p>
            <a:r>
              <a:rPr lang="en-US" b="1" dirty="0"/>
              <a:t>Example 1: Estimating the Mean Height of a Population</a:t>
            </a:r>
            <a:endParaRPr lang="en-US" dirty="0"/>
          </a:p>
          <a:p>
            <a:pPr marL="0" indent="0">
              <a:buNone/>
            </a:pPr>
            <a:r>
              <a:rPr lang="en-US" dirty="0"/>
              <a:t>Suppose we sample 50 individuals and calculate the mean height as 170 cm. The standard deviation of heights in the population is 10 cm.</a:t>
            </a:r>
          </a:p>
          <a:p>
            <a:r>
              <a:rPr lang="en-US" b="1" dirty="0"/>
              <a:t>Point Estimate of the Population Mean (μ^​)</a:t>
            </a:r>
            <a:r>
              <a:rPr lang="en-US" dirty="0"/>
              <a:t>:</a:t>
            </a:r>
          </a:p>
          <a:p>
            <a:pPr marL="0" indent="0">
              <a:buNone/>
            </a:pPr>
            <a:r>
              <a:rPr lang="en-US" dirty="0"/>
              <a:t>= 170 cm</a:t>
            </a:r>
          </a:p>
          <a:p>
            <a:r>
              <a:rPr lang="en-US" dirty="0"/>
              <a:t>Calculate the S.E ( Standard Error)</a:t>
            </a:r>
          </a:p>
          <a:p>
            <a:endParaRPr lang="en-US" dirty="0"/>
          </a:p>
          <a:p>
            <a:endParaRPr lang="en-US" dirty="0"/>
          </a:p>
          <a:p>
            <a:endParaRPr lang="en-US" dirty="0"/>
          </a:p>
          <a:p>
            <a:r>
              <a:rPr lang="en-US" b="1" dirty="0"/>
              <a:t>Interpretation</a:t>
            </a:r>
            <a:r>
              <a:rPr lang="en-US" dirty="0"/>
              <a:t>: Based on this sample, we estimate that the average height of the population is 170 cm, and the standard error of this estimate is 1.41 cm. This suggests that if we repeated the study, the estimated mean height would typically vary by around 1.41 cm from sample to sample.</a:t>
            </a:r>
          </a:p>
          <a:p>
            <a:pPr marL="0" indent="0">
              <a:buNone/>
            </a:pPr>
            <a:endParaRPr lang="en-US" dirty="0"/>
          </a:p>
          <a:p>
            <a:endParaRPr lang="en-IN" dirty="0"/>
          </a:p>
        </p:txBody>
      </p:sp>
      <p:pic>
        <p:nvPicPr>
          <p:cNvPr id="5" name="Picture 4">
            <a:extLst>
              <a:ext uri="{FF2B5EF4-FFF2-40B4-BE49-F238E27FC236}">
                <a16:creationId xmlns:a16="http://schemas.microsoft.com/office/drawing/2014/main" id="{33CBE020-49C4-B118-A93A-CB7475A24164}"/>
              </a:ext>
            </a:extLst>
          </p:cNvPr>
          <p:cNvPicPr>
            <a:picLocks noChangeAspect="1"/>
          </p:cNvPicPr>
          <p:nvPr/>
        </p:nvPicPr>
        <p:blipFill>
          <a:blip r:embed="rId2"/>
          <a:stretch>
            <a:fillRect/>
          </a:stretch>
        </p:blipFill>
        <p:spPr>
          <a:xfrm>
            <a:off x="6768752" y="2473377"/>
            <a:ext cx="4159077" cy="1065470"/>
          </a:xfrm>
          <a:prstGeom prst="rect">
            <a:avLst/>
          </a:prstGeom>
        </p:spPr>
      </p:pic>
    </p:spTree>
    <p:extLst>
      <p:ext uri="{BB962C8B-B14F-4D97-AF65-F5344CB8AC3E}">
        <p14:creationId xmlns:p14="http://schemas.microsoft.com/office/powerpoint/2010/main" val="3103096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C9C69-62C5-4D08-4746-E5743EC52F20}"/>
              </a:ext>
            </a:extLst>
          </p:cNvPr>
          <p:cNvSpPr>
            <a:spLocks noGrp="1"/>
          </p:cNvSpPr>
          <p:nvPr>
            <p:ph type="title"/>
          </p:nvPr>
        </p:nvSpPr>
        <p:spPr/>
        <p:txBody>
          <a:bodyPr/>
          <a:lstStyle/>
          <a:p>
            <a:r>
              <a:rPr lang="en-IN" dirty="0"/>
              <a:t>Example 2: Estimating a Proportion</a:t>
            </a:r>
          </a:p>
        </p:txBody>
      </p:sp>
      <p:sp>
        <p:nvSpPr>
          <p:cNvPr id="3" name="Content Placeholder 2">
            <a:extLst>
              <a:ext uri="{FF2B5EF4-FFF2-40B4-BE49-F238E27FC236}">
                <a16:creationId xmlns:a16="http://schemas.microsoft.com/office/drawing/2014/main" id="{A87766E4-E396-1CC7-93F6-E922FBB1CE0C}"/>
              </a:ext>
            </a:extLst>
          </p:cNvPr>
          <p:cNvSpPr>
            <a:spLocks noGrp="1"/>
          </p:cNvSpPr>
          <p:nvPr>
            <p:ph idx="1"/>
          </p:nvPr>
        </p:nvSpPr>
        <p:spPr/>
        <p:txBody>
          <a:bodyPr>
            <a:normAutofit lnSpcReduction="10000"/>
          </a:bodyPr>
          <a:lstStyle/>
          <a:p>
            <a:r>
              <a:rPr lang="en-US" dirty="0"/>
              <a:t>Suppose in a survey of 200 people, 120 people say they prefer online shopping.</a:t>
            </a:r>
          </a:p>
          <a:p>
            <a:r>
              <a:rPr lang="en-US" b="1" dirty="0"/>
              <a:t>Calculate Point Estimate for the Proportion (p^​)</a:t>
            </a:r>
            <a:r>
              <a:rPr lang="en-US" dirty="0"/>
              <a:t>: </a:t>
            </a:r>
          </a:p>
          <a:p>
            <a:r>
              <a:rPr lang="en-US" dirty="0"/>
              <a:t>120/200= 0.60</a:t>
            </a:r>
          </a:p>
          <a:p>
            <a:r>
              <a:rPr lang="en-IN" b="1" dirty="0"/>
              <a:t>Calculate the Standard Error (SE)</a:t>
            </a:r>
            <a:r>
              <a:rPr lang="en-US" b="1" dirty="0"/>
              <a:t>:</a:t>
            </a:r>
          </a:p>
          <a:p>
            <a:endParaRPr lang="en-US" b="1" dirty="0"/>
          </a:p>
          <a:p>
            <a:endParaRPr lang="en-US" b="1" dirty="0"/>
          </a:p>
          <a:p>
            <a:r>
              <a:rPr lang="en-US" b="1" dirty="0"/>
              <a:t>Interpretation</a:t>
            </a:r>
            <a:r>
              <a:rPr lang="en-US" dirty="0"/>
              <a:t>: We estimate that 60% of the population prefers online shopping, and the standard error of this estimate is about 3.47%.</a:t>
            </a:r>
            <a:endParaRPr lang="en-US" b="1" dirty="0"/>
          </a:p>
          <a:p>
            <a:endParaRPr lang="en-US" dirty="0"/>
          </a:p>
          <a:p>
            <a:endParaRPr lang="en-IN" dirty="0"/>
          </a:p>
        </p:txBody>
      </p:sp>
      <p:pic>
        <p:nvPicPr>
          <p:cNvPr id="5" name="Picture 4">
            <a:extLst>
              <a:ext uri="{FF2B5EF4-FFF2-40B4-BE49-F238E27FC236}">
                <a16:creationId xmlns:a16="http://schemas.microsoft.com/office/drawing/2014/main" id="{28A9E18C-0F60-3872-505A-87E91A5509DB}"/>
              </a:ext>
            </a:extLst>
          </p:cNvPr>
          <p:cNvPicPr>
            <a:picLocks noChangeAspect="1"/>
          </p:cNvPicPr>
          <p:nvPr/>
        </p:nvPicPr>
        <p:blipFill>
          <a:blip r:embed="rId2"/>
          <a:stretch>
            <a:fillRect/>
          </a:stretch>
        </p:blipFill>
        <p:spPr>
          <a:xfrm>
            <a:off x="6809249" y="3450460"/>
            <a:ext cx="4958029" cy="1101668"/>
          </a:xfrm>
          <a:prstGeom prst="rect">
            <a:avLst/>
          </a:prstGeom>
        </p:spPr>
      </p:pic>
    </p:spTree>
    <p:extLst>
      <p:ext uri="{BB962C8B-B14F-4D97-AF65-F5344CB8AC3E}">
        <p14:creationId xmlns:p14="http://schemas.microsoft.com/office/powerpoint/2010/main" val="2798796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503</Words>
  <Application>Microsoft Office PowerPoint</Application>
  <PresentationFormat>Widescreen</PresentationFormat>
  <Paragraphs>56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Measuring the Variability in Estimates: Point Estimates </vt:lpstr>
      <vt:lpstr>Point Estimates</vt:lpstr>
      <vt:lpstr>PowerPoint Presentation</vt:lpstr>
      <vt:lpstr>Properties of Point Estimates</vt:lpstr>
      <vt:lpstr>Variability in Point Estimates</vt:lpstr>
      <vt:lpstr>Standard Error of an Estimator</vt:lpstr>
      <vt:lpstr>For the sample proportion:</vt:lpstr>
      <vt:lpstr>PowerPoint Presentation</vt:lpstr>
      <vt:lpstr>Example 2: Estimating a Proportion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Sital Sharma</dc:creator>
  <cp:lastModifiedBy>Sital Sharma</cp:lastModifiedBy>
  <cp:revision>9</cp:revision>
  <dcterms:created xsi:type="dcterms:W3CDTF">2024-09-23T05:51:10Z</dcterms:created>
  <dcterms:modified xsi:type="dcterms:W3CDTF">2024-10-25T09:25:06Z</dcterms:modified>
</cp:coreProperties>
</file>