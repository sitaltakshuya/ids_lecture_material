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D79B-F67E-449A-07EA-52B13BE99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5238C-C0C5-954D-8EAC-88779C0D9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489EE-9F5D-A142-2DBD-8904752D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A517C-8525-E7C1-0694-0DF72AD1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5B83-DD0B-6894-608F-1A556FD6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15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A70B-A115-58BE-3CB6-0DFF0922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65A2-4A02-D0FA-5BE9-8A6D4CD6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37494-ADCD-ADA9-5AD4-7EE1A4AE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715C-0DE1-E8D1-2F68-D76B3295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56E0C-512D-4275-ADE7-B764CB08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46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B460-8F61-F2C2-7FB3-0A8E0B2A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2D3D2-CBD3-8BC7-6D1C-39380F27E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01C1-1B31-4895-D623-E2FE7989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258B7-87FE-1648-F5BD-18DF4347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7600-F74E-A84D-EFBC-8290B678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2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6BEE-C54A-02C4-9A78-5E2A095D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58F34-1BFF-6E2F-3F12-06E0F2CCF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4E7EC-A8AB-2166-E07F-250C32A53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EB8C7-BF0F-BA05-8676-6354FFD2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75AEA-6348-6828-B54B-2CCA9C2C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9E57F-3C97-0531-47E2-27FB2369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3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AD92-91B1-EA69-B3FF-8067F60D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9EB6C-7A0C-85AB-4027-7FDA29EE6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14782-72C6-1185-35DE-67523B6A0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B882-DF98-C03F-D475-CA06A5EE2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A35AD-FE34-105E-E83B-A710BC6C7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8EDC5-AFD4-6281-BF4E-5BAB12D1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6D101-873A-A405-0C5B-8E35C1D7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6B371-C831-FC6F-5C4A-C052C1EE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15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6DCF-2FA7-D0DF-A591-8EC36A81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6A910-F416-9D61-A428-842D0C2F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ADB98-D98B-2F0D-2303-FF85F8EB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BE293-D29A-2547-D440-A51BAFCD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0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A859D-9A3D-0972-0AF0-FF76268F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D5EA4-3E72-E72C-931A-83ADC114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460BF-E41E-3BCE-78DD-690D9591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8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8636-BB2C-F5DD-5686-3501B32D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D8C9-12C5-87E8-B32F-07733169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8BD4B-6807-C522-548A-408DFB4E9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9B5B9-EE6C-1638-12C4-21291F9EB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AFE49-7A23-56FA-7487-DC9470D2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C6D4F-B539-7178-1381-5F6CF5C8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63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2EF4-46C8-79D7-26F4-18745FA6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5CE60-88D0-1F35-3722-8B357F002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5ECFA-C4FD-4B01-9D32-D9E1EA871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57F5F-D761-CC3A-C518-BDB46DAA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4117E-A5B2-F0F2-15E7-1B192F6A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0548A-134A-2E05-D88A-A5C70E1D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01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6BBD-6DB6-523B-1B32-892634098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81CFB-9B58-6644-1844-996CD856C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5CB0-C67E-F8DE-7498-49D9F785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B7C02-6BF0-1210-303E-7BE0E68E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88AF-466A-2660-1A32-90BA86B4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82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0CC6B-722E-E902-EB22-02B173390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C2AAB-14FD-D581-F606-853C253B4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BA2A9-6128-C7E1-CF5C-9B500334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411E-82E7-6CD7-9973-20B53B90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4261B-067E-5D9E-54AB-022C1120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622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2B510-503B-EF8B-D81B-CB00FA87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021FD-BD4A-839C-F919-2E78230F7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06AE5-B370-0559-D2FA-3CA1A9A51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035CC-F7CC-444C-866A-CC3DF601CD9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E7F4-E364-4D37-5663-C408BC642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16DB-3654-8420-DB8E-AAE11F87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4D45F-CC2B-4881-8BC6-2D66A3BE83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65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2E2A-3F01-2CDA-694B-803950897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Confidence Intervals for Proportions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A67A7-A9B9-EDCD-A6BA-F5995CF6B9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-IDS LECTURE SERIES(SMIT)</a:t>
            </a:r>
          </a:p>
          <a:p>
            <a:r>
              <a:rPr lang="en-IN" dirty="0"/>
              <a:t>-SITAL SHARMA</a:t>
            </a:r>
          </a:p>
          <a:p>
            <a:r>
              <a:rPr lang="en-IN" dirty="0"/>
              <a:t>-sitalneo@gmail.com</a:t>
            </a:r>
          </a:p>
        </p:txBody>
      </p:sp>
    </p:spTree>
    <p:extLst>
      <p:ext uri="{BB962C8B-B14F-4D97-AF65-F5344CB8AC3E}">
        <p14:creationId xmlns:p14="http://schemas.microsoft.com/office/powerpoint/2010/main" val="319808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022B-9382-B76E-E950-04C4D1FF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9C0F-C105-2BC7-D451-A9547267F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41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F1ED-B6DC-87E5-36EE-788C1FA9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D7339-22F3-3222-3E13-88BFF9ED3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confidence interval for a proportion is a statistical method used to estimate the range of plausible values for a population proportion based on information obtained from a sample.</a:t>
            </a:r>
          </a:p>
        </p:txBody>
      </p:sp>
    </p:spTree>
    <p:extLst>
      <p:ext uri="{BB962C8B-B14F-4D97-AF65-F5344CB8AC3E}">
        <p14:creationId xmlns:p14="http://schemas.microsoft.com/office/powerpoint/2010/main" val="123052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BFE4-BC6A-3433-FA0E-E5E034FF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4" name="Content Placeholder 3" descr="Example time - Happy Homer Meme Generator">
            <a:extLst>
              <a:ext uri="{FF2B5EF4-FFF2-40B4-BE49-F238E27FC236}">
                <a16:creationId xmlns:a16="http://schemas.microsoft.com/office/drawing/2014/main" id="{44AEF94F-448C-3F5C-80A6-DEF6219FD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3810"/>
            <a:ext cx="9653666" cy="43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2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19E6-1C06-ACFE-AE0D-B8F278105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4557"/>
            <a:ext cx="10515600" cy="5502406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suppose a university wants to know the proportion of students who prefer online classes. It is usually impractical to ask every student, so a sample is selected.</a:t>
            </a:r>
          </a:p>
        </p:txBody>
      </p:sp>
    </p:spTree>
    <p:extLst>
      <p:ext uri="{BB962C8B-B14F-4D97-AF65-F5344CB8AC3E}">
        <p14:creationId xmlns:p14="http://schemas.microsoft.com/office/powerpoint/2010/main" val="24676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A0A7-0686-7AE1-482C-C118778D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AF0C6-AF8C-699C-D9BE-24582C51D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74557"/>
                <a:ext cx="10515600" cy="5502406"/>
              </a:xfrm>
            </p:spPr>
            <p:txBody>
              <a:bodyPr/>
              <a:lstStyle/>
              <a:p>
                <a:pPr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suppose a university wants to know the proportion of students who prefer online classes. It is usually impractical to ask every student, so a sample is selected.</a:t>
                </a:r>
              </a:p>
              <a:p>
                <a:pPr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120 out of 200 sampled students prefer online classes:</a:t>
                </a:r>
              </a:p>
              <a:p>
                <a:pPr algn="just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120</m:t>
                        </m:r>
                      </m:num>
                      <m:den>
                        <m:r>
                          <a:rPr lang="en-IN"/>
                          <m:t>200</m:t>
                        </m:r>
                      </m:den>
                    </m:f>
                    <m:r>
                      <a:rPr lang="en-IN"/>
                      <m:t>=0.60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sample proportion is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60%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but the actual population proportion may be somewhat higher or lower. A confidence interval helps us quantify this uncertainty.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CAF0C6-AF8C-699C-D9BE-24582C51D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74557"/>
                <a:ext cx="10515600" cy="5502406"/>
              </a:xfrm>
              <a:blipFill>
                <a:blip r:embed="rId2"/>
                <a:stretch>
                  <a:fillRect l="-1043" t="-1996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1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952C8-4D31-23F4-825B-1795D1EEC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4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F7CC-0932-E940-9CFA-6FCF421A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note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52C3A2-B71B-1C65-EF34-33C22B110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population proportion</a:t>
                </a:r>
                <a:r>
                  <a:rPr lang="en-IN" dirty="0"/>
                  <a:t> is denoted by: </a:t>
                </a:r>
                <a14:m>
                  <m:oMath xmlns:m="http://schemas.openxmlformats.org/officeDocument/2006/math">
                    <m:r>
                      <a:rPr lang="en-IN" i="1"/>
                      <m:t>𝑝</m:t>
                    </m:r>
                  </m:oMath>
                </a14:m>
                <a:endParaRPr lang="en-IN" dirty="0"/>
              </a:p>
              <a:p>
                <a:r>
                  <a:rPr lang="en-IN" dirty="0"/>
                  <a:t>he </a:t>
                </a:r>
                <a:r>
                  <a:rPr lang="en-IN" b="1" dirty="0"/>
                  <a:t>sample proportion</a:t>
                </a:r>
                <a:r>
                  <a:rPr lang="en-IN" dirty="0"/>
                  <a:t> is denoted by: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</m:oMath>
                </a14:m>
                <a:endParaRPr lang="en-IN" dirty="0"/>
              </a:p>
              <a:p>
                <a:r>
                  <a:rPr lang="en-IN" dirty="0"/>
                  <a:t>It is calculated from sample data: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𝑥</m:t>
                            </m:r>
                          </m:num>
                          <m:den>
                            <m:r>
                              <a:rPr lang="en-IN" i="1"/>
                              <m:t>𝑛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</m:oMath>
                </a14:m>
                <a:r>
                  <a:rPr lang="en-IN" dirty="0"/>
                  <a:t>= number of individuals in the sample with the characteristic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𝑛</m:t>
                    </m:r>
                  </m:oMath>
                </a14:m>
                <a:r>
                  <a:rPr lang="en-IN" dirty="0"/>
                  <a:t>= total sample size 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</m:oMath>
                </a14:m>
                <a:r>
                  <a:rPr lang="en-IN" dirty="0"/>
                  <a:t>= sample proportion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52C3A2-B71B-1C65-EF34-33C22B110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3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76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40F0E-5045-625D-6DF0-68A509E1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7D5E6-3005-1DDA-DBE4-42C48F96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Confidence Interval?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4071E-E860-1D0C-5AD3-F9A16D21F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TELL  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477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804B-AC4B-8FB6-6513-824A4638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DA7E-0261-C19B-6D66-252F2528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Confidence Interval?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BA0E1-9184-D552-8C84-C28BC64D1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interval (CI)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a range of values that is used to estimate an unknown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38142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EC48-DBCA-E809-1115-80B70389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C79F-3B94-EFE7-31AF-DBC1093C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Confidence Interval?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37D3A4-C462-DAF5-08C0-2FEFED78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 a proportion, a confidence interval has the general form: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Estimate</m:t>
                        </m:r>
                        <m:r>
                          <a:rPr lang="en-IN"/>
                          <m:t>±</m:t>
                        </m:r>
                        <m:r>
                          <m:rPr>
                            <m:nor/>
                          </m:rPr>
                          <a:rPr lang="en-IN"/>
                          <m:t>Margin of Error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Therefore,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Confidence Interval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𝐸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/>
                      <m:t>𝐸</m:t>
                    </m:r>
                  </m:oMath>
                </a14:m>
                <a:r>
                  <a:rPr lang="en-IN" dirty="0"/>
                  <a:t>is the margin of error.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37D3A4-C462-DAF5-08C0-2FEFED78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50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46AA5-BA22-1FD5-A653-C342A696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Confidence Interval Formula for a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BD694B-4253-529C-6A9E-A108FA440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For a sufficiently large sample, the commonly used confidence interval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𝑧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BD694B-4253-529C-6A9E-A108FA440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81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DF26C-30AC-87A4-1539-661A3D5D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C559-6BB4-A1A7-BF52-F748E87F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Confidence Interval Formula for a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28F8B-3B06-564E-74C3-709E27E41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For a sufficiently large sample, the commonly used confidence interval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𝑧</m:t>
                            </m:r>
                          </m:e>
                          <m:sub>
                            <m:r>
                              <a:rPr lang="en-IN" i="1"/>
                              <m:t>𝛼</m:t>
                            </m:r>
                            <m:r>
                              <a:rPr lang="en-IN"/>
                              <m:t>/2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IN" dirty="0"/>
                  <a:t>= sample proportion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= sample size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IN" dirty="0"/>
                  <a:t>= critical value corresponding to the desired confidence level </a:t>
                </a:r>
              </a:p>
              <a:p>
                <a:pPr lvl="0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en-IN" dirty="0"/>
                  <a:t>= standard error of the sample proportion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28F8B-3B06-564E-74C3-709E27E41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870" b="-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582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A962-FF81-B6CF-7116-531CF33E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EA1F-F065-8976-E62D-8C2AD66B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Confidence Interval Formula for a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F795A-30EE-B764-CCFA-5C5E3E9DC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The interval can therefore be written as: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𝑧</m:t>
                            </m:r>
                          </m:e>
                          <m:sup>
                            <m:r>
                              <a:rPr lang="en-IN"/>
                              <m:t>∗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∗</m:t>
                        </m:r>
                      </m:sup>
                    </m:sSup>
                  </m:oMath>
                </a14:m>
                <a:r>
                  <a:rPr lang="en-IN" dirty="0"/>
                  <a:t>is the appropriate standard-normal critical value.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F795A-30EE-B764-CCFA-5C5E3E9DC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93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886A-8DAF-8134-8C29-990EB6B5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Common Confidence Levels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FB685A0-7086-F320-5D0E-1B410560F3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08041784"/>
                  </p:ext>
                </p:extLst>
              </p:nvPr>
            </p:nvGraphicFramePr>
            <p:xfrm>
              <a:off x="838200" y="1825625"/>
              <a:ext cx="10515600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9640380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042024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Confidence Level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3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3200" i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3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543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1.645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430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60726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2.576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48685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FB685A0-7086-F320-5D0E-1B410560F3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08041784"/>
                  </p:ext>
                </p:extLst>
              </p:nvPr>
            </p:nvGraphicFramePr>
            <p:xfrm>
              <a:off x="838200" y="1825625"/>
              <a:ext cx="10515600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9640380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04202435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Confidence Level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16" t="-14737" r="-463" b="-3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54325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1.645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430195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607260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3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2.576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48685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6473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4FFF-CD21-8C16-2983-DBD2F14D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2A588-D6B6-AABF-9A16-F990D2FEA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proportion: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𝑆𝐸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𝑝</m:t>
                                </m:r>
                              </m:e>
                            </m:acc>
                          </m:e>
                        </m:d>
                        <m:r>
                          <a:rPr lang="en-IN"/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2A588-D6B6-AABF-9A16-F990D2FEA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193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4CF8-F9E8-68BF-6797-B32C21B3F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9345E-7415-AFCF-881B-408B1CAF9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margin of error (ME)</a:t>
                </a:r>
                <a:r>
                  <a:rPr lang="en-IN" dirty="0"/>
                  <a:t>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𝑀𝐸</m:t>
                        </m:r>
                        <m:r>
                          <a:rPr lang="en-IN"/>
                          <m:t>=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𝑧</m:t>
                            </m:r>
                          </m:e>
                          <m:sup>
                            <m:r>
                              <a:rPr lang="en-IN"/>
                              <m:t>∗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9345E-7415-AFCF-881B-408B1CAF9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309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A451-5483-D9D4-FB85-70DB2E87D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6537-58BD-A7F0-3317-BBC9B63E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3A81D-34AE-5713-703B-83F4F568B0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margin of error (ME)</a:t>
                </a:r>
                <a:r>
                  <a:rPr lang="en-IN" dirty="0"/>
                  <a:t>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𝑀𝐸</m:t>
                        </m:r>
                        <m:r>
                          <a:rPr lang="en-IN"/>
                          <m:t>=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𝑧</m:t>
                            </m:r>
                          </m:e>
                          <m:sup>
                            <m:r>
                              <a:rPr lang="en-IN"/>
                              <m:t>∗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/>
                                        </m:ctrlPr>
                                      </m:accPr>
                                      <m:e>
                                        <m:r>
                                          <a:rPr lang="en-IN" i="1"/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b="0" i="0"/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b="0" i="0"/>
                          <m:t>Confidence Interval</m:t>
                        </m:r>
                        <m:r>
                          <a:rPr lang="en-IN"/>
                          <m:t>=</m:t>
                        </m:r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±</m:t>
                        </m:r>
                        <m:r>
                          <a:rPr lang="en-IN" i="1"/>
                          <m:t>𝑀𝐸</m:t>
                        </m:r>
                      </m:e>
                    </m:borderBox>
                  </m:oMath>
                </a14:m>
                <a:endParaRPr lang="en-IN" b="0" dirty="0"/>
              </a:p>
              <a:p>
                <a:r>
                  <a:rPr lang="en-IN" dirty="0"/>
                  <a:t>The margin of error tells us how far the confidence interval extends on either side of the sample proportion.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3A81D-34AE-5713-703B-83F4F568B0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56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25B6-00CE-B570-11BC-BD891B36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99F0-F630-CBD5-BB8F-67485BE6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wants to estimate the proportion of students in a college who use public transportation. A random sample of 400 students is selected. Among them, 240 students use public transportation. Find a 95% confidence interval for the population proportion.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823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0DE7-80A4-D554-9A3B-3BFC19A2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sample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93862C-6404-A4A1-6020-483D49923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𝑥</m:t>
                        </m:r>
                      </m:num>
                      <m:den>
                        <m:r>
                          <a:rPr lang="en-IN" i="1"/>
                          <m:t>𝑛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93862C-6404-A4A1-6020-483D4992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48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5751-6F3A-44E3-2409-EFC9194D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5BA1-823F-DA0C-52BC-11CFFC5E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sample proportion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37BCC-45D6-EFB3-D09F-E52715CB3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𝑥</m:t>
                        </m:r>
                      </m:num>
                      <m:den>
                        <m:r>
                          <a:rPr lang="en-IN" i="1"/>
                          <m:t>𝑛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240</m:t>
                        </m:r>
                      </m:num>
                      <m:den>
                        <m:r>
                          <a:rPr lang="en-IN"/>
                          <m:t>400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𝑝</m:t>
                            </m:r>
                          </m:e>
                        </m:acc>
                        <m:r>
                          <a:rPr lang="en-IN"/>
                          <m:t>=0.60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So the sample proportion is:</a:t>
                </a:r>
              </a:p>
              <a:p>
                <a:r>
                  <a:rPr lang="en-IN" dirty="0"/>
                  <a:t>60%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37BCC-45D6-EFB3-D09F-E52715CB3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292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1D4C-97B6-17FC-FE1D-BE400EEB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critical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91D60-D9D6-EA84-0356-ECE52068C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31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C44E-91AB-62EF-2367-C61257BD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5906-C6CD-CB82-920F-D3F28BE7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critical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B97727-76DB-37C9-026A-F3FEFB2092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95% confidence interval: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𝑧</m:t>
                            </m:r>
                          </m:e>
                          <m:sup>
                            <m:r>
                              <a:rPr lang="en-IN"/>
                              <m:t>∗</m:t>
                            </m:r>
                          </m:sup>
                        </m:sSup>
                        <m:r>
                          <a:rPr lang="en-IN"/>
                          <m:t>=1.96</m:t>
                        </m:r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B97727-76DB-37C9-026A-F3FEFB209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935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5CC6-F0EA-12B4-72C2-1E29281C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AA53-BE1D-FA9B-1665-CF7723AE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97E5-7DF8-9F05-D939-E721A9F4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FORMULA???</a:t>
            </a:r>
          </a:p>
        </p:txBody>
      </p:sp>
    </p:spTree>
    <p:extLst>
      <p:ext uri="{BB962C8B-B14F-4D97-AF65-F5344CB8AC3E}">
        <p14:creationId xmlns:p14="http://schemas.microsoft.com/office/powerpoint/2010/main" val="3506515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2D1A-E4D6-AF8A-7079-4CF63E95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B7C0-3A53-E4C5-D9FD-BB59534E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48300-989F-22C4-0DB0-88B0322C7A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formula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𝑆𝐸</m:t>
                    </m:r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IN" i="1"/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IN" dirty="0"/>
              </a:p>
              <a:p>
                <a:r>
                  <a:rPr lang="en-IN" dirty="0"/>
                  <a:t>Substitute the values: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48300-989F-22C4-0DB0-88B0322C7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05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7E58-4957-2F1B-3431-74AC48AC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8F87-3144-D333-3D01-171F9042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4FF4A0-D14B-56A0-63ED-B5B23CFC9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formula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𝑆𝐸</m:t>
                    </m:r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IN" i="1"/>
                                    </m:ctrlPr>
                                  </m:accPr>
                                  <m:e>
                                    <m:r>
                                      <a:rPr lang="en-IN" i="1"/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IN" i="1"/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IN" dirty="0"/>
              </a:p>
              <a:p>
                <a:r>
                  <a:rPr lang="en-IN" dirty="0"/>
                  <a:t>Substitute the values : SE≈0.02449​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4FF4A0-D14B-56A0-63ED-B5B23CFC9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94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E0C3-0E74-995D-D161-9180FBA9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E2D3-F81D-3BA5-F893-FFDCC172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D4B0-C297-B072-A159-B9C76FBEE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FORMULA?</a:t>
            </a:r>
          </a:p>
        </p:txBody>
      </p:sp>
    </p:spTree>
    <p:extLst>
      <p:ext uri="{BB962C8B-B14F-4D97-AF65-F5344CB8AC3E}">
        <p14:creationId xmlns:p14="http://schemas.microsoft.com/office/powerpoint/2010/main" val="2472517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7A9E-19AB-C6E8-4BCF-F3F66D2D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35EE-65E1-7EA1-D344-86E09763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77451-3267-110C-F769-A2F66BC202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formula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𝑀𝐸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∗</m:t>
                        </m:r>
                      </m:sup>
                    </m:sSup>
                    <m:r>
                      <a:rPr lang="en-IN"/>
                      <m:t>×</m:t>
                    </m:r>
                    <m:r>
                      <a:rPr lang="en-IN" i="1"/>
                      <m:t>𝑆𝐸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77451-3267-110C-F769-A2F66BC20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532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1223B-C543-866D-A8EC-2355F1DB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1E4C-D7D8-8E7D-DCCC-E82688EF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margin of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0830C-0B45-A230-8CA2-CB1D96403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formula is: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𝑀𝐸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𝑧</m:t>
                        </m:r>
                      </m:e>
                      <m:sup>
                        <m:r>
                          <a:rPr lang="en-IN"/>
                          <m:t>∗</m:t>
                        </m:r>
                      </m:sup>
                    </m:sSup>
                    <m:r>
                      <a:rPr lang="en-IN"/>
                      <m:t>×</m:t>
                    </m:r>
                    <m:r>
                      <a:rPr lang="en-IN" i="1"/>
                      <m:t>𝑆𝐸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Thus: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/>
                        </m:ctrlPr>
                      </m:borderBoxPr>
                      <m:e>
                        <m:r>
                          <a:rPr lang="en-IN" i="1"/>
                          <m:t>𝑀𝐸</m:t>
                        </m:r>
                        <m:r>
                          <a:rPr lang="en-IN"/>
                          <m:t>≈0.048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or approximately:</a:t>
                </a:r>
              </a:p>
              <a:p>
                <a:r>
                  <a:rPr lang="en-IN" dirty="0"/>
                  <a:t>4.8%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0830C-0B45-A230-8CA2-CB1D96403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751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D928-B2E4-3D56-F049-4BCEAABA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F393-D815-D2D9-FA3A-50045D5D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5F555-8F05-C19E-E94A-BBFF26211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FORMULA??</a:t>
            </a:r>
          </a:p>
        </p:txBody>
      </p:sp>
    </p:spTree>
    <p:extLst>
      <p:ext uri="{BB962C8B-B14F-4D97-AF65-F5344CB8AC3E}">
        <p14:creationId xmlns:p14="http://schemas.microsoft.com/office/powerpoint/2010/main" val="851301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962B-2E0B-A81E-B65F-9160C54E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6068-CAD2-774A-733C-85BB0881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8372E8-A8B0-62BA-6915-3FD126891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general formula is: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𝑝</m:t>
                        </m:r>
                      </m:e>
                    </m:acc>
                    <m:r>
                      <a:rPr lang="en-IN"/>
                      <m:t>±</m:t>
                    </m:r>
                    <m:r>
                      <a:rPr lang="en-IN" i="1"/>
                      <m:t>𝑀𝐸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8372E8-A8B0-62BA-6915-3FD126891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566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A72AF-8A0D-E9B0-5730-D597428E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F421-7CCD-BBB7-49BD-A72E1E72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639CB-DC07-6EB8-4849-3D4D9D060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Therefore: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0.552&lt;</m:t>
                        </m:r>
                        <m:r>
                          <a:rPr lang="en-IN" i="1"/>
                          <m:t>𝑝</m:t>
                        </m:r>
                        <m:r>
                          <a:rPr lang="en-IN"/>
                          <m:t>&lt;0.648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In percentage form:</a:t>
                </a:r>
              </a:p>
              <a:p>
                <a:r>
                  <a:rPr lang="en-IN" dirty="0"/>
                  <a:t>55.2%&lt;p&lt;64.8%​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639CB-DC07-6EB8-4849-3D4D9D060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455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9D29-F509-39EE-DF01-1C01F110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FB127-A692-7AF2-8912-BFBD7547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Om Prakash Singh wants to estimate the proportion of students who are satisfied with the SMIT college Mess. A random sample of 250 students is selected, and 175 students report that they are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satisfied.Construct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95% confidence interval for the true proportion of all students who are satisfied with the SMIT Mess.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121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389B-EE79-8065-D30E-D6C33938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F7C6F-2415-FB9D-888B-4AACD016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773B2-C8CB-76EC-B890-9AB8F9275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 In percentage form,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64.32%&lt;</m:t>
                        </m:r>
                        <m:r>
                          <a:rPr lang="en-IN" i="1"/>
                          <m:t>𝑝</m:t>
                        </m:r>
                        <m:r>
                          <a:rPr lang="en-IN"/>
                          <m:t>&lt;75.68%</m:t>
                        </m:r>
                      </m:e>
                    </m:borderBox>
                  </m:oMath>
                </a14:m>
                <a:endParaRPr lang="en-IN" dirty="0"/>
              </a:p>
              <a:p>
                <a:r>
                  <a:rPr lang="en-IN" b="1" dirty="0"/>
                  <a:t>Final Interpretation</a:t>
                </a:r>
              </a:p>
              <a:p>
                <a:r>
                  <a:rPr lang="en-IN" dirty="0"/>
                  <a:t>We are </a:t>
                </a:r>
                <a:r>
                  <a:rPr lang="en-IN" b="1" dirty="0"/>
                  <a:t>95% confident</a:t>
                </a:r>
                <a:r>
                  <a:rPr lang="en-IN" dirty="0"/>
                  <a:t> that the true proportion of all students who are satisfied with the school cafeteria is between </a:t>
                </a:r>
                <a:r>
                  <a:rPr lang="en-IN" b="1" dirty="0"/>
                  <a:t>64.32% and 75.68%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773B2-C8CB-76EC-B890-9AB8F9275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086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for listening and have a good day - Baby Yoda Meme Generator">
            <a:extLst>
              <a:ext uri="{FF2B5EF4-FFF2-40B4-BE49-F238E27FC236}">
                <a16:creationId xmlns:a16="http://schemas.microsoft.com/office/drawing/2014/main" id="{CC28620F-B5A7-ECFB-85A0-D6A39399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574" y="299803"/>
            <a:ext cx="8034728" cy="62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32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747</Words>
  <Application>Microsoft Office PowerPoint</Application>
  <PresentationFormat>Widescreen</PresentationFormat>
  <Paragraphs>122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Cambria Math</vt:lpstr>
      <vt:lpstr>Times New Roman</vt:lpstr>
      <vt:lpstr>Office Theme</vt:lpstr>
      <vt:lpstr>Confidence Intervals for Proportions</vt:lpstr>
      <vt:lpstr>What</vt:lpstr>
      <vt:lpstr>DEF.</vt:lpstr>
      <vt:lpstr>EXAMPLE</vt:lpstr>
      <vt:lpstr>PowerPoint Presentation</vt:lpstr>
      <vt:lpstr>PowerPoint Presentation</vt:lpstr>
      <vt:lpstr>PowerPoint Presentation</vt:lpstr>
      <vt:lpstr>Important note</vt:lpstr>
      <vt:lpstr>What Is a Confidence Interval?</vt:lpstr>
      <vt:lpstr>What Is a Confidence Interval?</vt:lpstr>
      <vt:lpstr>What Is a Confidence Interval?</vt:lpstr>
      <vt:lpstr>Confidence Interval Formula for a Proportion</vt:lpstr>
      <vt:lpstr>Confidence Interval Formula for a Proportion</vt:lpstr>
      <vt:lpstr>Confidence Interval Formula for a Proportion</vt:lpstr>
      <vt:lpstr>Common Confidence Levels</vt:lpstr>
      <vt:lpstr>Standard Error</vt:lpstr>
      <vt:lpstr>Margin of Error</vt:lpstr>
      <vt:lpstr>Margin of Error</vt:lpstr>
      <vt:lpstr>Example</vt:lpstr>
      <vt:lpstr>Calculate the sample proportion</vt:lpstr>
      <vt:lpstr>Calculate the sample proportion</vt:lpstr>
      <vt:lpstr>Find the critical value</vt:lpstr>
      <vt:lpstr>Find the critical value</vt:lpstr>
      <vt:lpstr>Calculate the standard error</vt:lpstr>
      <vt:lpstr>Calculate the standard error</vt:lpstr>
      <vt:lpstr>Calculate the standard error</vt:lpstr>
      <vt:lpstr>Calculate the margin of error</vt:lpstr>
      <vt:lpstr>Calculate the margin of error</vt:lpstr>
      <vt:lpstr>Calculate the margin of error</vt:lpstr>
      <vt:lpstr>Calculate the confidence interval</vt:lpstr>
      <vt:lpstr>Calculate the confidence interval</vt:lpstr>
      <vt:lpstr>Calculate the confidence interval</vt:lpstr>
      <vt:lpstr>Class work</vt:lpstr>
      <vt:lpstr>Class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30</cp:revision>
  <dcterms:created xsi:type="dcterms:W3CDTF">2026-08-30T14:51:45Z</dcterms:created>
  <dcterms:modified xsi:type="dcterms:W3CDTF">2026-08-30T15:22:23Z</dcterms:modified>
</cp:coreProperties>
</file>