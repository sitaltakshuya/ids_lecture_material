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12"/>
    <p:sldId id="266" r:id="rId13"/>
    <p:sldId id="267" r:id="rId14"/>
    <p:sldId id="268" r:id="rId15"/>
    <p:sldId id="285" r:id="rId16"/>
    <p:sldId id="286" r:id="rId17"/>
    <p:sldId id="287" r:id="rId18"/>
    <p:sldId id="288" r:id="rId19"/>
    <p:sldId id="269" r:id="rId20"/>
    <p:sldId id="270" r:id="rId21"/>
    <p:sldId id="271" r:id="rId22"/>
    <p:sldId id="272" r:id="rId23"/>
    <p:sldId id="273" r:id="rId24"/>
    <p:sldId id="274" r:id="rId25"/>
    <p:sldId id="28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8B03-D269-C466-9D81-4D6E6A244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26CCA-D8BF-415B-80BA-D06F40232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882E2-2D06-5BB6-740D-FD279FD3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B6421-4356-3B53-023A-4F251A26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7DE5-F499-CAB0-9A20-717A4770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1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7D3B-9B19-5B4E-23AE-077F739B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D436-92A7-12EF-62BA-CAAFD4BB1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402A-FD92-14F6-FD21-161A28D0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37F13-F80D-E036-2A66-27BE0AFC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FE849-C0CC-9A40-FBCE-B414B016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94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44AF-5A17-EF60-0C5E-FD63E62A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D58E1-CF96-6AFF-D0C2-BA941BD3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BB5D4-40BB-F34E-5156-3CDB3411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8AD94-F53A-754B-E102-F616474E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DC6D9-2E84-4BFC-4811-AC19E390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04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AF09-540C-067A-2FB3-9F8B5AFF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4A5B-06EF-02B9-EEC2-DA4A26D49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2DE5-9713-F77E-E341-D05D59CA9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BDDE8-EC73-1C30-3DCA-1042686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E169C-8FC8-09C8-C28F-57B3EB69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0B7D6-DEB5-DA31-7F43-2B8C159B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8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C3B6-4AF8-0A65-70B9-3BAA9072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FD100-0CD1-E457-6842-FEFB62250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9118F-44DF-E350-E443-4E8406038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5156A-925E-5065-8FDE-9EC579122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E4B8F-ABB0-D1C1-EC81-1A184A46E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018A6-1345-604E-2A61-E28756B0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8D507-A000-226A-2024-C6D2234C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D92FA-270A-784A-B49B-2950FE55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8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C0C4-E760-0EB3-F809-D105B195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49766-6111-C1B8-803A-45774661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486C2-C9D6-1FA6-E107-62863ABD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BBD0C-D3C2-BDD1-FDF1-041388D1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11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2E77C-A9C9-1AD5-9A12-CAA05B05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6185D-9D0C-6E3D-A479-3AAF55FA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3E655-3A82-BC9F-51C8-758C939E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3753-29A9-5426-3F27-10533690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0CAC6-85F5-DC48-60CD-061E7B52F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621A9-B0E9-5A14-E9BE-F3DE2340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A0997-38BE-099F-495A-AA5860C3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1490B-E7C8-6228-AE93-1B3DF99E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43DF2-42A5-756A-18DA-F86F8788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5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5A4E-EF48-A7CD-E9A7-FDA7CA79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623BA-CE75-7431-C653-247FEC661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64B3E-8C22-7D1E-AAA7-6B8B336FF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64A29-8234-59F7-2B6B-C44C7C6F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1240E-F67E-B8F6-6A79-0ECD0625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85748-542D-3D49-F929-2E91A8F9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4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1000-D298-766F-6F95-45E2C03F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163AB-FF16-226F-68AB-0187DC4E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E96EF-16AD-74B2-9C34-0D427E9E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4BD9-E8BE-2A2A-1432-B75F4342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934B-E980-BBC0-2F63-A9A87CB1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62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4716A-6C81-EAE9-4239-AF36B24AB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1C4D1-5FAE-6350-1EC0-4AC3F94D0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A7DB-8DCF-4EF7-ACEE-535FF4C5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51BE-26FA-AB2B-0149-7E29E450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9E8E3-DB57-C233-D489-B0B2714D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62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92CE-6F1D-FDA4-EBDB-F06CABC6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1D748-E43A-56B8-AE84-CD95DE785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0D15C-AED4-159D-3CB8-0FC3D1B7A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98208-ACBB-452D-96D7-968326A58419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C7565-9F4E-81F1-B368-CBAAEA940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BBF11-6FFF-A636-C5B3-30D1DD0AF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9425-D074-4B67-BFD6-00D9A0470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81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96B8-F87F-B9C2-4FA8-1E86B13CCA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Confidence Interval for the Mean</a:t>
            </a:r>
          </a:p>
        </p:txBody>
      </p:sp>
    </p:spTree>
    <p:extLst>
      <p:ext uri="{BB962C8B-B14F-4D97-AF65-F5344CB8AC3E}">
        <p14:creationId xmlns:p14="http://schemas.microsoft.com/office/powerpoint/2010/main" val="221021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76AD-7C24-0C93-C336-B3735738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A9E1-C155-29E0-1BBB-D596AF5B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0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81FB-1EE2-335B-3F6E-F51B590E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Formal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A1F52-F993-5A14-AAC0-D7BA05751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</a:t>
                </a:r>
                <a:r>
                  <a:rPr lang="en-IN" b="1" dirty="0"/>
                  <a:t>confidence interval for the mean</a:t>
                </a:r>
                <a:r>
                  <a:rPr lang="en-IN" dirty="0"/>
                  <a:t> is a range of values that we use to estimate the </a:t>
                </a:r>
                <a:r>
                  <a:rPr lang="en-IN" b="1" dirty="0"/>
                  <a:t>unknown population mean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A1F52-F993-5A14-AAC0-D7BA05751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25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E70D-37BB-45C0-4636-2A80F7AC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a Confidence Interval?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F29DF-A3E6-B0B2-6E25-5E55C98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87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C57-7026-D4C3-8330-B632AD92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"95% Confidence"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53BB-B9EF-7327-0FC5-51F261D2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97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D4DF-EF7F-60E2-DC6C-EB337AC7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8492-287A-11C5-C80D-744F63210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confidence interval has the same basic form:</a:t>
            </a:r>
          </a:p>
          <a:p>
            <a:r>
              <a:rPr lang="en-IN" dirty="0"/>
              <a:t>Confidence Interval= </a:t>
            </a:r>
            <a:r>
              <a:rPr lang="en-IN" b="1" dirty="0" err="1"/>
              <a:t>Estimate±Margin</a:t>
            </a:r>
            <a:r>
              <a:rPr lang="en-IN" b="1" dirty="0"/>
              <a:t> of Error​</a:t>
            </a:r>
          </a:p>
          <a:p>
            <a:r>
              <a:rPr lang="en-IN" dirty="0"/>
              <a:t>For estimating a population mean:</a:t>
            </a:r>
          </a:p>
          <a:p>
            <a:r>
              <a:rPr lang="en-IN" b="1" dirty="0"/>
              <a:t>CI=Xˉ±Margin of Error​</a:t>
            </a:r>
          </a:p>
        </p:txBody>
      </p:sp>
    </p:spTree>
    <p:extLst>
      <p:ext uri="{BB962C8B-B14F-4D97-AF65-F5344CB8AC3E}">
        <p14:creationId xmlns:p14="http://schemas.microsoft.com/office/powerpoint/2010/main" val="37155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72AF-CDAC-BCD3-77DA-1981F032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Main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F94287-F8D4-6250-FD7F-CC972F100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dirty="0"/>
                  <a:t>is known</a:t>
                </a:r>
              </a:p>
              <a:p>
                <a:r>
                  <a:rPr lang="en-IN" b="1" dirty="0"/>
                  <a:t>Case 1: 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b="1" dirty="0"/>
                  <a:t> is known</a:t>
                </a:r>
              </a:p>
              <a:p>
                <a:r>
                  <a:rPr lang="en-IN" dirty="0"/>
                  <a:t>Use the </a:t>
                </a:r>
                <a:r>
                  <a:rPr lang="en-IN" b="1" dirty="0"/>
                  <a:t>Z-distribution</a:t>
                </a:r>
                <a:r>
                  <a:rPr lang="en-IN" dirty="0"/>
                  <a:t>.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𝑧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</m:t>
                            </m:r>
                          </m:sub>
                        </m:sSub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i="1"/>
                                </m:ctrlPr>
                              </m:radPr>
                              <m:deg/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F94287-F8D4-6250-FD7F-CC972F100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68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B62A-B731-B80D-35E4-AF9EBBDB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B9D7-0334-2AB2-EC10-38CEA76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Main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7357C-5961-184E-FBA4-962C4442A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Case 2: 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b="1" dirty="0"/>
                  <a:t>is unknown</a:t>
                </a:r>
              </a:p>
              <a:p>
                <a:r>
                  <a:rPr lang="en-IN" dirty="0"/>
                  <a:t>Use the </a:t>
                </a:r>
                <a:r>
                  <a:rPr lang="en-IN" b="1" dirty="0"/>
                  <a:t>t-distribution</a:t>
                </a:r>
                <a:r>
                  <a:rPr lang="en-IN" dirty="0"/>
                  <a:t>.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𝑡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/2,</m:t>
                            </m:r>
                            <m:r>
                              <a:rPr lang="en-IN" i="1"/>
                              <m:t>𝑛</m:t>
                            </m:r>
                            <m:r>
                              <a:rPr lang="en-IN"/>
                              <m:t>−1</m:t>
                            </m:r>
                          </m:sub>
                        </m:sSub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i="1"/>
                                </m:ctrlPr>
                              </m:radPr>
                              <m:deg/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/>
                      <m:t>𝑠</m:t>
                    </m:r>
                  </m:oMath>
                </a14:m>
                <a:r>
                  <a:rPr lang="en-IN" dirty="0"/>
                  <a:t> is the sample standard deviation.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7357C-5961-184E-FBA4-962C4442A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568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7106-8A4C-CB14-94D6-521254B6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2D065-1E32-E406-F3A9-782F61757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Population Standard Deviation is Known:</a:t>
                </a:r>
              </a:p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=?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  <m:r>
                      <a:rPr lang="en-IN"/>
                      <m:t>=10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  <m:r>
                      <a:rPr lang="en-IN"/>
                      <m:t>=100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Find the </a:t>
                </a:r>
                <a:r>
                  <a:rPr lang="en-IN" b="1" dirty="0"/>
                  <a:t>95% confidence interval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2D065-1E32-E406-F3A9-782F61757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4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8FDE-940C-53A1-76EA-64A32647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Critical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78D38-6FB9-4AA1-E613-B4BC6D87D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95% confidence level: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𝑧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</m:t>
                            </m:r>
                          </m:sub>
                        </m:sSub>
                        <m:r>
                          <a:rPr lang="en-IN"/>
                          <m:t>=1.96</m:t>
                        </m:r>
                      </m:e>
                    </m:borderBox>
                  </m:oMath>
                </a14:m>
                <a:r>
                  <a:rPr lang="en-IN" dirty="0"/>
                  <a:t> = 1−0.025=0.975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78D38-6FB9-4AA1-E613-B4BC6D87D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6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Z-Score Table">
            <a:extLst>
              <a:ext uri="{FF2B5EF4-FFF2-40B4-BE49-F238E27FC236}">
                <a16:creationId xmlns:a16="http://schemas.microsoft.com/office/drawing/2014/main" id="{D90CE091-C77E-B03A-9ECB-303601DE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39" y="1153540"/>
            <a:ext cx="74009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6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EAC8-1791-AFA2-32B9-B96876DC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D074-8AD7-5643-7D9D-3616D078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Critical Value and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3D05E-78A1-5EDC-E93F-25EFDC14D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95% confidence level: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𝑧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</m:t>
                            </m:r>
                          </m:sub>
                        </m:sSub>
                        <m:r>
                          <a:rPr lang="en-IN"/>
                          <m:t>=1.96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Calculate the standard error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𝑆𝐸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r>
                              <a:rPr lang="en-IN" i="1"/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b="1" dirty="0"/>
              </a:p>
              <a:p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3D05E-78A1-5EDC-E93F-25EFDC14D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66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4FF3-FEEB-8B2D-0CA9-965F719A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for 95%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4EA1-EE27-C163-FB5B-26A90FAA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ANS:?</a:t>
            </a:r>
          </a:p>
        </p:txBody>
      </p:sp>
    </p:spTree>
    <p:extLst>
      <p:ext uri="{BB962C8B-B14F-4D97-AF65-F5344CB8AC3E}">
        <p14:creationId xmlns:p14="http://schemas.microsoft.com/office/powerpoint/2010/main" val="2966359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2B41-F74A-FAAC-86B4-2F2AE13D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7C78-9460-DD40-DAEB-CC3903BC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for 95%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2BA00-3766-C17B-4C25-54758CAC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ANS: 48.04 to 51.96</a:t>
            </a:r>
          </a:p>
        </p:txBody>
      </p:sp>
    </p:spTree>
    <p:extLst>
      <p:ext uri="{BB962C8B-B14F-4D97-AF65-F5344CB8AC3E}">
        <p14:creationId xmlns:p14="http://schemas.microsoft.com/office/powerpoint/2010/main" val="125060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2EEF7-BD93-198C-7725-7988DCD3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ED6D-6086-7154-6584-44607AAF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7935-C476-4F34-4AE4-1A41518A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margin of error</a:t>
            </a:r>
            <a:r>
              <a:rPr lang="en-IN" dirty="0"/>
              <a:t> is:</a:t>
            </a:r>
          </a:p>
          <a:p>
            <a:r>
              <a:rPr lang="en-IN" dirty="0"/>
              <a:t>ME=</a:t>
            </a:r>
            <a:r>
              <a:rPr lang="en-IN" dirty="0" err="1"/>
              <a:t>t×SE</a:t>
            </a:r>
            <a:r>
              <a:rPr lang="en-IN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1740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ABB9-AA6D-5014-CE17-C1C420E5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84B5-E1A9-740D-29BE-2B50891D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EA322-635D-B43F-B631-646A1886C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Now we finally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𝐶𝐼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𝑀𝐸</m:t>
                        </m:r>
                      </m:e>
                    </m:borderBox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EA322-635D-B43F-B631-646A1886C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264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AD9F-ECCD-79CD-1288-FDF2CDF2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8EB0-B66A-1A2A-36D5-8940E6FD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1BB7-E6D6-2725-FA60-5FCB336D8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Now we finally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𝐶𝐼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𝑀𝐸</m:t>
                        </m:r>
                      </m:e>
                    </m:borderBox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1BB7-E6D6-2725-FA60-5FCB336D8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166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0862F-BF13-2B27-623A-39054C54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E613-8CB7-E7F0-B2CC-82F31F16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6CC77-A7B3-4B0D-ED20-F389572D14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IN" dirty="0"/>
                  <a:t>Now we finally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𝐶𝐼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mtClean="0"/>
                          <m:t>Therefore, the 95% confidence interval for the population mean is: 45.872&lt;μ&lt;54.128​</m:t>
                        </m:r>
                        <m:r>
                          <a:rPr lang="en-IN" i="1"/>
                          <m:t>𝐸</m:t>
                        </m:r>
                      </m:e>
                    </m:borderBox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6CC77-A7B3-4B0D-ED20-F389572D1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360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518B-672B-7355-FB39-197147D2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S.D (p) is Unknown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2400-4ECC-8A68-5AA0-A60DAB385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random sample of 25 students has a mean test score of 50 and a sample standard deviation of 10.</a:t>
            </a:r>
          </a:p>
          <a:p>
            <a:r>
              <a:rPr lang="en-IN" dirty="0"/>
              <a:t>Find the 95% confidence interval for the population mean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069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6D8B-AF66-1EA6-E8B6-0CD6DC60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Given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A7C6F-5ADC-84C1-1353-11C1CFAF9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n=25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𝑠</m:t>
                    </m:r>
                    <m:r>
                      <a:rPr lang="en-IN"/>
                      <m:t>=10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Confidence level: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95%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want:</a:t>
                </a:r>
              </a:p>
              <a:p>
                <a:r>
                  <a:rPr lang="en-IN" dirty="0"/>
                  <a:t>Confidence Interval for μ​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A7C6F-5ADC-84C1-1353-11C1CFAF9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568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4106-EBB7-B94B-0F78-C876CE2E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D38D-C564-BBE4-F723-09956BBA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7B519F-8945-594F-7F8C-C1DE25D1C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dirty="0"/>
                  <a:t>is unknown, the confidence interval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𝑡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/2,</m:t>
                            </m:r>
                            <m:r>
                              <m:rPr>
                                <m:nor/>
                              </m:rPr>
                              <a:rPr lang="en-IN"/>
                              <m:t> </m:t>
                            </m:r>
                            <m:r>
                              <a:rPr lang="en-IN" i="1"/>
                              <m:t>𝑛</m:t>
                            </m:r>
                            <m:r>
                              <a:rPr lang="en-IN"/>
                              <m:t>−1</m:t>
                            </m:r>
                          </m:sub>
                        </m:sSub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i="1"/>
                                </m:ctrlPr>
                              </m:radPr>
                              <m:deg/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7B519F-8945-594F-7F8C-C1DE25D1C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9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C0B9-33F5-F800-2641-B65BB2D5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degrees of freedom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AF11-470A-A3F2-3E71-B61C5A06E3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formula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𝑑𝑓</m:t>
                        </m:r>
                        <m:r>
                          <a:rPr lang="en-IN"/>
                          <m:t>=</m:t>
                        </m:r>
                        <m:r>
                          <a:rPr lang="en-IN" i="1"/>
                          <m:t>𝑛</m:t>
                        </m:r>
                        <m:r>
                          <a:rPr lang="en-IN"/>
                          <m:t>−1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Our sample size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  <m:r>
                      <a:rPr lang="en-IN"/>
                      <m:t>=25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𝑑𝑓</m:t>
                    </m:r>
                    <m:r>
                      <a:rPr lang="en-IN"/>
                      <m:t>=25−1</m:t>
                    </m:r>
                  </m:oMath>
                </a14:m>
                <a:endParaRPr lang="en-IN" dirty="0"/>
              </a:p>
              <a:p>
                <a:r>
                  <a:rPr lang="en-IN" dirty="0" err="1"/>
                  <a:t>df</a:t>
                </a:r>
                <a:r>
                  <a:rPr lang="en-IN" dirty="0"/>
                  <a:t>=24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3AF11-470A-A3F2-3E71-B61C5A06E3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257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A276-A880-6098-5CAE-E408763F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785E-A975-9036-C763-AFEE87FC4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dirty="0"/>
                  <a:t>The confidence level is: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95%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Convert it to decimal: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95%=0.95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 total area outside the confidence interval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𝛼</m:t>
                    </m:r>
                    <m:r>
                      <a:rPr lang="en-IN"/>
                      <m:t>=1−</m:t>
                    </m:r>
                    <m:r>
                      <m:rPr>
                        <m:nor/>
                      </m:rPr>
                      <a:rPr lang="en-IN"/>
                      <m:t>Confidence Level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𝛼</m:t>
                    </m:r>
                    <m:r>
                      <a:rPr lang="en-IN"/>
                      <m:t>=1−0.95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α=0.05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785E-A975-9036-C763-AFEE87FC4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718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8BA2-B189-82F0-7C1B-135520D2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t-value from the t-table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DEE01-971B-A467-DA1B-CCE68F8644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Degrees of freedom: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𝑑𝑓</m:t>
                        </m:r>
                        <m:r>
                          <a:rPr lang="en-IN"/>
                          <m:t>=24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Tail probability:</a:t>
                </a:r>
              </a:p>
              <a:p>
                <a:r>
                  <a:rPr lang="en-IN" dirty="0"/>
                  <a:t>The value is: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/2,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2.064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𝑡</m:t>
                            </m:r>
                          </m:e>
                          <m:sub>
                            <m:r>
                              <a:rPr lang="en-IN"/>
                              <m:t>0.025,24</m:t>
                            </m:r>
                          </m:sub>
                        </m:sSub>
                        <m:r>
                          <a:rPr lang="en-IN"/>
                          <m:t>=2.064</m:t>
                        </m:r>
                      </m:e>
                    </m:borderBox>
                  </m:oMath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DEE01-971B-A467-DA1B-CCE68F864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903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perdisco.com/resources/html/statsTables/tTable-stat301.png">
            <a:extLst>
              <a:ext uri="{FF2B5EF4-FFF2-40B4-BE49-F238E27FC236}">
                <a16:creationId xmlns:a16="http://schemas.microsoft.com/office/drawing/2014/main" id="{9284F502-8026-7E4F-6050-AE758889C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7" y="374754"/>
            <a:ext cx="10343212" cy="648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2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56A6-A572-8090-04CE-01EB1D09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657332-FA86-9753-BDC6-545FE5749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Since the population standard deviation is unknown, we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𝑆𝐸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i="1"/>
                                </m:ctrlPr>
                              </m:radPr>
                              <m:deg/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657332-FA86-9753-BDC6-545FE5749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224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0A81-9862-1A8C-7D13-07F19807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339D-91AC-C399-BECD-845C389E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77530-CA18-73B7-4F80-6BDC49996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Since the population standard deviation is unknown, we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𝑆𝐸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i="1"/>
                                </m:ctrlPr>
                              </m:radPr>
                              <m:deg/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𝑆𝐸</m:t>
                        </m:r>
                        <m:r>
                          <a:rPr lang="en-IN"/>
                          <m:t>=2</m:t>
                        </m:r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77530-CA18-73B7-4F80-6BDC49996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688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C883-7DC1-085F-D979-E3AC8187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E51B-32A3-4B88-FDCE-F9742057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7B0C3-8678-474A-C1E2-333115DF7E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margin of error</a:t>
                </a:r>
                <a:r>
                  <a:rPr lang="en-IN" dirty="0"/>
                  <a:t>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𝑀𝐸</m:t>
                        </m:r>
                        <m:r>
                          <a:rPr lang="en-IN"/>
                          <m:t>=</m:t>
                        </m:r>
                        <m:r>
                          <a:rPr lang="en-IN" i="1"/>
                          <m:t>𝑡</m:t>
                        </m:r>
                        <m:r>
                          <a:rPr lang="en-IN"/>
                          <m:t>×</m:t>
                        </m:r>
                        <m:r>
                          <a:rPr lang="en-IN" i="1"/>
                          <m:t>𝑆𝐸</m:t>
                        </m:r>
                      </m:e>
                    </m:borderBox>
                  </m:oMath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7B0C3-8678-474A-C1E2-333115DF7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200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A92D-DB70-7236-AC3F-7C732E80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6EC8-76A1-219C-4DF7-B7E1CE20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5C147-6802-B7BC-1C7B-0535E5A14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margin of error</a:t>
                </a:r>
                <a:r>
                  <a:rPr lang="en-IN" dirty="0"/>
                  <a:t>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𝑀𝐸</m:t>
                        </m:r>
                        <m:r>
                          <a:rPr lang="en-IN"/>
                          <m:t>=</m:t>
                        </m:r>
                        <m:r>
                          <a:rPr lang="en-IN" i="1"/>
                          <m:t>𝑡</m:t>
                        </m:r>
                        <m:r>
                          <a:rPr lang="en-IN"/>
                          <m:t>×</m:t>
                        </m:r>
                        <m:r>
                          <a:rPr lang="en-IN" i="1"/>
                          <m:t>𝑆𝐸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4.128​</a:t>
                </a:r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5C147-6802-B7BC-1C7B-0535E5A14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519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76B6-3C3B-BEE1-EEE9-4325B0C9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66CBD-C12D-5F14-DD06-0C005A440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Now we finally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𝐶𝐼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𝑀𝐸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Our sample mean is: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=50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 our margin of error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𝑀𝐸</m:t>
                    </m:r>
                    <m:r>
                      <a:rPr lang="en-IN"/>
                      <m:t>=4.128.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/>
                  <a:t>CI= 50±4.128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66CBD-C12D-5F14-DD06-0C005A440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743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C518-FB1C-BE4F-1F02-6BD9B5945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6674-5D44-7D5D-DBA3-BF563FFE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8AF8C9-C76B-2C17-8A14-2930683FA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Now we finally use: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𝐶𝐼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𝑀𝐸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Our sample mean is: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=50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 our margin of error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𝑀𝐸</m:t>
                    </m:r>
                    <m:r>
                      <a:rPr lang="en-IN"/>
                      <m:t>=4.128.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/>
                  <a:t>CI= 50±4.128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8AF8C9-C76B-2C17-8A14-2930683FA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412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C245-1AF2-6E5F-2C15-C108EDEF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Excercise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C6BA-EBB6-3C4B-D6C2-43CC7C563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random sample of </a:t>
            </a:r>
            <a:r>
              <a:rPr lang="en-IN" b="1" dirty="0"/>
              <a:t>25 students</a:t>
            </a:r>
            <a:r>
              <a:rPr lang="en-IN" dirty="0"/>
              <a:t> has a mean score of </a:t>
            </a:r>
            <a:r>
              <a:rPr lang="en-IN" b="1" dirty="0"/>
              <a:t>50</a:t>
            </a:r>
            <a:r>
              <a:rPr lang="en-IN" dirty="0"/>
              <a:t> and a sample standard deviation of </a:t>
            </a:r>
            <a:r>
              <a:rPr lang="en-IN" b="1" dirty="0"/>
              <a:t>10</a:t>
            </a:r>
            <a:r>
              <a:rPr lang="en-IN" dirty="0"/>
              <a:t>.</a:t>
            </a:r>
          </a:p>
          <a:p>
            <a:r>
              <a:rPr lang="en-IN" dirty="0"/>
              <a:t>Find the </a:t>
            </a:r>
            <a:r>
              <a:rPr lang="en-IN" b="1" dirty="0"/>
              <a:t>95% confidence interval for the population mean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145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71E0-139F-9EE6-23D6-B40FFE31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0138-7F26-6CBF-D8DD-BE2D40C5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Excercise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5184-7885-4F60-139E-CD5B30BD0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random sample of </a:t>
            </a:r>
            <a:r>
              <a:rPr lang="en-IN" b="1" dirty="0"/>
              <a:t>25 students</a:t>
            </a:r>
            <a:r>
              <a:rPr lang="en-IN" dirty="0"/>
              <a:t> has a mean score of </a:t>
            </a:r>
            <a:r>
              <a:rPr lang="en-IN" b="1" dirty="0"/>
              <a:t>50</a:t>
            </a:r>
            <a:r>
              <a:rPr lang="en-IN" dirty="0"/>
              <a:t> and a sample standard deviation of </a:t>
            </a:r>
            <a:r>
              <a:rPr lang="en-IN" b="1" dirty="0"/>
              <a:t>10</a:t>
            </a:r>
            <a:r>
              <a:rPr lang="en-IN" dirty="0"/>
              <a:t>.</a:t>
            </a:r>
          </a:p>
          <a:p>
            <a:r>
              <a:rPr lang="en-IN" dirty="0"/>
              <a:t>Find the </a:t>
            </a:r>
            <a:r>
              <a:rPr lang="en-IN" b="1" dirty="0"/>
              <a:t>95% confidence interval for the population mean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FFFF00"/>
                </a:highlight>
              </a:rPr>
              <a:t>50±4.128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23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609</Words>
  <Application>Microsoft Office PowerPoint</Application>
  <PresentationFormat>Widescreen</PresentationFormat>
  <Paragraphs>139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Confidence Interval for the Mean</vt:lpstr>
      <vt:lpstr>Meaning</vt:lpstr>
      <vt:lpstr>Formal Definition</vt:lpstr>
      <vt:lpstr>Why do we need a Confidence Interval?</vt:lpstr>
      <vt:lpstr>What does "95% Confidence" mean?</vt:lpstr>
      <vt:lpstr>Basic Structure</vt:lpstr>
      <vt:lpstr>Two Main Cases</vt:lpstr>
      <vt:lpstr>Two Main Cases</vt:lpstr>
      <vt:lpstr>Example</vt:lpstr>
      <vt:lpstr>Critical Value</vt:lpstr>
      <vt:lpstr>PowerPoint Presentation</vt:lpstr>
      <vt:lpstr>Critical Value and Standard Error</vt:lpstr>
      <vt:lpstr>Calculate for 95% CI</vt:lpstr>
      <vt:lpstr>Calculate for 95% CI</vt:lpstr>
      <vt:lpstr>Calculate the Margin of Error</vt:lpstr>
      <vt:lpstr>Build the Confidence Interval</vt:lpstr>
      <vt:lpstr>Build the Confidence Interval</vt:lpstr>
      <vt:lpstr>Final Answer</vt:lpstr>
      <vt:lpstr>S.D (p) is Unknown</vt:lpstr>
      <vt:lpstr>Given</vt:lpstr>
      <vt:lpstr>Method</vt:lpstr>
      <vt:lpstr>Find the degrees of freedom</vt:lpstr>
      <vt:lpstr>Find α</vt:lpstr>
      <vt:lpstr>Find the t-value from the t-table</vt:lpstr>
      <vt:lpstr>PowerPoint Presentation</vt:lpstr>
      <vt:lpstr>Calculate the Standard Error</vt:lpstr>
      <vt:lpstr>Calculate the Standard Error</vt:lpstr>
      <vt:lpstr>Calculate the Margin of Error</vt:lpstr>
      <vt:lpstr>Calculate the Margin of Error</vt:lpstr>
      <vt:lpstr>Build the Confidence Interval</vt:lpstr>
      <vt:lpstr>Build the Confidence Interval</vt:lpstr>
      <vt:lpstr>Excercise</vt:lpstr>
      <vt:lpstr>Excercise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25</cp:revision>
  <dcterms:created xsi:type="dcterms:W3CDTF">2026-08-26T07:48:36Z</dcterms:created>
  <dcterms:modified xsi:type="dcterms:W3CDTF">2026-08-26T08:46:34Z</dcterms:modified>
</cp:coreProperties>
</file>