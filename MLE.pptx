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416D9-0498-DC2E-9D04-DDA9DB889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A7B99-4727-EDA3-9433-86EFAD048E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535A7-DCC5-24BD-3370-9C5B8A7FF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8535-27A1-48F0-AF47-D05CA452C57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1841B-6327-84E3-B6BC-D29D7014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5CB14-5CE1-A040-A1C2-2A4530318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CCC9-D4D4-4B8E-B98E-C6AA74366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74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4CD07-DE26-7028-294F-4D0C388A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C6CAE-817E-FC1D-43E0-B6EC11494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C7008-B3FF-C137-9216-3C7ACFA34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8535-27A1-48F0-AF47-D05CA452C57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D39CE-F1C5-AC58-3051-C794ED774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1A67F-03A9-7201-AB02-DB26BE713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CCC9-D4D4-4B8E-B98E-C6AA74366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71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AEC5D-3638-6187-8835-027EADCED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3C4E4-2B57-6545-53A1-07CD4E677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B574B-9047-622B-8B8A-D1F550D3D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8535-27A1-48F0-AF47-D05CA452C57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29383-375E-3D88-0E36-A5FE64CB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EDCF8-941C-C124-F6AA-E47BA535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CCC9-D4D4-4B8E-B98E-C6AA74366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74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75D3-1263-17E7-B59C-5056F326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11AAA-A2BA-0EAB-9149-DE0FF844D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22ACE-6436-1084-A76E-237D862BD9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30322-C338-846F-BF67-10340CC65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8535-27A1-48F0-AF47-D05CA452C57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EBBC55-9C58-1CEC-2B16-77C12D749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E760C-D0A5-8F34-325B-2EB94029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CCC9-D4D4-4B8E-B98E-C6AA74366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015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121F7-F8E5-D793-DCEC-33870F634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66C39-41FA-BDE1-BEC6-BB93B40EE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2D4AF1-BC0B-834B-733C-6D681AD7D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4F31B9-1870-E12A-5CFF-00D6697A8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4D53A-9680-3A1A-CFC2-21EDA78B2A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44D29-D512-4E04-D106-99BC54F3A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8535-27A1-48F0-AF47-D05CA452C57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75690F-18BF-C35F-2999-9DF5AD17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9A58D-BF1A-8E3A-BEBD-30D113C4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CCC9-D4D4-4B8E-B98E-C6AA74366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62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CE0B-C88F-6E9E-A48E-41D34C74B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FDB123-EC60-84C3-EF29-8A5A352FE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8535-27A1-48F0-AF47-D05CA452C57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73735-266D-C7AF-9EB5-D75D2CB97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FDE25-3B92-3F05-33B6-3C27204D9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CCC9-D4D4-4B8E-B98E-C6AA74366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427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91668-6472-4804-E69A-F77FD4BD2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8535-27A1-48F0-AF47-D05CA452C57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25277-C891-ED31-E0E3-A123C1DC2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BA706-D0F7-DD96-CC1B-02B474D54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CCC9-D4D4-4B8E-B98E-C6AA74366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028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B4EA-AB20-7EF9-D46A-EF315A8D9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57619-607D-DE01-48F9-199CEA1C7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0DEEEB-F25F-0DDA-55B2-0A22F0A61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6FB991-6E2D-FD3B-55D2-DA80887B8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8535-27A1-48F0-AF47-D05CA452C57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79DB07-C4BE-37FB-CC73-6135F155D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090D6-91EF-F670-923A-00A73BAE5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CCC9-D4D4-4B8E-B98E-C6AA74366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04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19361-0CE4-D478-06B4-466836271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FC1F7D-4B92-18DB-8D08-986D3C662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77F5E2-40D2-D6B1-F5DF-7F94FF6A8F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0B54A-CE73-3A64-691C-E8DF2B553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8535-27A1-48F0-AF47-D05CA452C57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088A4-EF6D-9633-6E9C-6D3FD2DE8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4F74D-C04E-4760-77D1-A26F914A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CCC9-D4D4-4B8E-B98E-C6AA74366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51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78CC-BFC5-CF36-F9F1-EFE420028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6559F-91AB-621E-CDB7-B4A79ECC4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FFBB6-659B-9080-7972-00EE00665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8535-27A1-48F0-AF47-D05CA452C57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2D8F4-53A5-8B7F-23D1-DFA54053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904D8-EDA3-BAD0-A34F-CFF099D57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CCC9-D4D4-4B8E-B98E-C6AA74366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765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87BC1-726F-C9EF-4A0C-A977AA2143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9B36FC-C7D4-179E-3886-992DE0868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31B44-0696-06CB-D503-B1FAE15FC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38535-27A1-48F0-AF47-D05CA452C57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C8E48-14B4-F8FC-C26C-A2D1831AF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ABB18-491C-AD50-C160-A8B6DDA64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2CCC9-D4D4-4B8E-B98E-C6AA74366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939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F572AA-ADDF-FB83-7672-EAAF2D1B6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4C6F9-2BA7-F3AA-3C77-AF7546847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68F3-A216-6361-072E-DA275EC9C4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F38535-27A1-48F0-AF47-D05CA452C575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D79B7-2C21-54DB-E2A9-4D68E0DEB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69E98-390C-BC5E-B924-03F2518011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B2CCC9-D4D4-4B8E-B98E-C6AA743665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893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file:///\\ln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file:///\\ln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file:///\\ln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file:///\\ln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file:///\\ln" TargetMode="Externa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9EF66-EFA7-EA88-FE2D-A160341BE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19016" cy="2595198"/>
          </a:xfrm>
        </p:spPr>
        <p:txBody>
          <a:bodyPr/>
          <a:lstStyle/>
          <a:p>
            <a:r>
              <a:rPr lang="en-IN" dirty="0"/>
              <a:t>Maximum Likelihood Estimation (MLE)</a:t>
            </a:r>
          </a:p>
        </p:txBody>
      </p:sp>
    </p:spTree>
    <p:extLst>
      <p:ext uri="{BB962C8B-B14F-4D97-AF65-F5344CB8AC3E}">
        <p14:creationId xmlns:p14="http://schemas.microsoft.com/office/powerpoint/2010/main" val="3902251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5980C-A6DD-26D4-9155-5AE8F8249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C4139-B731-685E-984A-20B1702B5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Likelihood Estimation (MLE) is a statistical method used to estimate the unknown parameters of a probability distribution by finding the parameter values that make the observed data most likely to occur.</a:t>
            </a:r>
          </a:p>
        </p:txBody>
      </p:sp>
    </p:spTree>
    <p:extLst>
      <p:ext uri="{BB962C8B-B14F-4D97-AF65-F5344CB8AC3E}">
        <p14:creationId xmlns:p14="http://schemas.microsoft.com/office/powerpoint/2010/main" val="1372927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99D79-DECD-A722-8CEA-8D66D8AA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D5CE-301F-C2DD-7B78-341AE39F4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EC09D-1027-4693-83B3-42DBBAFDE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Likelihood Estimation (MLE) is a statistical method used to estimate the unknown parameters of a probability distribution by finding the parameter values that make the observed data most likely to occur.</a:t>
            </a:r>
          </a:p>
          <a:p>
            <a:pPr algn="just"/>
            <a:r>
              <a:rPr lang="en-IN" b="1" dirty="0"/>
              <a:t>MLE finds the parameter value that gives the highest probability (likelihood) of obtaining the observed data.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031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DB80-D8AA-E855-4902-A73EDBBD3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E.G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E9ABB-8991-8204-5B70-D002660CD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we toss a coin 10 times and observe:</a:t>
            </a:r>
          </a:p>
          <a:p>
            <a:pPr lvl="1"/>
            <a:r>
              <a:rPr lang="en-IN" b="1" dirty="0"/>
              <a:t>Heads = 7 </a:t>
            </a:r>
          </a:p>
          <a:p>
            <a:pPr lvl="1"/>
            <a:r>
              <a:rPr lang="en-IN" b="1" dirty="0"/>
              <a:t>Tails = 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308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81D63-01CD-8620-6F37-F1742236E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9C87-3452-DA65-B374-5444DA66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E.G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65832-E184-FD33-BE41-EF633ACA7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we toss a coin 10 times and observe:</a:t>
            </a:r>
          </a:p>
          <a:p>
            <a:pPr lvl="1"/>
            <a:r>
              <a:rPr lang="en-IN" b="1" dirty="0"/>
              <a:t>Heads = 7 </a:t>
            </a:r>
          </a:p>
          <a:p>
            <a:pPr lvl="1"/>
            <a:r>
              <a:rPr lang="en-IN" b="1" dirty="0"/>
              <a:t>Tails = 3</a:t>
            </a:r>
          </a:p>
          <a:p>
            <a:pPr lvl="1"/>
            <a:endParaRPr lang="en-IN" b="1" dirty="0"/>
          </a:p>
          <a:p>
            <a:r>
              <a:rPr lang="en-IN" dirty="0">
                <a:highlight>
                  <a:srgbClr val="FFFF00"/>
                </a:highlight>
              </a:rPr>
              <a:t>We don't know whether the coin is fair.</a:t>
            </a:r>
            <a:endParaRPr lang="en-IN" b="1" dirty="0">
              <a:highlight>
                <a:srgbClr val="FFFF00"/>
              </a:highlight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9671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6AA1F-303C-B40B-3F4D-8F4E51663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0A1E-5F9A-CF6F-FA79-B6739CA34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E.G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8899B-53F8-6A25-837E-5136A5ADE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Suppose we toss a coin 10 times and observe:</a:t>
            </a:r>
          </a:p>
          <a:p>
            <a:pPr lvl="1"/>
            <a:r>
              <a:rPr lang="en-IN" b="1" dirty="0"/>
              <a:t>Heads = 7 </a:t>
            </a:r>
          </a:p>
          <a:p>
            <a:pPr lvl="1"/>
            <a:r>
              <a:rPr lang="en-IN" b="1" dirty="0"/>
              <a:t>Tails = 3</a:t>
            </a:r>
          </a:p>
          <a:p>
            <a:pPr lvl="1"/>
            <a:endParaRPr lang="en-IN" b="1" dirty="0"/>
          </a:p>
          <a:p>
            <a:r>
              <a:rPr lang="en-IN" dirty="0"/>
              <a:t>We don't know whether the coin is fair.</a:t>
            </a:r>
          </a:p>
          <a:p>
            <a:r>
              <a:rPr lang="en-IN" dirty="0"/>
              <a:t>We want to estimate:</a:t>
            </a:r>
          </a:p>
          <a:p>
            <a:pPr lvl="1"/>
            <a:r>
              <a:rPr lang="en-IN" b="1" dirty="0"/>
              <a:t>p=P(Heads) </a:t>
            </a:r>
          </a:p>
          <a:p>
            <a:endParaRPr lang="en-IN" b="1" dirty="0">
              <a:highlight>
                <a:srgbClr val="FFFF00"/>
              </a:highlight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5772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CD82-77A6-112A-1133-6E2F2D019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7F20D-9AE0-BC0B-9D78-B2FFD9A90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E.G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F89F8-B80A-FA0C-D9AD-B1DE72620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Suppose we toss a coin 10 times and observe:</a:t>
            </a:r>
          </a:p>
          <a:p>
            <a:pPr lvl="1"/>
            <a:r>
              <a:rPr lang="en-IN" dirty="0"/>
              <a:t>Heads = 7 </a:t>
            </a:r>
          </a:p>
          <a:p>
            <a:pPr lvl="1"/>
            <a:r>
              <a:rPr lang="en-IN" dirty="0"/>
              <a:t>Tails = 3</a:t>
            </a:r>
          </a:p>
          <a:p>
            <a:pPr lvl="1"/>
            <a:endParaRPr lang="en-IN" dirty="0"/>
          </a:p>
          <a:p>
            <a:r>
              <a:rPr lang="en-IN" dirty="0"/>
              <a:t>We don't know whether the coin is fair.</a:t>
            </a:r>
          </a:p>
          <a:p>
            <a:r>
              <a:rPr lang="en-IN" dirty="0"/>
              <a:t>We want to estimate:</a:t>
            </a:r>
          </a:p>
          <a:p>
            <a:pPr lvl="1"/>
            <a:r>
              <a:rPr lang="en-IN" dirty="0"/>
              <a:t>p=P(Heads) </a:t>
            </a:r>
          </a:p>
          <a:p>
            <a:r>
              <a:rPr lang="en-IN" dirty="0"/>
              <a:t>MLE asks:</a:t>
            </a:r>
          </a:p>
          <a:p>
            <a:r>
              <a:rPr lang="en-IN" b="1" dirty="0"/>
              <a:t>What value of </a:t>
            </a:r>
            <a:r>
              <a:rPr lang="en-IN" b="1" dirty="0">
                <a:solidFill>
                  <a:srgbClr val="FF0000"/>
                </a:solidFill>
              </a:rPr>
              <a:t>p </a:t>
            </a:r>
            <a:r>
              <a:rPr lang="en-IN" b="1" dirty="0"/>
              <a:t>makes getting </a:t>
            </a:r>
            <a:r>
              <a:rPr lang="en-IN" b="1" dirty="0">
                <a:solidFill>
                  <a:srgbClr val="FF0000"/>
                </a:solidFill>
              </a:rPr>
              <a:t>7 </a:t>
            </a:r>
            <a:r>
              <a:rPr lang="en-IN" b="1" dirty="0"/>
              <a:t>heads and </a:t>
            </a:r>
            <a:r>
              <a:rPr lang="en-IN" b="1" dirty="0">
                <a:solidFill>
                  <a:srgbClr val="FF0000"/>
                </a:solidFill>
              </a:rPr>
              <a:t>3</a:t>
            </a:r>
            <a:r>
              <a:rPr lang="en-IN" b="1" dirty="0"/>
              <a:t> tails the most likely?</a:t>
            </a:r>
            <a:endParaRPr lang="en-IN" dirty="0"/>
          </a:p>
          <a:p>
            <a:endParaRPr lang="en-IN" b="1" dirty="0"/>
          </a:p>
          <a:p>
            <a:endParaRPr lang="en-IN" b="1" dirty="0">
              <a:highlight>
                <a:srgbClr val="FFFF00"/>
              </a:highlight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7461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A3BCBB-2992-74F1-64DE-4A810F4A3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998" y="481441"/>
            <a:ext cx="8139658" cy="598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609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FDEB8-B93D-47EF-582C-0B0FCBDDA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E.G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41420-931E-5E65-5323-7AAE1A2E5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answer will be:</a:t>
            </a:r>
          </a:p>
          <a:p>
            <a:endParaRPr lang="en-IN" dirty="0"/>
          </a:p>
          <a:p>
            <a:r>
              <a:rPr lang="en-IN" dirty="0"/>
              <a:t>p^​=0.7​ </a:t>
            </a:r>
          </a:p>
          <a:p>
            <a:endParaRPr lang="en-IN" dirty="0"/>
          </a:p>
          <a:p>
            <a:r>
              <a:rPr lang="en-IN" dirty="0"/>
              <a:t>So, according to MLE, the best estimate of the probability of getting heads is </a:t>
            </a:r>
            <a:r>
              <a:rPr lang="en-IN" b="1" dirty="0"/>
              <a:t>70%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0991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54590-28E1-C16E-61FF-4648D7D6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Basic Idea Behind MLE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A5B54-F8BC-1BDA-14C3-32BCA5E8C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we have observed some data: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X1​,X2​,…,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we assume that the data comes from a probability distribution controlled by an </a:t>
            </a: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unknown parameter θ.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0511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90799-64D5-95D3-9C2B-86CA715FC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675"/>
            <a:ext cx="10515600" cy="5682288"/>
          </a:xfrm>
        </p:spPr>
        <p:txBody>
          <a:bodyPr/>
          <a:lstStyle/>
          <a:p>
            <a:r>
              <a:rPr lang="en-IN"/>
              <a:t>Bernoulli distribution → parameter 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1529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1A039-EAEB-9552-0655-2D037362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51F1B-BDC8-854E-3D77-61B91F5E5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675"/>
            <a:ext cx="10515600" cy="5682288"/>
          </a:xfrm>
        </p:spPr>
        <p:txBody>
          <a:bodyPr/>
          <a:lstStyle/>
          <a:p>
            <a:r>
              <a:rPr lang="en-IN" dirty="0"/>
              <a:t>Normal distribution → parameters μ,σ</a:t>
            </a:r>
            <a:r>
              <a:rPr lang="en-IN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95735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E5164-0BAF-4DF5-8F2A-B9E593F6A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2478A-FC00-C006-05D4-38BB908E1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675"/>
            <a:ext cx="10515600" cy="5682288"/>
          </a:xfrm>
        </p:spPr>
        <p:txBody>
          <a:bodyPr/>
          <a:lstStyle/>
          <a:p>
            <a:r>
              <a:rPr lang="en-IN" dirty="0"/>
              <a:t>Poisson distribution → parameter λ</a:t>
            </a:r>
          </a:p>
        </p:txBody>
      </p:sp>
    </p:spTree>
    <p:extLst>
      <p:ext uri="{BB962C8B-B14F-4D97-AF65-F5344CB8AC3E}">
        <p14:creationId xmlns:p14="http://schemas.microsoft.com/office/powerpoint/2010/main" val="1786929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0BB99-1417-36FC-E812-3F7F98982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5A075-6F9A-FFB6-5AFA-456529203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675"/>
            <a:ext cx="10515600" cy="5682288"/>
          </a:xfrm>
        </p:spPr>
        <p:txBody>
          <a:bodyPr/>
          <a:lstStyle/>
          <a:p>
            <a:r>
              <a:rPr lang="en-IN" dirty="0"/>
              <a:t>We want to find the best value of θ.</a:t>
            </a:r>
          </a:p>
        </p:txBody>
      </p:sp>
    </p:spTree>
    <p:extLst>
      <p:ext uri="{BB962C8B-B14F-4D97-AF65-F5344CB8AC3E}">
        <p14:creationId xmlns:p14="http://schemas.microsoft.com/office/powerpoint/2010/main" val="1531778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604F8-4362-9003-C48B-6BEE0AF25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7997B-8745-9D2B-ED27-60450FB3D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675"/>
            <a:ext cx="10515600" cy="5682288"/>
          </a:xfrm>
        </p:spPr>
        <p:txBody>
          <a:bodyPr/>
          <a:lstStyle/>
          <a:p>
            <a:r>
              <a:rPr lang="en-IN" dirty="0"/>
              <a:t>We want to find the best value of θ.</a:t>
            </a:r>
          </a:p>
          <a:p>
            <a:r>
              <a:rPr lang="en-IN" dirty="0"/>
              <a:t>MLE chooses the value of θ that maximizes:</a:t>
            </a:r>
          </a:p>
          <a:p>
            <a:pPr lvl="1"/>
            <a:r>
              <a:rPr lang="en-IN" b="1" dirty="0"/>
              <a:t>P(Observed </a:t>
            </a:r>
            <a:r>
              <a:rPr lang="en-IN" b="1" dirty="0" err="1"/>
              <a:t>Data∣θ</a:t>
            </a:r>
            <a:r>
              <a:rPr lang="en-IN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1597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525CC-49B0-59A0-469C-97AEF6EF9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7408B-E462-F0F1-BF22-EB4740894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675"/>
            <a:ext cx="10515600" cy="5682288"/>
          </a:xfrm>
        </p:spPr>
        <p:txBody>
          <a:bodyPr/>
          <a:lstStyle/>
          <a:p>
            <a:r>
              <a:rPr lang="en-IN" dirty="0"/>
              <a:t>We want to find the best value of θ.</a:t>
            </a:r>
          </a:p>
          <a:p>
            <a:r>
              <a:rPr lang="en-IN" dirty="0"/>
              <a:t>MLE chooses the value of θ that maximizes:</a:t>
            </a:r>
          </a:p>
          <a:p>
            <a:pPr lvl="1"/>
            <a:r>
              <a:rPr lang="en-IN" b="1" dirty="0"/>
              <a:t>P(Observed Data ∣ θ)</a:t>
            </a:r>
          </a:p>
          <a:p>
            <a:pPr lvl="1"/>
            <a:endParaRPr lang="en-IN" b="1" dirty="0"/>
          </a:p>
          <a:p>
            <a:pPr lvl="1"/>
            <a:r>
              <a:rPr lang="en-IN" dirty="0"/>
              <a:t>This is called the </a:t>
            </a:r>
            <a:r>
              <a:rPr lang="en-IN" b="1" dirty="0"/>
              <a:t>likelihood</a:t>
            </a:r>
            <a:r>
              <a:rPr lang="en-IN" dirty="0"/>
              <a:t>.</a:t>
            </a:r>
          </a:p>
          <a:p>
            <a:pPr lvl="1"/>
            <a:endParaRPr lang="en-IN" b="1" dirty="0"/>
          </a:p>
          <a:p>
            <a:r>
              <a:rPr lang="en-IN" dirty="0"/>
              <a:t>MLE chooses the value of θ that maximizes:</a:t>
            </a:r>
          </a:p>
          <a:p>
            <a:pPr lvl="1"/>
            <a:r>
              <a:rPr lang="en-IN" b="1" dirty="0"/>
              <a:t>P(Observed </a:t>
            </a:r>
            <a:r>
              <a:rPr lang="en-IN" b="1" dirty="0" err="1"/>
              <a:t>Data∣θ</a:t>
            </a:r>
            <a:r>
              <a:rPr lang="en-IN" b="1" dirty="0"/>
              <a:t>) </a:t>
            </a:r>
          </a:p>
          <a:p>
            <a:r>
              <a:rPr lang="en-IN" dirty="0"/>
              <a:t>This is called the </a:t>
            </a:r>
            <a:r>
              <a:rPr lang="en-IN" b="1" dirty="0"/>
              <a:t>likelihood</a:t>
            </a:r>
            <a:r>
              <a:rPr lang="en-IN" dirty="0"/>
              <a:t>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320051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0505A-E4A4-CAE0-9D9D-EC9F6346E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AE129-7557-4413-1C1D-388CCD266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4675"/>
            <a:ext cx="10515600" cy="5682288"/>
          </a:xfrm>
        </p:spPr>
        <p:txBody>
          <a:bodyPr/>
          <a:lstStyle/>
          <a:p>
            <a:r>
              <a:rPr lang="en-IN" dirty="0"/>
              <a:t>Therefore: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where</a:t>
            </a:r>
          </a:p>
          <a:p>
            <a:r>
              <a:rPr lang="en-IN" dirty="0"/>
              <a:t>L(θ) </a:t>
            </a:r>
          </a:p>
          <a:p>
            <a:r>
              <a:rPr lang="en-IN" dirty="0"/>
              <a:t>is the </a:t>
            </a:r>
            <a:r>
              <a:rPr lang="en-IN" b="1" dirty="0"/>
              <a:t>likelihood function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9029C1-FBB4-AC45-4D60-A961D77B4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7938" y="681037"/>
            <a:ext cx="5636124" cy="211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729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8A257-FBE5-EC85-1051-3EDDA5AC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Probability vs 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212CC-10FB-A4E0-B442-7EDB1873F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probability, the parameter is known and we calculate the probability of the data.</a:t>
            </a:r>
          </a:p>
        </p:txBody>
      </p:sp>
    </p:spTree>
    <p:extLst>
      <p:ext uri="{BB962C8B-B14F-4D97-AF65-F5344CB8AC3E}">
        <p14:creationId xmlns:p14="http://schemas.microsoft.com/office/powerpoint/2010/main" val="804146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DF2D4-8BBB-5103-BD9B-65B9A402A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EBF77-CF91-883B-D3E7-363CD64CE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Probability vs 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E8E6B-17FF-B0C4-A091-B4DFAF151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probability, the parameter is known and we calculate the probability of the data.</a:t>
            </a:r>
          </a:p>
          <a:p>
            <a:r>
              <a:rPr lang="en-IN" dirty="0" err="1"/>
              <a:t>E.g</a:t>
            </a:r>
            <a:r>
              <a:rPr lang="en-IN" dirty="0"/>
              <a:t>: </a:t>
            </a:r>
            <a:r>
              <a:rPr lang="en-IN" dirty="0">
                <a:highlight>
                  <a:srgbClr val="FFFF00"/>
                </a:highlight>
              </a:rPr>
              <a:t>If the probability of heads is p=0.5, what is the probability of getting 7 heads in 10 tosses?</a:t>
            </a:r>
          </a:p>
        </p:txBody>
      </p:sp>
    </p:spTree>
    <p:extLst>
      <p:ext uri="{BB962C8B-B14F-4D97-AF65-F5344CB8AC3E}">
        <p14:creationId xmlns:p14="http://schemas.microsoft.com/office/powerpoint/2010/main" val="2370583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F1F61-3B59-958B-C2B8-F2E45D968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A408A-1037-10C5-E937-759093363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Probability vs 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E11B4-7D96-C18C-32BF-F72AEE8E7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probability, the parameter is known and we calculate the probability of the data.</a:t>
            </a:r>
          </a:p>
          <a:p>
            <a:r>
              <a:rPr lang="en-IN" dirty="0" err="1"/>
              <a:t>E.g</a:t>
            </a:r>
            <a:r>
              <a:rPr lang="en-IN" dirty="0"/>
              <a:t>: </a:t>
            </a:r>
            <a:r>
              <a:rPr lang="en-IN" dirty="0">
                <a:highlight>
                  <a:srgbClr val="FFFF00"/>
                </a:highlight>
              </a:rPr>
              <a:t>If the probability of heads is p=0.5, what is the probability of getting 7 heads in 10 tosses?</a:t>
            </a:r>
          </a:p>
          <a:p>
            <a:r>
              <a:rPr lang="en-IN" dirty="0"/>
              <a:t>Here:</a:t>
            </a:r>
          </a:p>
          <a:p>
            <a:pPr lvl="1"/>
            <a:r>
              <a:rPr lang="en-IN" b="1" dirty="0" err="1"/>
              <a:t>p→known</a:t>
            </a:r>
            <a:r>
              <a:rPr lang="en-IN" b="1" dirty="0"/>
              <a:t> </a:t>
            </a:r>
          </a:p>
          <a:p>
            <a:pPr lvl="1"/>
            <a:r>
              <a:rPr lang="en-IN" b="1" dirty="0" err="1"/>
              <a:t>data→unknown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35491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627DD-61E8-F18E-A5FF-349948A8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6200-A970-43AA-8D4F-D8B1A2609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Probability vs 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0C87B-C337-6277-30A5-B8CE52A08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highlight>
                  <a:srgbClr val="FFFF00"/>
                </a:highlight>
              </a:rPr>
              <a:t>In MLE, the data is already observed, and we try to determine which parameter value is most plausible.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141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4E9D8-04B4-19C2-D62B-CBC46C5D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CC2DA-CDC1-FF66-6A1A-E660848DA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Probability vs 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9E719-6106-D72F-1979-01599D8CF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MLE, the data is already observed, and we try to determine which parameter value is most plausible.</a:t>
            </a:r>
          </a:p>
          <a:p>
            <a:r>
              <a:rPr lang="en-IN" dirty="0" err="1"/>
              <a:t>E.g</a:t>
            </a:r>
            <a:r>
              <a:rPr lang="en-IN" dirty="0"/>
              <a:t>:</a:t>
            </a:r>
          </a:p>
          <a:p>
            <a:r>
              <a:rPr lang="en-IN" b="1" dirty="0"/>
              <a:t>We observed 7 heads in 10 tosses. What value of p is most likely?</a:t>
            </a:r>
          </a:p>
          <a:p>
            <a:r>
              <a:rPr lang="en-IN" dirty="0"/>
              <a:t>Here:</a:t>
            </a:r>
          </a:p>
          <a:p>
            <a:r>
              <a:rPr lang="en-IN" b="1" dirty="0" err="1"/>
              <a:t>data→known</a:t>
            </a:r>
            <a:r>
              <a:rPr lang="en-IN" b="1" dirty="0"/>
              <a:t> </a:t>
            </a:r>
          </a:p>
          <a:p>
            <a:r>
              <a:rPr lang="en-IN" b="1" dirty="0" err="1"/>
              <a:t>p→unknown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15551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A487F-1E10-2032-F658-D9BE06E0C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2CAE-353B-568D-F186-4838A8B05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Probability vs 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EBA7F-C403-F6C1-A317-085C23D34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Probability treats the parameter as fixed and data as variable, whereas likelihood treats the observed data as fixed and the parameter as variable.</a:t>
            </a:r>
          </a:p>
        </p:txBody>
      </p:sp>
    </p:spTree>
    <p:extLst>
      <p:ext uri="{BB962C8B-B14F-4D97-AF65-F5344CB8AC3E}">
        <p14:creationId xmlns:p14="http://schemas.microsoft.com/office/powerpoint/2010/main" val="20059677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C3E4A-D5FA-8430-AE25-9D0F28022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Steps to Find MLE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8AC56-BFFC-5C84-E4C7-F0D8BA90D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Lets check the basics…….</a:t>
            </a:r>
          </a:p>
        </p:txBody>
      </p:sp>
    </p:spTree>
    <p:extLst>
      <p:ext uri="{BB962C8B-B14F-4D97-AF65-F5344CB8AC3E}">
        <p14:creationId xmlns:p14="http://schemas.microsoft.com/office/powerpoint/2010/main" val="1346863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1271F-3A6E-D4EB-92AC-6AFFA556A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7840-0FC1-2B2E-D1D2-7E76A8A2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Steps to Find MLE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81C43E-F5BF-6970-BABD-2DF21814B3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0092133"/>
              </p:ext>
            </p:extLst>
          </p:nvPr>
        </p:nvGraphicFramePr>
        <p:xfrm>
          <a:off x="838200" y="1825624"/>
          <a:ext cx="10515600" cy="3330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730315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14790022"/>
                    </a:ext>
                  </a:extLst>
                </a:gridCol>
              </a:tblGrid>
              <a:tr h="111033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EXPANSION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866066"/>
                  </a:ext>
                </a:extLst>
              </a:tr>
              <a:tr h="1110330">
                <a:tc>
                  <a:txBody>
                    <a:bodyPr/>
                    <a:lstStyle/>
                    <a:p>
                      <a:pPr algn="ctr"/>
                      <a:r>
                        <a:rPr lang="en-IN" sz="4400" dirty="0"/>
                        <a:t>ln(ab)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??????????????????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54817"/>
                  </a:ext>
                </a:extLst>
              </a:tr>
              <a:tr h="1110330">
                <a:tc>
                  <a:txBody>
                    <a:bodyPr/>
                    <a:lstStyle/>
                    <a:p>
                      <a:pPr algn="ctr"/>
                      <a:r>
                        <a:rPr lang="en-IN" sz="4400" dirty="0"/>
                        <a:t>ln(a</a:t>
                      </a:r>
                      <a:r>
                        <a:rPr lang="en-IN" sz="4400" baseline="30000" dirty="0"/>
                        <a:t>n</a:t>
                      </a:r>
                      <a:r>
                        <a:rPr lang="en-IN" sz="4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???????????????????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363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6822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D0F70-8C97-BD7C-2619-6349191F4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66FF9-B17A-9062-05C3-21E99ABF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Steps to Find MLE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30CFCC-8C9E-6116-616A-B44DB45FB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1281824"/>
              </p:ext>
            </p:extLst>
          </p:nvPr>
        </p:nvGraphicFramePr>
        <p:xfrm>
          <a:off x="838200" y="1825624"/>
          <a:ext cx="10515600" cy="3330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7303157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14790022"/>
                    </a:ext>
                  </a:extLst>
                </a:gridCol>
              </a:tblGrid>
              <a:tr h="111033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EXPANSION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866066"/>
                  </a:ext>
                </a:extLst>
              </a:tr>
              <a:tr h="1110330">
                <a:tc>
                  <a:txBody>
                    <a:bodyPr/>
                    <a:lstStyle/>
                    <a:p>
                      <a:pPr algn="ctr"/>
                      <a:r>
                        <a:rPr lang="en-IN" sz="4400" dirty="0"/>
                        <a:t>ln(ab)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0" dirty="0"/>
                        <a:t>ln </a:t>
                      </a:r>
                      <a:r>
                        <a:rPr lang="en-IN" sz="6000" dirty="0" err="1"/>
                        <a:t>a+ln</a:t>
                      </a:r>
                      <a:r>
                        <a:rPr lang="en-IN" sz="6000" dirty="0"/>
                        <a:t>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254817"/>
                  </a:ext>
                </a:extLst>
              </a:tr>
              <a:tr h="1110330">
                <a:tc>
                  <a:txBody>
                    <a:bodyPr/>
                    <a:lstStyle/>
                    <a:p>
                      <a:pPr algn="ctr"/>
                      <a:r>
                        <a:rPr lang="en-IN" sz="4400" dirty="0"/>
                        <a:t>ln(a</a:t>
                      </a:r>
                      <a:r>
                        <a:rPr lang="en-IN" sz="4400" baseline="30000" dirty="0"/>
                        <a:t>n</a:t>
                      </a:r>
                      <a:r>
                        <a:rPr lang="en-IN" sz="4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6000" dirty="0"/>
                        <a:t>n ln(a)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363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972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D9491-9598-89D1-724B-CF3BD452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C7297-5516-38F0-55DC-E32553341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Steps to Find MLE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9E7D87-2A88-EF36-43E6-C34C56ED5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1: Assume a probability distribution</a:t>
            </a:r>
          </a:p>
        </p:txBody>
      </p:sp>
    </p:spTree>
    <p:extLst>
      <p:ext uri="{BB962C8B-B14F-4D97-AF65-F5344CB8AC3E}">
        <p14:creationId xmlns:p14="http://schemas.microsoft.com/office/powerpoint/2010/main" val="14005796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6CD0E-4946-89E1-9567-95035FB85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5B6E8-6D1A-789E-1B2D-5EB70D308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Steps to Find MLE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12F1D7-9C9B-1F64-EFA7-D0C7FB402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Step 1: Assume a probability distribution</a:t>
            </a:r>
          </a:p>
          <a:p>
            <a:r>
              <a:rPr lang="en-IN" dirty="0"/>
              <a:t>Identify the distribution that generated the data.</a:t>
            </a:r>
          </a:p>
          <a:p>
            <a:r>
              <a:rPr lang="en-IN" dirty="0"/>
              <a:t>For example:</a:t>
            </a:r>
          </a:p>
          <a:p>
            <a:pPr algn="ctr"/>
            <a:r>
              <a:rPr lang="en-IN" b="1" dirty="0" err="1"/>
              <a:t>X∼Bernoulli</a:t>
            </a:r>
            <a:r>
              <a:rPr lang="en-IN" b="1" dirty="0"/>
              <a:t>(p)</a:t>
            </a:r>
          </a:p>
        </p:txBody>
      </p:sp>
    </p:spTree>
    <p:extLst>
      <p:ext uri="{BB962C8B-B14F-4D97-AF65-F5344CB8AC3E}">
        <p14:creationId xmlns:p14="http://schemas.microsoft.com/office/powerpoint/2010/main" val="30644104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1DC7F-4188-5BC0-33FB-89A159B5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278B-E2E9-0900-579A-5B37A964E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Write the probability mass function or probability density function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E14D8E-8EAC-4EFE-CA29-32A3DD671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Bernoulli distribution:</a:t>
            </a:r>
          </a:p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B4891A-2CC7-FEC7-43AF-AF2723E1B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933" y="2454379"/>
            <a:ext cx="6685613" cy="194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966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34C5E-D626-0371-9EFB-9BDFB1FD1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6301-E822-226D-C4EF-D6E027B3A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3: Construct the likelihood function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11946F-7BF4-6F59-40FF-E51108C7C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we have </a:t>
            </a:r>
            <a:r>
              <a:rPr lang="en-IN" b="1" dirty="0"/>
              <a:t>n</a:t>
            </a:r>
            <a:r>
              <a:rPr lang="en-IN" dirty="0"/>
              <a:t> independent observations:</a:t>
            </a:r>
          </a:p>
          <a:p>
            <a:r>
              <a:rPr lang="en-IN" dirty="0"/>
              <a:t>x1​,x2​,…,</a:t>
            </a:r>
            <a:r>
              <a:rPr lang="en-IN" dirty="0" err="1"/>
              <a:t>xn</a:t>
            </a:r>
            <a:r>
              <a:rPr lang="en-IN" dirty="0"/>
              <a:t>​ </a:t>
            </a:r>
          </a:p>
          <a:p>
            <a:r>
              <a:rPr lang="en-IN" dirty="0"/>
              <a:t>then: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842713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41413-2ABF-86B0-655F-5337EFEE8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0FF8-B81B-2648-BB1E-829F36AAF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3: Construct the likelihood function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BD5BF6-DA26-7A91-CB7C-58AC81FA8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we have </a:t>
            </a:r>
            <a:r>
              <a:rPr lang="en-IN" b="1" dirty="0"/>
              <a:t>n</a:t>
            </a:r>
            <a:r>
              <a:rPr lang="en-IN" dirty="0"/>
              <a:t> independent observations:</a:t>
            </a:r>
          </a:p>
          <a:p>
            <a:r>
              <a:rPr lang="en-IN" dirty="0"/>
              <a:t>x1​,x2​,…,</a:t>
            </a:r>
            <a:r>
              <a:rPr lang="en-IN" dirty="0" err="1"/>
              <a:t>xn</a:t>
            </a:r>
            <a:r>
              <a:rPr lang="en-IN" dirty="0"/>
              <a:t>​ </a:t>
            </a:r>
          </a:p>
          <a:p>
            <a:r>
              <a:rPr lang="en-IN" dirty="0"/>
              <a:t>then:</a:t>
            </a:r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B01184-68C6-F511-9912-78DF0FF6E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224" y="3429000"/>
            <a:ext cx="5119026" cy="166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321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F2AD8-2EE8-CC27-F31B-FD394B1FF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117C2-5DE7-7710-BB01-F64373E3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Take the logarithm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4A1732-3F92-51E7-93FC-0AD714A54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we have </a:t>
            </a:r>
            <a:r>
              <a:rPr lang="en-IN" b="1" dirty="0"/>
              <a:t>n</a:t>
            </a:r>
            <a:r>
              <a:rPr lang="en-IN" dirty="0"/>
              <a:t> independent observations:</a:t>
            </a:r>
          </a:p>
          <a:p>
            <a:r>
              <a:rPr lang="en-IN" dirty="0"/>
              <a:t>x1​,x2​,…,</a:t>
            </a:r>
            <a:r>
              <a:rPr lang="en-IN" dirty="0" err="1"/>
              <a:t>xn</a:t>
            </a:r>
            <a:r>
              <a:rPr lang="en-IN" dirty="0"/>
              <a:t>​ </a:t>
            </a:r>
          </a:p>
          <a:p>
            <a:r>
              <a:rPr lang="en-IN" dirty="0"/>
              <a:t>then:</a:t>
            </a:r>
          </a:p>
          <a:p>
            <a:r>
              <a:rPr lang="en-IN" dirty="0"/>
              <a:t>Instead of maximizing:</a:t>
            </a:r>
          </a:p>
          <a:p>
            <a:pPr lvl="1"/>
            <a:r>
              <a:rPr lang="en-IN" dirty="0"/>
              <a:t>L(θ) </a:t>
            </a:r>
          </a:p>
          <a:p>
            <a:r>
              <a:rPr lang="en-IN" dirty="0"/>
              <a:t>we usually maximize the </a:t>
            </a:r>
            <a:r>
              <a:rPr lang="en-IN" b="1" dirty="0"/>
              <a:t>log-likelihood</a:t>
            </a:r>
            <a:r>
              <a:rPr lang="en-IN" dirty="0"/>
              <a:t>:</a:t>
            </a:r>
          </a:p>
          <a:p>
            <a:r>
              <a:rPr lang="en-IN" dirty="0"/>
              <a:t>ℓ(θ)=ln L(θ)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645598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12329-FEB9-7E3A-09B0-1E7BDC869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D6CD9-A737-77B9-81C1-1826190B0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5: Differentiate and solve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697EBC-F710-00C1-C074-958AAFE19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Take the derivative: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Then solve for θ.</a:t>
            </a:r>
          </a:p>
          <a:p>
            <a:r>
              <a:rPr lang="en-IN" dirty="0"/>
              <a:t>The resulting value is the </a:t>
            </a:r>
            <a:r>
              <a:rPr lang="en-IN" b="1" dirty="0"/>
              <a:t>Maximum Likelihood Estimate</a:t>
            </a:r>
            <a:r>
              <a:rPr lang="en-IN" dirty="0"/>
              <a:t>:</a:t>
            </a:r>
          </a:p>
          <a:p>
            <a:r>
              <a:rPr lang="en-IN" dirty="0"/>
              <a:t>θ^ MLE​​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23A9F-39F1-6511-028B-E3A47C939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680" y="2498774"/>
            <a:ext cx="2163150" cy="102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387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A46FA-65BB-EE41-0F83-C013E6DD8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Numerical Example: Coin Toss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75F9C-4C30-16FE-3C04-DF714ECD2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coin is tossed </a:t>
            </a:r>
            <a:r>
              <a:rPr lang="en-IN" b="1" dirty="0"/>
              <a:t>10 times</a:t>
            </a:r>
            <a:r>
              <a:rPr lang="en-IN" dirty="0"/>
              <a:t>.</a:t>
            </a:r>
          </a:p>
          <a:p>
            <a:r>
              <a:rPr lang="en-IN" dirty="0"/>
              <a:t>The observed results are:</a:t>
            </a:r>
          </a:p>
          <a:p>
            <a:pPr lvl="1"/>
            <a:r>
              <a:rPr lang="en-IN" dirty="0"/>
              <a:t>H,H,T,H,H,T,H,H,H,T</a:t>
            </a:r>
          </a:p>
        </p:txBody>
      </p:sp>
    </p:spTree>
    <p:extLst>
      <p:ext uri="{BB962C8B-B14F-4D97-AF65-F5344CB8AC3E}">
        <p14:creationId xmlns:p14="http://schemas.microsoft.com/office/powerpoint/2010/main" val="18982400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DF377-ECCD-9BB0-7A7A-B0CBB7158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D1BAA-433B-461D-8DC4-87F26DE9E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Numerical Example: Coin Toss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96F6E-C6AA-D787-389D-2FB0D3D5C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54128" cy="4667250"/>
          </a:xfrm>
        </p:spPr>
        <p:txBody>
          <a:bodyPr/>
          <a:lstStyle/>
          <a:p>
            <a:r>
              <a:rPr lang="en-IN" dirty="0"/>
              <a:t>A coin is tossed </a:t>
            </a:r>
            <a:r>
              <a:rPr lang="en-IN" b="1" dirty="0"/>
              <a:t>10 times</a:t>
            </a:r>
            <a:r>
              <a:rPr lang="en-IN" dirty="0"/>
              <a:t>.</a:t>
            </a:r>
          </a:p>
          <a:p>
            <a:r>
              <a:rPr lang="en-IN" dirty="0"/>
              <a:t>The observed results are:</a:t>
            </a:r>
          </a:p>
          <a:p>
            <a:pPr lvl="1"/>
            <a:r>
              <a:rPr lang="en-IN" dirty="0"/>
              <a:t>H,H,T,H,H,T,H,H,H,T</a:t>
            </a:r>
          </a:p>
          <a:p>
            <a:r>
              <a:rPr lang="en-IN" dirty="0"/>
              <a:t>Therefore:</a:t>
            </a:r>
          </a:p>
          <a:p>
            <a:pPr lvl="0"/>
            <a:r>
              <a:rPr lang="en-IN" dirty="0"/>
              <a:t>Number of Heads = 7 </a:t>
            </a:r>
          </a:p>
          <a:p>
            <a:pPr lvl="0"/>
            <a:r>
              <a:rPr lang="en-IN" dirty="0"/>
              <a:t>Number of Tails = 3 </a:t>
            </a:r>
          </a:p>
          <a:p>
            <a:pPr lvl="0"/>
            <a:r>
              <a:rPr lang="en-IN" dirty="0"/>
              <a:t>Total tosses = 10 </a:t>
            </a:r>
          </a:p>
          <a:p>
            <a:r>
              <a:rPr lang="en-IN" dirty="0"/>
              <a:t>Find the </a:t>
            </a:r>
            <a:r>
              <a:rPr lang="en-IN" b="1" dirty="0"/>
              <a:t>Maximum Likelihood Estimate of p</a:t>
            </a:r>
            <a:r>
              <a:rPr lang="en-IN" dirty="0"/>
              <a:t>, where p is the probability of getting Heads.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4590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69A9-02D6-0C85-D31F-406D59FD8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Define the Unknown Parameter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F8F87-D1E1-1256-6043-772740E6E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Let:</a:t>
            </a:r>
          </a:p>
          <a:p>
            <a:r>
              <a:rPr lang="en-IN" dirty="0"/>
              <a:t>              p=P(H) </a:t>
            </a:r>
          </a:p>
          <a:p>
            <a:r>
              <a:rPr lang="en-IN" dirty="0"/>
              <a:t>Therefore, the probability of getting a Tail is:</a:t>
            </a:r>
          </a:p>
          <a:p>
            <a:r>
              <a:rPr lang="en-IN" dirty="0"/>
              <a:t>P(T)=1−p </a:t>
            </a:r>
          </a:p>
          <a:p>
            <a:r>
              <a:rPr lang="en-IN" dirty="0"/>
              <a:t>Our objective is to estimate p.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63829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47025-ECDA-9AB6-038F-EECAA1554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419CE-E51B-0E71-8D16-8FDDECA08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Identify the Probability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6D15E-3225-F09C-0DB4-408A0BB13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38733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7CE03-A786-047B-AFAF-01446B121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D3B74-B0BD-3E61-74D5-8AEF0DE22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Identify the Probability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25435-BB64-1932-8BC8-BB9BB53AE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Xi​∼Bernoulli(p)</a:t>
            </a:r>
          </a:p>
          <a:p>
            <a:r>
              <a:rPr lang="en-IN" dirty="0"/>
              <a:t>The Bernoulli probability mass function is: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0172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C1C54-1638-291E-8301-ACA2C87A9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F7FE-8BE6-C634-4B56-9E431EB18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Identify the Probability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5C00B-99E9-1D9F-6681-405737A47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Xi​∼Bernoulli(p)</a:t>
            </a:r>
          </a:p>
          <a:p>
            <a:r>
              <a:rPr lang="en-IN" dirty="0"/>
              <a:t>The Bernoulli probability mass function is: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where: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A1D4E-50B7-41D0-4D11-6882396F1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311" y="2971839"/>
            <a:ext cx="4277166" cy="9143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97B63F-CB46-CA96-072F-AF3BE2F04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0813" y="4657620"/>
            <a:ext cx="3220161" cy="131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9865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2E791-1C91-E527-FDD2-120CE1D8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3: Write the Probability of the Observed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B6E52-8F77-2496-0756-0DB093BEC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Observed sequence: </a:t>
            </a:r>
            <a:r>
              <a:rPr lang="en-IN" b="1" dirty="0"/>
              <a:t>H,H,T,H,H,T,H,H,H,T</a:t>
            </a:r>
          </a:p>
          <a:p>
            <a:r>
              <a:rPr lang="en-IN" b="1" dirty="0"/>
              <a:t>P(H)=p</a:t>
            </a:r>
          </a:p>
          <a:p>
            <a:r>
              <a:rPr lang="en-IN" b="1" dirty="0"/>
              <a:t>P(T)=1−p</a:t>
            </a:r>
          </a:p>
        </p:txBody>
      </p:sp>
    </p:spTree>
    <p:extLst>
      <p:ext uri="{BB962C8B-B14F-4D97-AF65-F5344CB8AC3E}">
        <p14:creationId xmlns:p14="http://schemas.microsoft.com/office/powerpoint/2010/main" val="4473278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F57FB-3B5F-D2FE-B6F3-6E2539B44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FE93-A26F-1743-E2D0-FC6FEFFFD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3: Write the Probability of the Observed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BDDFF-2341-5AD5-10DB-BDB7363BA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Toss= Independent</a:t>
            </a:r>
          </a:p>
          <a:p>
            <a:r>
              <a:rPr lang="en-IN" b="1" dirty="0"/>
              <a:t>Probability: Multiply</a:t>
            </a:r>
          </a:p>
        </p:txBody>
      </p:sp>
    </p:spTree>
    <p:extLst>
      <p:ext uri="{BB962C8B-B14F-4D97-AF65-F5344CB8AC3E}">
        <p14:creationId xmlns:p14="http://schemas.microsoft.com/office/powerpoint/2010/main" val="3035763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CAC09-DD34-D01B-0CD6-EB781104E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648A0-9E6A-364F-6977-90BEA7256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3: Write the Probability of the Observed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A3114-8B3F-150D-EA89-6BFB5CF82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Toss= Independent</a:t>
            </a:r>
          </a:p>
          <a:p>
            <a:r>
              <a:rPr lang="en-IN" b="1" dirty="0"/>
              <a:t>Probability: Multiply</a:t>
            </a:r>
          </a:p>
          <a:p>
            <a:r>
              <a:rPr lang="en-IN" dirty="0">
                <a:highlight>
                  <a:srgbClr val="00FF00"/>
                </a:highlight>
              </a:rPr>
              <a:t>P(H,H,T,H,H,T,H,H,H,T)</a:t>
            </a:r>
            <a:endParaRPr lang="en-IN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31646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C6D88-F435-5AB3-F61A-463BE39BE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31CCD-249E-D1DF-EE56-41543673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3: Write the Probability of the Observed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198E2-9E4F-2E01-4BA8-8767F5EB2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Toss= Independent</a:t>
            </a:r>
          </a:p>
          <a:p>
            <a:r>
              <a:rPr lang="en-IN" b="1" dirty="0"/>
              <a:t>Probability: Multiply</a:t>
            </a:r>
          </a:p>
          <a:p>
            <a:r>
              <a:rPr lang="en-IN" dirty="0"/>
              <a:t>P(H,H,T,H,H,T,H,H,H,T)</a:t>
            </a:r>
          </a:p>
          <a:p>
            <a:r>
              <a:rPr lang="en-IN" dirty="0">
                <a:highlight>
                  <a:srgbClr val="00FF00"/>
                </a:highlight>
              </a:rPr>
              <a:t>p ×p × (1−p) × p × p × (1−p) × p × p × p × (1−p)</a:t>
            </a:r>
            <a:endParaRPr lang="en-IN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941460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00792-F80A-282B-1408-335B433A6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A312A-C743-F197-7266-FFAC48F4F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3: Write the Probability of the Observed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91894-DF19-BEC4-BA24-7BBB747A6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Toss= Independent</a:t>
            </a:r>
          </a:p>
          <a:p>
            <a:r>
              <a:rPr lang="en-IN" b="1" dirty="0"/>
              <a:t>Probability: Multiply</a:t>
            </a:r>
          </a:p>
          <a:p>
            <a:r>
              <a:rPr lang="en-IN" dirty="0"/>
              <a:t>P(H,H,T,H,H,T,H,H,H,T)</a:t>
            </a:r>
          </a:p>
          <a:p>
            <a:r>
              <a:rPr lang="en-IN" dirty="0"/>
              <a:t>p ×p × (1−p) × p × p × (1−p) × p × p × p × (1−p)</a:t>
            </a:r>
          </a:p>
          <a:p>
            <a:r>
              <a:rPr lang="en-IN" b="1" dirty="0"/>
              <a:t>p=7</a:t>
            </a:r>
          </a:p>
          <a:p>
            <a:r>
              <a:rPr lang="en-IN" b="1" dirty="0"/>
              <a:t>(1-p)=7</a:t>
            </a:r>
          </a:p>
        </p:txBody>
      </p:sp>
    </p:spTree>
    <p:extLst>
      <p:ext uri="{BB962C8B-B14F-4D97-AF65-F5344CB8AC3E}">
        <p14:creationId xmlns:p14="http://schemas.microsoft.com/office/powerpoint/2010/main" val="1794801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96D7D-824C-45B3-4AE9-9E540C03F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4DAA1-9DFD-3B26-31A7-31CA2DF93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3: Write the Probability of the Observed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95134-0555-4175-FC06-0A7E596BA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Toss= Independent</a:t>
            </a:r>
          </a:p>
          <a:p>
            <a:r>
              <a:rPr lang="en-IN" b="1" dirty="0"/>
              <a:t>Probability: Multiply</a:t>
            </a:r>
          </a:p>
          <a:p>
            <a:r>
              <a:rPr lang="en-IN" dirty="0"/>
              <a:t>P(H,H,T,H,H,T,H,H,H,T)</a:t>
            </a:r>
          </a:p>
          <a:p>
            <a:r>
              <a:rPr lang="en-IN" dirty="0"/>
              <a:t>p ×p × (1−p) × p × p × (1−p) × p × p × p × (1−p)</a:t>
            </a:r>
          </a:p>
          <a:p>
            <a:r>
              <a:rPr lang="en-IN" b="1" dirty="0"/>
              <a:t>p=7</a:t>
            </a:r>
          </a:p>
          <a:p>
            <a:r>
              <a:rPr lang="en-IN" b="1" dirty="0"/>
              <a:t>(1-p)=7</a:t>
            </a:r>
          </a:p>
          <a:p>
            <a:r>
              <a:rPr lang="en-IN" b="1" dirty="0"/>
              <a:t>Likelihood function:??</a:t>
            </a:r>
          </a:p>
        </p:txBody>
      </p:sp>
    </p:spTree>
    <p:extLst>
      <p:ext uri="{BB962C8B-B14F-4D97-AF65-F5344CB8AC3E}">
        <p14:creationId xmlns:p14="http://schemas.microsoft.com/office/powerpoint/2010/main" val="6236667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876E5-5792-BEC6-054D-DC9FD5665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81DE2-3E44-E763-8D34-4909824B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3: Write the Probability of the Observed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03975-7254-1A91-09D7-586AC9625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Toss= Independent</a:t>
            </a:r>
          </a:p>
          <a:p>
            <a:r>
              <a:rPr lang="en-IN" dirty="0"/>
              <a:t>Probability: Multiply</a:t>
            </a:r>
          </a:p>
          <a:p>
            <a:r>
              <a:rPr lang="en-IN" dirty="0"/>
              <a:t>P(H,H,T,H,H,T,H,H,H,T)</a:t>
            </a:r>
          </a:p>
          <a:p>
            <a:r>
              <a:rPr lang="en-IN" dirty="0"/>
              <a:t>p ×p × (1−p) × p × p × (1−p) × p × p × p × (1−p)</a:t>
            </a:r>
          </a:p>
          <a:p>
            <a:r>
              <a:rPr lang="en-IN" dirty="0"/>
              <a:t>p=7</a:t>
            </a:r>
          </a:p>
          <a:p>
            <a:r>
              <a:rPr lang="en-IN" dirty="0"/>
              <a:t>(1-p)=7</a:t>
            </a:r>
          </a:p>
          <a:p>
            <a:r>
              <a:rPr lang="en-IN" b="1" dirty="0"/>
              <a:t>Likelihood function: </a:t>
            </a:r>
            <a:r>
              <a:rPr lang="en-IN" dirty="0"/>
              <a:t>L(p)=p</a:t>
            </a:r>
            <a:r>
              <a:rPr lang="en-IN" baseline="30000" dirty="0"/>
              <a:t>7</a:t>
            </a:r>
            <a:r>
              <a:rPr lang="en-IN" dirty="0"/>
              <a:t>(1−p)</a:t>
            </a:r>
            <a:r>
              <a:rPr lang="en-IN" baseline="30000" dirty="0"/>
              <a:t>3</a:t>
            </a:r>
            <a:r>
              <a:rPr lang="en-IN" dirty="0"/>
              <a:t>	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93638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550A-6E5E-F591-6278-81801777F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EB813-E972-24F3-E424-A52F0DE2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Take the Logarithm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96BC7-F286-332D-6350-707A88644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Likelihood function: </a:t>
            </a:r>
            <a:r>
              <a:rPr lang="en-IN" dirty="0"/>
              <a:t>L(p)=p</a:t>
            </a:r>
            <a:r>
              <a:rPr lang="en-IN" baseline="30000" dirty="0"/>
              <a:t>7</a:t>
            </a:r>
            <a:r>
              <a:rPr lang="en-IN" dirty="0"/>
              <a:t>(1−p)</a:t>
            </a:r>
            <a:r>
              <a:rPr lang="en-IN" baseline="30000" dirty="0"/>
              <a:t>3</a:t>
            </a:r>
            <a:r>
              <a:rPr lang="en-IN" dirty="0"/>
              <a:t>	</a:t>
            </a:r>
          </a:p>
          <a:p>
            <a:r>
              <a:rPr lang="en-IN" dirty="0"/>
              <a:t>Take natural Log:</a:t>
            </a:r>
          </a:p>
          <a:p>
            <a:pPr lvl="1"/>
            <a:r>
              <a:rPr lang="en-IN" b="1" dirty="0">
                <a:highlight>
                  <a:srgbClr val="00FF00"/>
                </a:highlight>
              </a:rPr>
              <a:t>ℓ(p)=ln L(p)</a:t>
            </a:r>
          </a:p>
        </p:txBody>
      </p:sp>
    </p:spTree>
    <p:extLst>
      <p:ext uri="{BB962C8B-B14F-4D97-AF65-F5344CB8AC3E}">
        <p14:creationId xmlns:p14="http://schemas.microsoft.com/office/powerpoint/2010/main" val="9743333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84BDB-0D6D-5BA4-8B58-15633F3C8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CDCF-3389-20AA-2266-7555D532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Take the Logarithm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D77AC-7918-6DA2-F967-DADF6FCDD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Likelihood function: </a:t>
            </a:r>
            <a:r>
              <a:rPr lang="en-IN" dirty="0"/>
              <a:t>L(p)=p</a:t>
            </a:r>
            <a:r>
              <a:rPr lang="en-IN" baseline="30000" dirty="0"/>
              <a:t>7</a:t>
            </a:r>
            <a:r>
              <a:rPr lang="en-IN" dirty="0"/>
              <a:t>(1−p)</a:t>
            </a:r>
            <a:r>
              <a:rPr lang="en-IN" baseline="30000" dirty="0"/>
              <a:t>3</a:t>
            </a:r>
            <a:r>
              <a:rPr lang="en-IN" dirty="0"/>
              <a:t>	</a:t>
            </a:r>
          </a:p>
          <a:p>
            <a:r>
              <a:rPr lang="en-IN" dirty="0"/>
              <a:t>Take natural Log:</a:t>
            </a:r>
          </a:p>
          <a:p>
            <a:pPr lvl="1"/>
            <a:r>
              <a:rPr lang="en-IN" dirty="0"/>
              <a:t>ℓ(p)=ln L(p)</a:t>
            </a:r>
          </a:p>
          <a:p>
            <a:pPr lvl="1"/>
            <a:r>
              <a:rPr lang="en-IN" dirty="0">
                <a:highlight>
                  <a:srgbClr val="00FF00"/>
                </a:highlight>
              </a:rPr>
              <a:t>ℓ(p)= ln [p</a:t>
            </a:r>
            <a:r>
              <a:rPr lang="en-IN" baseline="30000" dirty="0">
                <a:highlight>
                  <a:srgbClr val="00FF00"/>
                </a:highlight>
              </a:rPr>
              <a:t>7</a:t>
            </a:r>
            <a:r>
              <a:rPr lang="en-IN" dirty="0">
                <a:highlight>
                  <a:srgbClr val="00FF00"/>
                </a:highlight>
              </a:rPr>
              <a:t>(1−p)</a:t>
            </a:r>
            <a:r>
              <a:rPr lang="en-IN" baseline="30000" dirty="0">
                <a:highlight>
                  <a:srgbClr val="00FF00"/>
                </a:highlight>
              </a:rPr>
              <a:t>3</a:t>
            </a:r>
            <a:r>
              <a:rPr lang="en-IN" dirty="0">
                <a:highlight>
                  <a:srgbClr val="00FF00"/>
                </a:highlight>
              </a:rPr>
              <a:t>]   </a:t>
            </a:r>
            <a:r>
              <a:rPr lang="en-IN" dirty="0">
                <a:highlight>
                  <a:srgbClr val="00FF00"/>
                </a:highlight>
                <a:hlinkClick r:id="rId2" action="ppaction://hlinkfile"/>
              </a:rPr>
              <a:t>\\ln</a:t>
            </a:r>
            <a:r>
              <a:rPr lang="en-IN" dirty="0">
                <a:highlight>
                  <a:srgbClr val="00FF00"/>
                </a:highlight>
              </a:rPr>
              <a:t> (ab)</a:t>
            </a:r>
          </a:p>
          <a:p>
            <a:pPr lvl="1"/>
            <a:endParaRPr lang="en-IN" dirty="0">
              <a:highlight>
                <a:srgbClr val="00FF00"/>
              </a:highlight>
            </a:endParaRPr>
          </a:p>
          <a:p>
            <a:pPr lvl="1"/>
            <a:endParaRPr lang="en-IN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8062610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61B52-237C-AD08-0FB6-ACFCB339C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51AC9-A524-748B-4279-6E2C0E71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Take the Logarithm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077EA-CA9E-C3D8-3A41-90ABD908F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Likelihood function: </a:t>
            </a:r>
            <a:r>
              <a:rPr lang="en-IN" dirty="0"/>
              <a:t>L(p)=p</a:t>
            </a:r>
            <a:r>
              <a:rPr lang="en-IN" baseline="30000" dirty="0"/>
              <a:t>7</a:t>
            </a:r>
            <a:r>
              <a:rPr lang="en-IN" dirty="0"/>
              <a:t>(1−p)</a:t>
            </a:r>
            <a:r>
              <a:rPr lang="en-IN" baseline="30000" dirty="0"/>
              <a:t>3</a:t>
            </a:r>
            <a:r>
              <a:rPr lang="en-IN" dirty="0"/>
              <a:t>	</a:t>
            </a:r>
          </a:p>
          <a:p>
            <a:r>
              <a:rPr lang="en-IN" dirty="0"/>
              <a:t>Take natural Log:</a:t>
            </a:r>
          </a:p>
          <a:p>
            <a:pPr lvl="1"/>
            <a:r>
              <a:rPr lang="en-IN" dirty="0"/>
              <a:t>ℓ(p)=ln L(p)</a:t>
            </a:r>
          </a:p>
          <a:p>
            <a:pPr lvl="1"/>
            <a:r>
              <a:rPr lang="en-IN" dirty="0"/>
              <a:t>ℓ(p)= ln [p</a:t>
            </a:r>
            <a:r>
              <a:rPr lang="en-IN" baseline="30000" dirty="0"/>
              <a:t>7</a:t>
            </a:r>
            <a:r>
              <a:rPr lang="en-IN" dirty="0"/>
              <a:t>(1−p)</a:t>
            </a:r>
            <a:r>
              <a:rPr lang="en-IN" baseline="30000" dirty="0"/>
              <a:t>3</a:t>
            </a:r>
            <a:r>
              <a:rPr lang="en-IN" dirty="0"/>
              <a:t>]   </a:t>
            </a:r>
            <a:r>
              <a:rPr lang="en-IN" dirty="0">
                <a:hlinkClick r:id="rId2" action="ppaction://hlinkfile"/>
              </a:rPr>
              <a:t>\\ln</a:t>
            </a:r>
            <a:r>
              <a:rPr lang="en-IN" dirty="0"/>
              <a:t> (ab)</a:t>
            </a:r>
          </a:p>
          <a:p>
            <a:pPr lvl="1"/>
            <a:r>
              <a:rPr lang="en-IN" dirty="0">
                <a:highlight>
                  <a:srgbClr val="00FF00"/>
                </a:highlight>
              </a:rPr>
              <a:t>ℓ(p)=ln (p</a:t>
            </a:r>
            <a:r>
              <a:rPr lang="en-IN" baseline="30000" dirty="0">
                <a:highlight>
                  <a:srgbClr val="00FF00"/>
                </a:highlight>
              </a:rPr>
              <a:t>7</a:t>
            </a:r>
            <a:r>
              <a:rPr lang="en-IN" dirty="0">
                <a:highlight>
                  <a:srgbClr val="00FF00"/>
                </a:highlight>
              </a:rPr>
              <a:t>) + ln ((1−p)</a:t>
            </a:r>
            <a:r>
              <a:rPr lang="en-IN" baseline="30000" dirty="0">
                <a:highlight>
                  <a:srgbClr val="00FF00"/>
                </a:highlight>
              </a:rPr>
              <a:t>3</a:t>
            </a:r>
            <a:r>
              <a:rPr lang="en-IN" dirty="0">
                <a:highlight>
                  <a:srgbClr val="00FF00"/>
                </a:highlight>
              </a:rPr>
              <a:t>) </a:t>
            </a:r>
          </a:p>
          <a:p>
            <a:pPr lvl="1"/>
            <a:endParaRPr lang="en-IN" dirty="0">
              <a:highlight>
                <a:srgbClr val="00FF00"/>
              </a:highlight>
            </a:endParaRPr>
          </a:p>
          <a:p>
            <a:pPr lvl="1"/>
            <a:endParaRPr lang="en-IN" dirty="0">
              <a:highlight>
                <a:srgbClr val="00FF00"/>
              </a:highlight>
            </a:endParaRPr>
          </a:p>
          <a:p>
            <a:pPr lvl="1"/>
            <a:endParaRPr lang="en-IN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181948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DAC97-9586-35AF-C427-B38A8D717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7DC3C-71DF-C627-7DEE-0D9B06B47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Take the Logarithm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2E3E7-1C02-3BED-21A3-EB9A38F24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Likelihood function: </a:t>
            </a:r>
            <a:r>
              <a:rPr lang="en-IN" dirty="0"/>
              <a:t>L(p)=p</a:t>
            </a:r>
            <a:r>
              <a:rPr lang="en-IN" baseline="30000" dirty="0"/>
              <a:t>7</a:t>
            </a:r>
            <a:r>
              <a:rPr lang="en-IN" dirty="0"/>
              <a:t>(1−p)</a:t>
            </a:r>
            <a:r>
              <a:rPr lang="en-IN" baseline="30000" dirty="0"/>
              <a:t>3</a:t>
            </a:r>
            <a:r>
              <a:rPr lang="en-IN" dirty="0"/>
              <a:t>	</a:t>
            </a:r>
          </a:p>
          <a:p>
            <a:r>
              <a:rPr lang="en-IN" dirty="0"/>
              <a:t>Take natural Log:</a:t>
            </a:r>
          </a:p>
          <a:p>
            <a:pPr lvl="1"/>
            <a:r>
              <a:rPr lang="en-IN" dirty="0"/>
              <a:t>ℓ(p)=ln L(p)</a:t>
            </a:r>
          </a:p>
          <a:p>
            <a:pPr lvl="1"/>
            <a:r>
              <a:rPr lang="en-IN" dirty="0"/>
              <a:t>ℓ(p)= ln [p</a:t>
            </a:r>
            <a:r>
              <a:rPr lang="en-IN" baseline="30000" dirty="0"/>
              <a:t>7</a:t>
            </a:r>
            <a:r>
              <a:rPr lang="en-IN" dirty="0"/>
              <a:t>(1−p)</a:t>
            </a:r>
            <a:r>
              <a:rPr lang="en-IN" baseline="30000" dirty="0"/>
              <a:t>3</a:t>
            </a:r>
            <a:r>
              <a:rPr lang="en-IN" dirty="0"/>
              <a:t>]   </a:t>
            </a:r>
            <a:r>
              <a:rPr lang="en-IN" dirty="0">
                <a:hlinkClick r:id="rId2" action="ppaction://hlinkfile"/>
              </a:rPr>
              <a:t>\\ln</a:t>
            </a:r>
            <a:r>
              <a:rPr lang="en-IN" dirty="0"/>
              <a:t> (ab)</a:t>
            </a:r>
          </a:p>
          <a:p>
            <a:pPr lvl="1"/>
            <a:r>
              <a:rPr lang="en-IN" dirty="0">
                <a:highlight>
                  <a:srgbClr val="00FF00"/>
                </a:highlight>
              </a:rPr>
              <a:t>ℓ(p)=ln (p</a:t>
            </a:r>
            <a:r>
              <a:rPr lang="en-IN" baseline="30000" dirty="0">
                <a:highlight>
                  <a:srgbClr val="00FF00"/>
                </a:highlight>
              </a:rPr>
              <a:t>7</a:t>
            </a:r>
            <a:r>
              <a:rPr lang="en-IN" dirty="0">
                <a:highlight>
                  <a:srgbClr val="00FF00"/>
                </a:highlight>
              </a:rPr>
              <a:t>) + ln ((1−p)</a:t>
            </a:r>
            <a:r>
              <a:rPr lang="en-IN" baseline="30000" dirty="0">
                <a:highlight>
                  <a:srgbClr val="00FF00"/>
                </a:highlight>
              </a:rPr>
              <a:t>3</a:t>
            </a:r>
            <a:r>
              <a:rPr lang="en-IN" dirty="0">
                <a:highlight>
                  <a:srgbClr val="00FF00"/>
                </a:highlight>
              </a:rPr>
              <a:t>)  \\ ln(a</a:t>
            </a:r>
            <a:r>
              <a:rPr lang="en-IN" baseline="30000" dirty="0">
                <a:highlight>
                  <a:srgbClr val="00FF00"/>
                </a:highlight>
              </a:rPr>
              <a:t>b</a:t>
            </a:r>
            <a:r>
              <a:rPr lang="en-IN" dirty="0">
                <a:highlight>
                  <a:srgbClr val="00FF00"/>
                </a:highlight>
              </a:rPr>
              <a:t>)=b ln (a)</a:t>
            </a:r>
          </a:p>
          <a:p>
            <a:pPr lvl="1"/>
            <a:endParaRPr lang="en-IN" dirty="0">
              <a:highlight>
                <a:srgbClr val="00FF00"/>
              </a:highlight>
            </a:endParaRPr>
          </a:p>
          <a:p>
            <a:pPr lvl="1"/>
            <a:endParaRPr lang="en-IN" dirty="0">
              <a:highlight>
                <a:srgbClr val="00FF00"/>
              </a:highlight>
            </a:endParaRPr>
          </a:p>
          <a:p>
            <a:pPr lvl="1"/>
            <a:endParaRPr lang="en-IN" dirty="0">
              <a:highlight>
                <a:srgbClr val="00FF00"/>
              </a:highlight>
            </a:endParaRPr>
          </a:p>
          <a:p>
            <a:pPr lvl="1"/>
            <a:endParaRPr lang="en-IN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313887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59154-7B52-39DF-E589-990B432EE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DCA1D-71E1-F5D1-0D1C-5D8C9568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Take the Logarithm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7829E-6DC2-3BED-B90A-A1110C497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Likelihood function: </a:t>
            </a:r>
            <a:r>
              <a:rPr lang="en-IN" dirty="0"/>
              <a:t>L(p)=p</a:t>
            </a:r>
            <a:r>
              <a:rPr lang="en-IN" baseline="30000" dirty="0"/>
              <a:t>7</a:t>
            </a:r>
            <a:r>
              <a:rPr lang="en-IN" dirty="0"/>
              <a:t>(1−p)</a:t>
            </a:r>
            <a:r>
              <a:rPr lang="en-IN" baseline="30000" dirty="0"/>
              <a:t>3</a:t>
            </a:r>
            <a:r>
              <a:rPr lang="en-IN" dirty="0"/>
              <a:t>	</a:t>
            </a:r>
          </a:p>
          <a:p>
            <a:r>
              <a:rPr lang="en-IN" dirty="0"/>
              <a:t>Take natural Log:</a:t>
            </a:r>
          </a:p>
          <a:p>
            <a:pPr lvl="1"/>
            <a:r>
              <a:rPr lang="en-IN" dirty="0"/>
              <a:t>ℓ(p)=ln L(p)</a:t>
            </a:r>
          </a:p>
          <a:p>
            <a:pPr lvl="1"/>
            <a:r>
              <a:rPr lang="en-IN" dirty="0"/>
              <a:t>ℓ(p)= ln [p</a:t>
            </a:r>
            <a:r>
              <a:rPr lang="en-IN" baseline="30000" dirty="0"/>
              <a:t>7</a:t>
            </a:r>
            <a:r>
              <a:rPr lang="en-IN" dirty="0"/>
              <a:t>(1−p)</a:t>
            </a:r>
            <a:r>
              <a:rPr lang="en-IN" baseline="30000" dirty="0"/>
              <a:t>3</a:t>
            </a:r>
            <a:r>
              <a:rPr lang="en-IN" dirty="0"/>
              <a:t>]   </a:t>
            </a:r>
            <a:r>
              <a:rPr lang="en-IN" dirty="0">
                <a:hlinkClick r:id="rId2" action="ppaction://hlinkfile"/>
              </a:rPr>
              <a:t>\\ln</a:t>
            </a:r>
            <a:r>
              <a:rPr lang="en-IN" dirty="0"/>
              <a:t> (ab)</a:t>
            </a:r>
          </a:p>
          <a:p>
            <a:pPr lvl="1"/>
            <a:r>
              <a:rPr lang="en-IN" dirty="0"/>
              <a:t>ℓ(p)=ln (p</a:t>
            </a:r>
            <a:r>
              <a:rPr lang="en-IN" baseline="30000" dirty="0"/>
              <a:t>7</a:t>
            </a:r>
            <a:r>
              <a:rPr lang="en-IN" dirty="0"/>
              <a:t>) + ln ((1−p)</a:t>
            </a:r>
            <a:r>
              <a:rPr lang="en-IN" baseline="30000" dirty="0"/>
              <a:t>3</a:t>
            </a:r>
            <a:r>
              <a:rPr lang="en-IN" dirty="0"/>
              <a:t>)  \\ ln(a</a:t>
            </a:r>
            <a:r>
              <a:rPr lang="en-IN" baseline="30000" dirty="0"/>
              <a:t>b</a:t>
            </a:r>
            <a:r>
              <a:rPr lang="en-IN" dirty="0"/>
              <a:t>)=b ln (a)</a:t>
            </a:r>
          </a:p>
          <a:p>
            <a:r>
              <a:rPr lang="en-IN" dirty="0"/>
              <a:t>we obtain:</a:t>
            </a:r>
          </a:p>
          <a:p>
            <a:r>
              <a:rPr lang="en-IN" dirty="0">
                <a:highlight>
                  <a:srgbClr val="00FF00"/>
                </a:highlight>
              </a:rPr>
              <a:t>ℓ(p)=7 ln p+3 ln (1−p) // Log Likelihood Function</a:t>
            </a:r>
          </a:p>
          <a:p>
            <a:pPr lvl="1"/>
            <a:endParaRPr lang="en-IN" dirty="0">
              <a:highlight>
                <a:srgbClr val="00FF00"/>
              </a:highlight>
            </a:endParaRPr>
          </a:p>
          <a:p>
            <a:pPr lvl="1"/>
            <a:endParaRPr lang="en-IN" dirty="0">
              <a:highlight>
                <a:srgbClr val="00FF00"/>
              </a:highlight>
            </a:endParaRPr>
          </a:p>
          <a:p>
            <a:pPr lvl="1"/>
            <a:endParaRPr lang="en-IN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82807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6544E-C591-8B0B-E546-3EC9D128F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1BEF-0876-EDCF-7643-25C848426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Take the Logarithm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3225D-DF2B-D0BB-5B2A-2D2DB40A5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Likelihood function: </a:t>
            </a:r>
            <a:r>
              <a:rPr lang="en-IN" dirty="0"/>
              <a:t>L(p)=p</a:t>
            </a:r>
            <a:r>
              <a:rPr lang="en-IN" baseline="30000" dirty="0"/>
              <a:t>7</a:t>
            </a:r>
            <a:r>
              <a:rPr lang="en-IN" dirty="0"/>
              <a:t>(1−p)</a:t>
            </a:r>
            <a:r>
              <a:rPr lang="en-IN" baseline="30000" dirty="0"/>
              <a:t>3</a:t>
            </a:r>
            <a:r>
              <a:rPr lang="en-IN" dirty="0"/>
              <a:t>	</a:t>
            </a:r>
          </a:p>
          <a:p>
            <a:r>
              <a:rPr lang="en-IN" dirty="0"/>
              <a:t>Take natural Log:</a:t>
            </a:r>
          </a:p>
          <a:p>
            <a:pPr lvl="1"/>
            <a:r>
              <a:rPr lang="en-IN" dirty="0"/>
              <a:t>ℓ(p)=ln L(p)</a:t>
            </a:r>
          </a:p>
          <a:p>
            <a:pPr lvl="1"/>
            <a:r>
              <a:rPr lang="en-IN" dirty="0"/>
              <a:t>ℓ(p)= ln [p</a:t>
            </a:r>
            <a:r>
              <a:rPr lang="en-IN" baseline="30000" dirty="0"/>
              <a:t>7</a:t>
            </a:r>
            <a:r>
              <a:rPr lang="en-IN" dirty="0"/>
              <a:t>(1−p)</a:t>
            </a:r>
            <a:r>
              <a:rPr lang="en-IN" baseline="30000" dirty="0"/>
              <a:t>3</a:t>
            </a:r>
            <a:r>
              <a:rPr lang="en-IN" dirty="0"/>
              <a:t>]   </a:t>
            </a:r>
            <a:r>
              <a:rPr lang="en-IN" dirty="0">
                <a:hlinkClick r:id="rId2" action="ppaction://hlinkfile"/>
              </a:rPr>
              <a:t>\\ln</a:t>
            </a:r>
            <a:r>
              <a:rPr lang="en-IN" dirty="0"/>
              <a:t> (ab)</a:t>
            </a:r>
          </a:p>
          <a:p>
            <a:pPr lvl="1"/>
            <a:r>
              <a:rPr lang="en-IN" dirty="0"/>
              <a:t>ℓ(p)=ln (p</a:t>
            </a:r>
            <a:r>
              <a:rPr lang="en-IN" baseline="30000" dirty="0"/>
              <a:t>7</a:t>
            </a:r>
            <a:r>
              <a:rPr lang="en-IN" dirty="0"/>
              <a:t>) + ln ((1−p)</a:t>
            </a:r>
            <a:r>
              <a:rPr lang="en-IN" baseline="30000" dirty="0"/>
              <a:t>3</a:t>
            </a:r>
            <a:r>
              <a:rPr lang="en-IN" dirty="0"/>
              <a:t>)  \\ ln(a</a:t>
            </a:r>
            <a:r>
              <a:rPr lang="en-IN" baseline="30000" dirty="0"/>
              <a:t>b</a:t>
            </a:r>
            <a:r>
              <a:rPr lang="en-IN" dirty="0"/>
              <a:t>)=b ln (a)</a:t>
            </a:r>
          </a:p>
          <a:p>
            <a:r>
              <a:rPr lang="en-IN" dirty="0"/>
              <a:t>we obtain:</a:t>
            </a:r>
          </a:p>
          <a:p>
            <a:r>
              <a:rPr lang="en-IN" dirty="0">
                <a:highlight>
                  <a:srgbClr val="00FF00"/>
                </a:highlight>
              </a:rPr>
              <a:t>ℓ(p)=7 ln p+3 ln (1−p) // Log Likelihood Function</a:t>
            </a:r>
          </a:p>
          <a:p>
            <a:pPr lvl="1"/>
            <a:endParaRPr lang="en-IN" dirty="0">
              <a:highlight>
                <a:srgbClr val="00FF00"/>
              </a:highlight>
            </a:endParaRPr>
          </a:p>
          <a:p>
            <a:pPr lvl="1"/>
            <a:endParaRPr lang="en-IN" dirty="0">
              <a:highlight>
                <a:srgbClr val="00FF00"/>
              </a:highlight>
            </a:endParaRPr>
          </a:p>
          <a:p>
            <a:pPr lvl="1"/>
            <a:endParaRPr lang="en-IN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569839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A65A4-7BA6-D670-1DCF-3A3407D95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7E75-F159-683B-6112-9CE7F20E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5: Differentiate the Log-Likelihood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605BB-7F7F-3AA4-1237-9971324D8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/>
              <a:t>Differentiate with respect to p:</a:t>
            </a:r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B0218-1089-D770-E9E1-A8FDE6482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849" y="2487145"/>
            <a:ext cx="6074301" cy="130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9378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88F73-F402-EC74-45B3-A3675D117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E0CB-76C3-18C4-DA6C-19344EFE5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5: Differentiate the Log-Likelihood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C90F8-6D70-A325-425F-638DB158F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Differentiate with respect to p:</a:t>
            </a:r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AD8F39-74DD-6E59-91DC-7476986F3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207" y="2491208"/>
            <a:ext cx="2969171" cy="130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2346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8F6AD-3AE2-26D5-CC80-73EFAAEF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0F06-0A20-0C40-81C7-C9A164741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5: Differentiate the Log-Likelihood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54F83-3031-ED04-0105-06DDBC17F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Differentiate with respect to p: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1784ED-862C-6725-DC79-D9C30EED6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335" y="2573670"/>
            <a:ext cx="3156654" cy="171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761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F5867-3FED-F5A8-5FAE-6C844E623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D7D0C-7A62-B816-DFA7-6F70CFC9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5: Differentiate the Log-Likelihood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06C1C-E8CD-90C5-00BC-50BABCFB6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Differentiate with respect to p:</a:t>
            </a:r>
          </a:p>
          <a:p>
            <a:pPr lvl="1"/>
            <a:r>
              <a:rPr lang="en-IN" dirty="0"/>
              <a:t>Chain rule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82FE8E-6DAA-D31F-579E-3474F419A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322" y="2197010"/>
            <a:ext cx="4009086" cy="167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814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83980-2944-E37C-97D4-6827EAC5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81970-F83A-F21A-B7B7-1362BF6F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5: Differentiate the Log-Likelihood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D104A-8389-67F7-9451-B61257924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Differentiate with respect to p:</a:t>
            </a:r>
          </a:p>
          <a:p>
            <a:pPr lvl="1"/>
            <a:r>
              <a:rPr lang="en-IN" dirty="0"/>
              <a:t>Chain rule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D381CE-AFBF-75A8-8D2D-C9307A572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322" y="2197010"/>
            <a:ext cx="4009086" cy="16704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F77997-CAEF-F8CB-C986-8E89273E8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067" y="4002399"/>
            <a:ext cx="4785148" cy="167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585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09578-1A9E-10AA-CCAE-81AE2523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35579-5E1F-2B07-E7A2-30B1AB5E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5: Differentiate the Log-Likelihood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34A41-43E7-A03D-2C4E-64FCD9787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Differentiate with respect to p:</a:t>
            </a:r>
          </a:p>
          <a:p>
            <a:pPr lvl="1"/>
            <a:r>
              <a:rPr lang="en-IN" dirty="0"/>
              <a:t>Chain rule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2EB9B-A52E-0FE5-482F-16A255264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322" y="2197010"/>
            <a:ext cx="4009086" cy="16704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3A3251-2DB4-D938-D73E-B1BE60A76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067" y="4002399"/>
            <a:ext cx="4785148" cy="167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73970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0ABFD-D40D-1D87-6324-6684D22D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6241-EB87-79EE-9D45-BF273C4A1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Step 5: Differentiate the Log-Likelihood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769B6-9F8D-C45D-BB5C-2B2792B16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Differentiate with respect to p: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ECCA4A-E376-AAAB-2326-43275733E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1" y="2440439"/>
            <a:ext cx="5921114" cy="197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350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C93C4-1423-B5D1-AF59-5F8F82768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181C3-D3A9-A3FC-D8FB-7828C3C8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6: Set the Derivative Equal to Zero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C44FC-949A-1332-45B5-72C821366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Set first derivate to 0 for finding the maximum: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E5F30-7AB8-0D4F-0A13-601B73808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1098" y="2764535"/>
            <a:ext cx="3649803" cy="168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466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0F8BA-2798-5A2B-D3B6-7B8D10E7A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FF14-B621-953F-B741-9AEA1EDD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6: Set the Derivative Equal to Zero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B4DD9-797F-B8F7-6E87-59F2D8261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Set first derivate to 0 for finding the maximum: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D6281-E079-4743-0224-9A784E2D7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348" y="2617853"/>
            <a:ext cx="3089303" cy="135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9071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05942-C03F-8CD6-1EC9-8583D25E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1E66-C82F-15BB-D99C-3049074F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6: Set the Derivative Equal to Zero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5CBC8-5369-3400-D3E9-63AB942D7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/>
              <a:t>Set first derivate to 0 for finding the maximum: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42AF1A-F93A-973F-F6DB-5EC5F12DA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348" y="2617853"/>
            <a:ext cx="3089303" cy="1354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7868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E5133-FEFF-91DA-1ACC-419E34C5A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 there any simple method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197A9F-84D9-A5FE-63BB-AF954F51F9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850" y="1690688"/>
            <a:ext cx="5885513" cy="409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5516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A84F5-D53E-778F-BB42-323D5EA5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389F-937C-AB15-8D9D-7CBDBEB5F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Formula for Bernoulli MLE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7EC61B1-9535-025C-AB93-0A8DA27127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0657" y="2766218"/>
            <a:ext cx="6043011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357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F2FE5-BA14-8442-A5F0-C2066879F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6826-534F-1090-7DBC-99A1B1614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C5802-9480-C56A-77A2-7FEEE1A21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a student answers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True/False questions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independently, and gets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correct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the probability of a correct answer is p.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MLE of p.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39644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6F78A-D1EE-6C63-033B-22696C322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3FFC1-75BC-103B-7949-B529527BB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4020B-0406-3ADB-9D58-98D9F277F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a student answers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 True/False questions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independently, and gets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correct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the probability of a correct answer is p.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MLE of p.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: n(total no of trail) =20, x(total number of success)=14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MLE:???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3672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2149</Words>
  <Application>Microsoft Office PowerPoint</Application>
  <PresentationFormat>Widescreen</PresentationFormat>
  <Paragraphs>363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Aptos</vt:lpstr>
      <vt:lpstr>Aptos Display</vt:lpstr>
      <vt:lpstr>Arial</vt:lpstr>
      <vt:lpstr>Times New Roman</vt:lpstr>
      <vt:lpstr>Office Theme</vt:lpstr>
      <vt:lpstr>Maximum Likelihood Estimation (MLE)</vt:lpstr>
      <vt:lpstr>Definition</vt:lpstr>
      <vt:lpstr>Definition</vt:lpstr>
      <vt:lpstr>E.G</vt:lpstr>
      <vt:lpstr>E.G</vt:lpstr>
      <vt:lpstr>E.G</vt:lpstr>
      <vt:lpstr>E.G</vt:lpstr>
      <vt:lpstr>PowerPoint Presentation</vt:lpstr>
      <vt:lpstr>E.G</vt:lpstr>
      <vt:lpstr>Basic Idea Behind MLE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Probability vs Likelihood</vt:lpstr>
      <vt:lpstr>Probability vs Likelihood</vt:lpstr>
      <vt:lpstr>Probability vs Likelihood</vt:lpstr>
      <vt:lpstr>Probability vs Likelihood</vt:lpstr>
      <vt:lpstr>Probability vs Likelihood</vt:lpstr>
      <vt:lpstr>Probability vs Likelihood</vt:lpstr>
      <vt:lpstr>General Steps to Find MLE</vt:lpstr>
      <vt:lpstr>General Steps to Find MLE</vt:lpstr>
      <vt:lpstr>General Steps to Find MLE</vt:lpstr>
      <vt:lpstr>General Steps to Find MLE</vt:lpstr>
      <vt:lpstr>General Steps to Find MLE</vt:lpstr>
      <vt:lpstr>Step 2: Write the probability mass function or probability density function</vt:lpstr>
      <vt:lpstr>Step 3: Construct the likelihood function</vt:lpstr>
      <vt:lpstr>Step 3: Construct the likelihood function</vt:lpstr>
      <vt:lpstr>Step 4: Take the logarithm</vt:lpstr>
      <vt:lpstr>Step 5: Differentiate and solve</vt:lpstr>
      <vt:lpstr>Numerical Example: Coin Toss</vt:lpstr>
      <vt:lpstr>Numerical Example: Coin Toss</vt:lpstr>
      <vt:lpstr>Step 1: Define the Unknown Parameter</vt:lpstr>
      <vt:lpstr>Step 2: Identify the Probability Distribution</vt:lpstr>
      <vt:lpstr>Step 2: Identify the Probability Distribution</vt:lpstr>
      <vt:lpstr>Step 2: Identify the Probability Distribution</vt:lpstr>
      <vt:lpstr>Step 3: Write the Probability of the Observed Data</vt:lpstr>
      <vt:lpstr>Step 3: Write the Probability of the Observed Data</vt:lpstr>
      <vt:lpstr>Step 3: Write the Probability of the Observed Data</vt:lpstr>
      <vt:lpstr>Step 3: Write the Probability of the Observed Data</vt:lpstr>
      <vt:lpstr>Step 3: Write the Probability of the Observed Data</vt:lpstr>
      <vt:lpstr>Step 3: Write the Probability of the Observed Data</vt:lpstr>
      <vt:lpstr>Step 3: Write the Probability of the Observed Data</vt:lpstr>
      <vt:lpstr>Step 4: Take the Logarithm</vt:lpstr>
      <vt:lpstr>Step 4: Take the Logarithm</vt:lpstr>
      <vt:lpstr>Step 4: Take the Logarithm</vt:lpstr>
      <vt:lpstr>Step 4: Take the Logarithm</vt:lpstr>
      <vt:lpstr>Step 4: Take the Logarithm</vt:lpstr>
      <vt:lpstr>Step 4: Take the Logarithm</vt:lpstr>
      <vt:lpstr>Step 5: Differentiate the Log-Likelihood</vt:lpstr>
      <vt:lpstr>Step 5: Differentiate the Log-Likelihood</vt:lpstr>
      <vt:lpstr>Step 5: Differentiate the Log-Likelihood</vt:lpstr>
      <vt:lpstr>Step 5: Differentiate the Log-Likelihood</vt:lpstr>
      <vt:lpstr>Step 5: Differentiate the Log-Likelihood</vt:lpstr>
      <vt:lpstr>Step 5: Differentiate the Log-Likelihood</vt:lpstr>
      <vt:lpstr>Step 5: Differentiate the Log-Likelihood</vt:lpstr>
      <vt:lpstr>Step 6: Set the Derivative Equal to Zero</vt:lpstr>
      <vt:lpstr>Step 6: Set the Derivative Equal to Zero</vt:lpstr>
      <vt:lpstr>Step 6: Set the Derivative Equal to Zero</vt:lpstr>
      <vt:lpstr>Is there any simple method</vt:lpstr>
      <vt:lpstr>General Formula for Bernoulli MLE</vt:lpstr>
      <vt:lpstr>Example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35</cp:revision>
  <dcterms:created xsi:type="dcterms:W3CDTF">2026-08-23T13:44:15Z</dcterms:created>
  <dcterms:modified xsi:type="dcterms:W3CDTF">2026-08-23T15:21:55Z</dcterms:modified>
</cp:coreProperties>
</file>