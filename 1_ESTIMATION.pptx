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8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9" r:id="rId33"/>
    <p:sldId id="288" r:id="rId34"/>
    <p:sldId id="290" r:id="rId35"/>
    <p:sldId id="291" r:id="rId36"/>
    <p:sldId id="292" r:id="rId37"/>
    <p:sldId id="293" r:id="rId38"/>
    <p:sldId id="311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5" r:id="rId50"/>
    <p:sldId id="306" r:id="rId51"/>
    <p:sldId id="307" r:id="rId52"/>
    <p:sldId id="308" r:id="rId53"/>
    <p:sldId id="309" r:id="rId54"/>
    <p:sldId id="310" r:id="rId55"/>
    <p:sldId id="312" r:id="rId56"/>
    <p:sldId id="313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077C7C-B329-45ED-8525-A9784781F0F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78B7642-6003-462E-9201-87BDC43CA4F1}">
      <dgm:prSet/>
      <dgm:spPr/>
      <dgm:t>
        <a:bodyPr/>
        <a:lstStyle/>
        <a:p>
          <a:r>
            <a:rPr lang="en-IN"/>
            <a:t>Suppose a university has </a:t>
          </a:r>
          <a:r>
            <a:rPr lang="en-IN" b="1"/>
            <a:t>50,000 students</a:t>
          </a:r>
          <a:r>
            <a:rPr lang="en-IN"/>
            <a:t>.</a:t>
          </a:r>
          <a:endParaRPr lang="en-US"/>
        </a:p>
      </dgm:t>
    </dgm:pt>
    <dgm:pt modelId="{928156F1-6E91-41CE-9757-CB3058EC78F1}" type="parTrans" cxnId="{4C823F03-3DCB-4EB2-B3DE-40B3CC0B3BA2}">
      <dgm:prSet/>
      <dgm:spPr/>
      <dgm:t>
        <a:bodyPr/>
        <a:lstStyle/>
        <a:p>
          <a:endParaRPr lang="en-US"/>
        </a:p>
      </dgm:t>
    </dgm:pt>
    <dgm:pt modelId="{1661ABFA-3820-4474-BE68-41618CD94F86}" type="sibTrans" cxnId="{4C823F03-3DCB-4EB2-B3DE-40B3CC0B3BA2}">
      <dgm:prSet/>
      <dgm:spPr/>
      <dgm:t>
        <a:bodyPr/>
        <a:lstStyle/>
        <a:p>
          <a:endParaRPr lang="en-US"/>
        </a:p>
      </dgm:t>
    </dgm:pt>
    <dgm:pt modelId="{05A25B02-0513-4377-B23E-F04F648F40F0}">
      <dgm:prSet/>
      <dgm:spPr/>
      <dgm:t>
        <a:bodyPr/>
        <a:lstStyle/>
        <a:p>
          <a:r>
            <a:rPr lang="en-IN"/>
            <a:t>We want to know:</a:t>
          </a:r>
          <a:endParaRPr lang="en-US"/>
        </a:p>
      </dgm:t>
    </dgm:pt>
    <dgm:pt modelId="{B9EC3F57-6D62-409C-A697-1C409C1B23AF}" type="parTrans" cxnId="{4FA68D10-6AEE-46D9-99B8-6F855F25187C}">
      <dgm:prSet/>
      <dgm:spPr/>
      <dgm:t>
        <a:bodyPr/>
        <a:lstStyle/>
        <a:p>
          <a:endParaRPr lang="en-US"/>
        </a:p>
      </dgm:t>
    </dgm:pt>
    <dgm:pt modelId="{A9578B04-1460-4B76-B47A-94174B08D957}" type="sibTrans" cxnId="{4FA68D10-6AEE-46D9-99B8-6F855F25187C}">
      <dgm:prSet/>
      <dgm:spPr/>
      <dgm:t>
        <a:bodyPr/>
        <a:lstStyle/>
        <a:p>
          <a:endParaRPr lang="en-US"/>
        </a:p>
      </dgm:t>
    </dgm:pt>
    <dgm:pt modelId="{337B6BAF-1D8C-4AEC-8F4F-31748B20DAD0}">
      <dgm:prSet/>
      <dgm:spPr/>
      <dgm:t>
        <a:bodyPr/>
        <a:lstStyle/>
        <a:p>
          <a:r>
            <a:rPr lang="en-IN"/>
            <a:t>What is the average amount students spend on food every week?</a:t>
          </a:r>
          <a:endParaRPr lang="en-US"/>
        </a:p>
      </dgm:t>
    </dgm:pt>
    <dgm:pt modelId="{BFB7F7C9-8FF7-4B30-B44F-EDE3B884420C}" type="parTrans" cxnId="{FC460781-65E6-4E77-A23D-AB3A1CAB7DEC}">
      <dgm:prSet/>
      <dgm:spPr/>
      <dgm:t>
        <a:bodyPr/>
        <a:lstStyle/>
        <a:p>
          <a:endParaRPr lang="en-US"/>
        </a:p>
      </dgm:t>
    </dgm:pt>
    <dgm:pt modelId="{97CA68E7-1059-4B51-B6D4-E3B2C8C7A55C}" type="sibTrans" cxnId="{FC460781-65E6-4E77-A23D-AB3A1CAB7DEC}">
      <dgm:prSet/>
      <dgm:spPr/>
      <dgm:t>
        <a:bodyPr/>
        <a:lstStyle/>
        <a:p>
          <a:endParaRPr lang="en-US"/>
        </a:p>
      </dgm:t>
    </dgm:pt>
    <dgm:pt modelId="{9A577C59-3BF4-4FB3-84AD-A716505A3FAE}" type="pres">
      <dgm:prSet presAssocID="{90077C7C-B329-45ED-8525-A9784781F0F9}" presName="vert0" presStyleCnt="0">
        <dgm:presLayoutVars>
          <dgm:dir/>
          <dgm:animOne val="branch"/>
          <dgm:animLvl val="lvl"/>
        </dgm:presLayoutVars>
      </dgm:prSet>
      <dgm:spPr/>
    </dgm:pt>
    <dgm:pt modelId="{55BF6DB9-79A0-44A7-ABDC-ED739420B326}" type="pres">
      <dgm:prSet presAssocID="{E78B7642-6003-462E-9201-87BDC43CA4F1}" presName="thickLine" presStyleLbl="alignNode1" presStyleIdx="0" presStyleCnt="3"/>
      <dgm:spPr/>
    </dgm:pt>
    <dgm:pt modelId="{E3B1F5B3-AE7E-450D-8069-A509D2989A8C}" type="pres">
      <dgm:prSet presAssocID="{E78B7642-6003-462E-9201-87BDC43CA4F1}" presName="horz1" presStyleCnt="0"/>
      <dgm:spPr/>
    </dgm:pt>
    <dgm:pt modelId="{EBC25DA1-1CB6-4432-B639-E451CE97AB27}" type="pres">
      <dgm:prSet presAssocID="{E78B7642-6003-462E-9201-87BDC43CA4F1}" presName="tx1" presStyleLbl="revTx" presStyleIdx="0" presStyleCnt="3"/>
      <dgm:spPr/>
    </dgm:pt>
    <dgm:pt modelId="{9E10D308-3315-46E4-A731-935AF723EEA5}" type="pres">
      <dgm:prSet presAssocID="{E78B7642-6003-462E-9201-87BDC43CA4F1}" presName="vert1" presStyleCnt="0"/>
      <dgm:spPr/>
    </dgm:pt>
    <dgm:pt modelId="{669F0D0D-6BA9-41DE-B55C-1353C9137289}" type="pres">
      <dgm:prSet presAssocID="{05A25B02-0513-4377-B23E-F04F648F40F0}" presName="thickLine" presStyleLbl="alignNode1" presStyleIdx="1" presStyleCnt="3"/>
      <dgm:spPr/>
    </dgm:pt>
    <dgm:pt modelId="{43710575-0F1C-41B9-A0B4-C235364A111A}" type="pres">
      <dgm:prSet presAssocID="{05A25B02-0513-4377-B23E-F04F648F40F0}" presName="horz1" presStyleCnt="0"/>
      <dgm:spPr/>
    </dgm:pt>
    <dgm:pt modelId="{D1BD1078-8AFB-4D3C-9474-12BD4DCE8E80}" type="pres">
      <dgm:prSet presAssocID="{05A25B02-0513-4377-B23E-F04F648F40F0}" presName="tx1" presStyleLbl="revTx" presStyleIdx="1" presStyleCnt="3"/>
      <dgm:spPr/>
    </dgm:pt>
    <dgm:pt modelId="{C0A75AD8-B671-4B47-80F9-7689FDF8AE29}" type="pres">
      <dgm:prSet presAssocID="{05A25B02-0513-4377-B23E-F04F648F40F0}" presName="vert1" presStyleCnt="0"/>
      <dgm:spPr/>
    </dgm:pt>
    <dgm:pt modelId="{FF297F28-CDA8-47A6-962A-496844F5EEAA}" type="pres">
      <dgm:prSet presAssocID="{337B6BAF-1D8C-4AEC-8F4F-31748B20DAD0}" presName="thickLine" presStyleLbl="alignNode1" presStyleIdx="2" presStyleCnt="3"/>
      <dgm:spPr/>
    </dgm:pt>
    <dgm:pt modelId="{A44A97B3-2672-4B52-A26B-D86D9B4FDF00}" type="pres">
      <dgm:prSet presAssocID="{337B6BAF-1D8C-4AEC-8F4F-31748B20DAD0}" presName="horz1" presStyleCnt="0"/>
      <dgm:spPr/>
    </dgm:pt>
    <dgm:pt modelId="{D9A6D6AF-BFAE-47F7-9369-FB95892F0B0C}" type="pres">
      <dgm:prSet presAssocID="{337B6BAF-1D8C-4AEC-8F4F-31748B20DAD0}" presName="tx1" presStyleLbl="revTx" presStyleIdx="2" presStyleCnt="3"/>
      <dgm:spPr/>
    </dgm:pt>
    <dgm:pt modelId="{03F78A2B-BB86-4E8C-B831-087D092BF92B}" type="pres">
      <dgm:prSet presAssocID="{337B6BAF-1D8C-4AEC-8F4F-31748B20DAD0}" presName="vert1" presStyleCnt="0"/>
      <dgm:spPr/>
    </dgm:pt>
  </dgm:ptLst>
  <dgm:cxnLst>
    <dgm:cxn modelId="{4C823F03-3DCB-4EB2-B3DE-40B3CC0B3BA2}" srcId="{90077C7C-B329-45ED-8525-A9784781F0F9}" destId="{E78B7642-6003-462E-9201-87BDC43CA4F1}" srcOrd="0" destOrd="0" parTransId="{928156F1-6E91-41CE-9757-CB3058EC78F1}" sibTransId="{1661ABFA-3820-4474-BE68-41618CD94F86}"/>
    <dgm:cxn modelId="{4FA68D10-6AEE-46D9-99B8-6F855F25187C}" srcId="{90077C7C-B329-45ED-8525-A9784781F0F9}" destId="{05A25B02-0513-4377-B23E-F04F648F40F0}" srcOrd="1" destOrd="0" parTransId="{B9EC3F57-6D62-409C-A697-1C409C1B23AF}" sibTransId="{A9578B04-1460-4B76-B47A-94174B08D957}"/>
    <dgm:cxn modelId="{FC460781-65E6-4E77-A23D-AB3A1CAB7DEC}" srcId="{90077C7C-B329-45ED-8525-A9784781F0F9}" destId="{337B6BAF-1D8C-4AEC-8F4F-31748B20DAD0}" srcOrd="2" destOrd="0" parTransId="{BFB7F7C9-8FF7-4B30-B44F-EDE3B884420C}" sibTransId="{97CA68E7-1059-4B51-B6D4-E3B2C8C7A55C}"/>
    <dgm:cxn modelId="{08F76793-54FF-4D49-B7BD-A5E4A65B9E50}" type="presOf" srcId="{05A25B02-0513-4377-B23E-F04F648F40F0}" destId="{D1BD1078-8AFB-4D3C-9474-12BD4DCE8E80}" srcOrd="0" destOrd="0" presId="urn:microsoft.com/office/officeart/2008/layout/LinedList"/>
    <dgm:cxn modelId="{454B5398-1F70-4114-B066-8DF1575FB229}" type="presOf" srcId="{337B6BAF-1D8C-4AEC-8F4F-31748B20DAD0}" destId="{D9A6D6AF-BFAE-47F7-9369-FB95892F0B0C}" srcOrd="0" destOrd="0" presId="urn:microsoft.com/office/officeart/2008/layout/LinedList"/>
    <dgm:cxn modelId="{78DA06CE-870C-414C-9D36-569E529F935A}" type="presOf" srcId="{E78B7642-6003-462E-9201-87BDC43CA4F1}" destId="{EBC25DA1-1CB6-4432-B639-E451CE97AB27}" srcOrd="0" destOrd="0" presId="urn:microsoft.com/office/officeart/2008/layout/LinedList"/>
    <dgm:cxn modelId="{C5971DF5-84DF-4842-B05C-E45758DB9FE4}" type="presOf" srcId="{90077C7C-B329-45ED-8525-A9784781F0F9}" destId="{9A577C59-3BF4-4FB3-84AD-A716505A3FAE}" srcOrd="0" destOrd="0" presId="urn:microsoft.com/office/officeart/2008/layout/LinedList"/>
    <dgm:cxn modelId="{CAC0DBA2-9466-444C-B1DE-9EC0AF5B4AE5}" type="presParOf" srcId="{9A577C59-3BF4-4FB3-84AD-A716505A3FAE}" destId="{55BF6DB9-79A0-44A7-ABDC-ED739420B326}" srcOrd="0" destOrd="0" presId="urn:microsoft.com/office/officeart/2008/layout/LinedList"/>
    <dgm:cxn modelId="{3A3B82FD-45E8-4D0F-BBAA-F72F8ABA956F}" type="presParOf" srcId="{9A577C59-3BF4-4FB3-84AD-A716505A3FAE}" destId="{E3B1F5B3-AE7E-450D-8069-A509D2989A8C}" srcOrd="1" destOrd="0" presId="urn:microsoft.com/office/officeart/2008/layout/LinedList"/>
    <dgm:cxn modelId="{CB92CF4E-9D64-4995-A69F-2595BE7AC35C}" type="presParOf" srcId="{E3B1F5B3-AE7E-450D-8069-A509D2989A8C}" destId="{EBC25DA1-1CB6-4432-B639-E451CE97AB27}" srcOrd="0" destOrd="0" presId="urn:microsoft.com/office/officeart/2008/layout/LinedList"/>
    <dgm:cxn modelId="{FAAAB58C-0408-401C-BB3A-35363DBC109E}" type="presParOf" srcId="{E3B1F5B3-AE7E-450D-8069-A509D2989A8C}" destId="{9E10D308-3315-46E4-A731-935AF723EEA5}" srcOrd="1" destOrd="0" presId="urn:microsoft.com/office/officeart/2008/layout/LinedList"/>
    <dgm:cxn modelId="{B1EF6DD2-D5EE-4525-A6F4-FBFEE788E3F8}" type="presParOf" srcId="{9A577C59-3BF4-4FB3-84AD-A716505A3FAE}" destId="{669F0D0D-6BA9-41DE-B55C-1353C9137289}" srcOrd="2" destOrd="0" presId="urn:microsoft.com/office/officeart/2008/layout/LinedList"/>
    <dgm:cxn modelId="{0E75A5D2-F45A-40AF-9D19-1DC46B212849}" type="presParOf" srcId="{9A577C59-3BF4-4FB3-84AD-A716505A3FAE}" destId="{43710575-0F1C-41B9-A0B4-C235364A111A}" srcOrd="3" destOrd="0" presId="urn:microsoft.com/office/officeart/2008/layout/LinedList"/>
    <dgm:cxn modelId="{F9884A0B-5AE6-46CA-AECD-78540F09F824}" type="presParOf" srcId="{43710575-0F1C-41B9-A0B4-C235364A111A}" destId="{D1BD1078-8AFB-4D3C-9474-12BD4DCE8E80}" srcOrd="0" destOrd="0" presId="urn:microsoft.com/office/officeart/2008/layout/LinedList"/>
    <dgm:cxn modelId="{ACA5796E-0362-4FCD-AFA9-A3B7BC9908BA}" type="presParOf" srcId="{43710575-0F1C-41B9-A0B4-C235364A111A}" destId="{C0A75AD8-B671-4B47-80F9-7689FDF8AE29}" srcOrd="1" destOrd="0" presId="urn:microsoft.com/office/officeart/2008/layout/LinedList"/>
    <dgm:cxn modelId="{C0DF20E0-D841-41C4-910E-7880B4FCAB5A}" type="presParOf" srcId="{9A577C59-3BF4-4FB3-84AD-A716505A3FAE}" destId="{FF297F28-CDA8-47A6-962A-496844F5EEAA}" srcOrd="4" destOrd="0" presId="urn:microsoft.com/office/officeart/2008/layout/LinedList"/>
    <dgm:cxn modelId="{D924B997-E486-4394-93E2-D851F996BBB3}" type="presParOf" srcId="{9A577C59-3BF4-4FB3-84AD-A716505A3FAE}" destId="{A44A97B3-2672-4B52-A26B-D86D9B4FDF00}" srcOrd="5" destOrd="0" presId="urn:microsoft.com/office/officeart/2008/layout/LinedList"/>
    <dgm:cxn modelId="{FC208893-8DFA-4948-9A47-B334AB48491A}" type="presParOf" srcId="{A44A97B3-2672-4B52-A26B-D86D9B4FDF00}" destId="{D9A6D6AF-BFAE-47F7-9369-FB95892F0B0C}" srcOrd="0" destOrd="0" presId="urn:microsoft.com/office/officeart/2008/layout/LinedList"/>
    <dgm:cxn modelId="{52F2323F-FC0D-4285-883F-2F2AFA877C2B}" type="presParOf" srcId="{A44A97B3-2672-4B52-A26B-D86D9B4FDF00}" destId="{03F78A2B-BB86-4E8C-B831-087D092BF92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F6DB9-79A0-44A7-ABDC-ED739420B326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25DA1-1CB6-4432-B639-E451CE97AB27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/>
            <a:t>Suppose a university has </a:t>
          </a:r>
          <a:r>
            <a:rPr lang="en-IN" sz="4000" b="1" kern="1200"/>
            <a:t>50,000 students</a:t>
          </a:r>
          <a:r>
            <a:rPr lang="en-IN" sz="4000" kern="1200"/>
            <a:t>.</a:t>
          </a:r>
          <a:endParaRPr lang="en-US" sz="4000" kern="1200"/>
        </a:p>
      </dsp:txBody>
      <dsp:txXfrm>
        <a:off x="0" y="2124"/>
        <a:ext cx="10515600" cy="1449029"/>
      </dsp:txXfrm>
    </dsp:sp>
    <dsp:sp modelId="{669F0D0D-6BA9-41DE-B55C-1353C9137289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D1078-8AFB-4D3C-9474-12BD4DCE8E80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/>
            <a:t>We want to know:</a:t>
          </a:r>
          <a:endParaRPr lang="en-US" sz="4000" kern="1200"/>
        </a:p>
      </dsp:txBody>
      <dsp:txXfrm>
        <a:off x="0" y="1451154"/>
        <a:ext cx="10515600" cy="1449029"/>
      </dsp:txXfrm>
    </dsp:sp>
    <dsp:sp modelId="{FF297F28-CDA8-47A6-962A-496844F5EEAA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6D6AF-BFAE-47F7-9369-FB95892F0B0C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/>
            <a:t>What is the average amount students spend on food every week?</a:t>
          </a:r>
          <a:endParaRPr lang="en-US" sz="4000" kern="1200"/>
        </a:p>
      </dsp:txBody>
      <dsp:txXfrm>
        <a:off x="0" y="2900183"/>
        <a:ext cx="105156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3A0B-9135-4746-74D0-309EB0A5E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4864A-435B-3ADC-7575-D5BF1D1BE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C9EEE-EAAA-E290-BBC8-3C9AECE3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AE84-DBD0-8F07-6E4D-566C106BC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DD722-FD5D-793D-9BCE-98E97ADC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24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8C1C-1D90-3EDB-D10B-0AFDA6D7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CF8B9-9F19-EA18-1561-3C6505FAE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2EAA3-F2F9-789B-F604-0ED2533CA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53827-CE20-7547-7BBB-71E469F0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5746E-EF2E-EA28-4EB9-AFBA1A03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872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DFA2-1DEA-D67E-D0AC-DA818798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AD455-B0E8-3650-9F20-0BE033CBE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98BE7-AB04-A444-AE69-2DBF256F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AA67B-817B-A0F9-50BC-99A339E7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CB025-2BB3-0348-902E-22531CE95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73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7F5C-7EC2-0AE9-32CA-A15A5479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2A9FD-FEF0-40AF-1774-12B3B6A94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9AFEC-8D74-2909-8C25-C42EEE4B0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F5A8E-A2B8-92A6-C33A-39CEBBE69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4355A-CCB2-AECD-D2A7-5C333F7F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285EF-0BA6-62CB-FE57-0C5D5DEC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0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2056-17FD-54CF-AA42-B1D3A953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14C9F-FC59-F3E3-139F-F9D7FD452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65AAC-EB89-F7D3-449A-0A8C4B426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55905-E445-A92C-EF1B-B6F49CF8B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D63C5D-0E1E-AD05-34A1-B08066910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BA1EE6-9B8E-E47B-3E1D-BE66C1D5E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EA0DF4-B72C-FCED-6BF5-5D3851E11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453B7-F656-7117-E9CD-8F6928EB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89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6739-C4FD-5301-BAB8-9DA1B02A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934A3E-5FCF-A276-71E9-884C84731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97612-1570-3BE1-D321-CC22AD017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51AA2-2383-DF88-3BCF-96660984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43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2E6DB-704F-E18B-1F5E-59148A41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8C31E-B227-4AD1-7331-F8AE7D86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82ED9-3F79-3BC4-04AC-3788AC40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637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B27E-CA3B-BBBF-4A85-BF3BB14AB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244E6-5BD5-5869-9BDF-DE207563F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FE139-C70C-1741-0B6A-9F7DE2F73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79549-8142-75AB-2030-82B07F27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54C40-7C60-952B-87EF-D6891614C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026BD-6D4C-C3A4-6A8D-B2E535A1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28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E87F-613E-720F-4358-833239E60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43BF20-3AF2-CBAC-2026-7B60882E8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6F3D9-70E0-407F-2DB3-537F36E97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089DF-6076-DD4A-72B2-0D85ABA4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28319-8001-643F-40BF-8DA960E6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AE355-30CE-5588-4985-AAE48B6F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612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68D9-759C-AE1C-6178-C0F8DB8E5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F6C1B-E979-2168-B0C8-32D210A2D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C2A21-083D-19E5-F2B8-6FC35544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447F8-077C-7317-AD76-EA4EEABB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35D2F-3FFC-BF13-4210-51EF5AD33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3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18A32B-2D9C-CB02-4302-DEFAEBE74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A3264-5DFD-A6B8-92BF-E3E93EDDD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66762-5A3D-83C9-1801-C69F6113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EB2E2-E293-4E73-F298-02811217A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CD65-94EB-3DAB-4718-CD5B0368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75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F0BD7C-54F9-EFD3-2C11-C8A56B85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E9B31-87D4-B74D-20F6-1D2CB281F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35D5F-3497-B4C9-02DB-14AAA4E06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0CE2E-C8E4-4728-9FC3-97AFAB95AB4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64F8-77A5-435D-D21D-A2C088CCE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C8BF1-0B7D-6E65-9FA7-33442B6E7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1348D-8584-493D-8EC1-AD63F836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967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70D2C1-0E04-B475-A38D-CF5533A3C5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409" b="432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FD7952-AF2C-43AC-10FC-E80DF9D7B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ESTIMATION</a:t>
            </a:r>
          </a:p>
        </p:txBody>
      </p:sp>
    </p:spTree>
    <p:extLst>
      <p:ext uri="{BB962C8B-B14F-4D97-AF65-F5344CB8AC3E}">
        <p14:creationId xmlns:p14="http://schemas.microsoft.com/office/powerpoint/2010/main" val="1087437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E59F-776F-E504-A164-8D4E3993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Estimation?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6E8D1-87EE-7A7E-C901-F26914DE5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37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ED18-313D-3DD8-384C-7BDB1DCA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Population and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FA4A3-2437-9A6F-F2FC-FFFA9B69A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24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D95E-280E-AA4F-8E64-209D385A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Why Do We Estimate?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8117-09A8-425A-405B-D147C52E0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17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09C7-DE01-6FAA-07FE-BF61DA5A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D59D-A27E-4975-1F64-EB1710EA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Why Do We Estimate?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3F4E90-95D5-F9E7-2F9F-CDA7464732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966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1FBB-410C-2F4E-3885-6C80A915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Types of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3A67D-217F-F84A-079A-7823FA486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51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7E5D-6F0A-68BC-D99D-518CE4A1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7632B-AA54-14BB-5F53-9BDE382FD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Types of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026F6-69C7-8837-C138-238157164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Point Estimation</a:t>
            </a:r>
          </a:p>
          <a:p>
            <a:r>
              <a:rPr lang="en-IN" dirty="0"/>
              <a:t>A </a:t>
            </a:r>
            <a:r>
              <a:rPr lang="en-IN" b="1" dirty="0"/>
              <a:t>single value</a:t>
            </a:r>
            <a:r>
              <a:rPr lang="en-IN" dirty="0"/>
              <a:t> is used as the estimate.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846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4E8B-2174-6B63-6D19-D743BF95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Interval Estimation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DB9B1-A65F-0655-38C1-F5F60A0BB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Instead of providing one value, we provide a range.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552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E2054-5F2F-F95F-F8C3-A112BE57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5FD4-3885-6666-8D64-5E004BE1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Interval Estimation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A8E9C-852F-E0D8-FA15-385872300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Instead of providing one value, we provide a range.</a:t>
            </a:r>
          </a:p>
          <a:p>
            <a:r>
              <a:rPr lang="en-IN" dirty="0"/>
              <a:t>For example: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₹1,760&lt;μ&lt;₹1,940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069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2E6E-674C-4B4D-1F0A-071EBED4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4AC51-5E0E-01F9-4586-E394A89C2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Given: 2000, 2500, 1800, 2200, 3000,1700, 2400, 2100, 2800, 2500</a:t>
            </a:r>
          </a:p>
          <a:p>
            <a:r>
              <a:rPr lang="en-IN" b="1" dirty="0"/>
              <a:t>Sample Mean: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78426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D61F-E852-81C1-E758-8E04C4F4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Isn't ₹2,300 Exactly the Population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C8EF8-2A63-44A9-3CA4-677F3213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actual mean:  μ = ₹2,350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423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46FAE-10B1-CDCB-1965-6A430615D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604A3-51B5-1B56-E894-B0FABE02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Isn't ₹2,300 Exactly the Population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27EA4-9EEA-1E89-A664-34970382B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actual mean:  μ = ₹2,350</a:t>
            </a:r>
          </a:p>
          <a:p>
            <a:r>
              <a:rPr lang="en-IN" dirty="0"/>
              <a:t>sample estimate was: xˉ=₹2,300</a:t>
            </a:r>
          </a:p>
          <a:p>
            <a:r>
              <a:rPr lang="en-IN" dirty="0"/>
              <a:t>Therefore:</a:t>
            </a:r>
          </a:p>
          <a:p>
            <a:r>
              <a:rPr lang="en-IN" dirty="0"/>
              <a:t>xˉ−μ=2300−2350 =−₹50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8795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B0F84-ADF9-9907-CE8D-BC3C58453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597E-A863-8F1F-D2EF-6FDEE4ADF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Isn't ₹2,300 Exactly the Population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18DEA-FDFA-41F0-21E8-7BE5BE13F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actual mean:  μ = ₹2,350</a:t>
            </a:r>
          </a:p>
          <a:p>
            <a:r>
              <a:rPr lang="en-IN" dirty="0"/>
              <a:t>sample estimate was: xˉ=₹2,300</a:t>
            </a:r>
          </a:p>
          <a:p>
            <a:r>
              <a:rPr lang="en-IN" dirty="0"/>
              <a:t>Therefore:</a:t>
            </a:r>
          </a:p>
          <a:p>
            <a:r>
              <a:rPr lang="en-IN" dirty="0"/>
              <a:t>xˉ−μ=2300−2350 =−₹50</a:t>
            </a:r>
          </a:p>
          <a:p>
            <a:r>
              <a:rPr lang="en-IN" dirty="0"/>
              <a:t>This difference is called </a:t>
            </a:r>
            <a:r>
              <a:rPr lang="en-IN" b="1" dirty="0"/>
              <a:t>sampling error</a:t>
            </a:r>
            <a:r>
              <a:rPr lang="en-IN" dirty="0"/>
              <a:t>.</a:t>
            </a:r>
          </a:p>
          <a:p>
            <a:r>
              <a:rPr lang="en-IN" b="1" dirty="0"/>
              <a:t>Sampling Error=Sample Statistic−Population Parameter​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306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E14BC-4D9B-D8B4-51C4-A0323169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Estimator vs Estimate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C29EB-C2CE-998B-D215-20A3B5AB7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023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7FDE9-F75C-B714-8739-04A0F5CD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90C8-4081-6E15-9153-D163C59A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Estimator vs Estimate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1C6F9-950E-1B4B-DF64-C30FDB851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Estimator</a:t>
            </a:r>
          </a:p>
          <a:p>
            <a:r>
              <a:rPr lang="en-IN" dirty="0"/>
              <a:t>An </a:t>
            </a:r>
            <a:r>
              <a:rPr lang="en-IN" b="1" dirty="0"/>
              <a:t>estimator is a rule or formula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949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715CD-5F0C-8843-7E60-A2996B87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AB7DF-869D-8D58-BE17-CEA62C66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Estimator vs Estimate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0151D-ADB0-EFBC-7ED7-5C7B988CB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actual number obtained from the sample is the estimate.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879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F8F7C-901B-2CBF-BEF5-9ABA3DD6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a Good Estimator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4A22F-C90D-41C5-AEAD-7F914A083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Unbiasedness:</a:t>
            </a:r>
          </a:p>
          <a:p>
            <a:r>
              <a:rPr lang="en-IN" dirty="0"/>
              <a:t>An estimator is unbiased if its expected value equals the true population parameter.</a:t>
            </a:r>
          </a:p>
        </p:txBody>
      </p:sp>
    </p:spTree>
    <p:extLst>
      <p:ext uri="{BB962C8B-B14F-4D97-AF65-F5344CB8AC3E}">
        <p14:creationId xmlns:p14="http://schemas.microsoft.com/office/powerpoint/2010/main" val="2546340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BA9E-CB84-60E1-7BCE-B20B97ADB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32855-9E9E-722F-D2AA-6447E5390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estimator is </a:t>
            </a:r>
            <a:r>
              <a:rPr lang="en-IN" b="1" dirty="0"/>
              <a:t>consistent</a:t>
            </a:r>
            <a:r>
              <a:rPr lang="en-IN" dirty="0"/>
              <a:t> if it tends to approach the true population parameter as sample size increases.</a:t>
            </a:r>
          </a:p>
        </p:txBody>
      </p:sp>
    </p:spTree>
    <p:extLst>
      <p:ext uri="{BB962C8B-B14F-4D97-AF65-F5344CB8AC3E}">
        <p14:creationId xmlns:p14="http://schemas.microsoft.com/office/powerpoint/2010/main" val="1312020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B6F9B-C40C-0B6B-C16A-B10D945A0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C76E-486A-630F-4668-4E62D0BE5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634F1-D63A-0876-302D-065BDB0D2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the actual population mean is:</a:t>
            </a:r>
          </a:p>
          <a:p>
            <a:r>
              <a:rPr lang="en-IN" dirty="0"/>
              <a:t>μ=100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535871-1391-3A58-D963-C39C0EECE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165954"/>
              </p:ext>
            </p:extLst>
          </p:nvPr>
        </p:nvGraphicFramePr>
        <p:xfrm>
          <a:off x="1753849" y="3128867"/>
          <a:ext cx="7531308" cy="21945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765654">
                  <a:extLst>
                    <a:ext uri="{9D8B030D-6E8A-4147-A177-3AD203B41FA5}">
                      <a16:colId xmlns:a16="http://schemas.microsoft.com/office/drawing/2014/main" val="2478223190"/>
                    </a:ext>
                  </a:extLst>
                </a:gridCol>
                <a:gridCol w="3765654">
                  <a:extLst>
                    <a:ext uri="{9D8B030D-6E8A-4147-A177-3AD203B41FA5}">
                      <a16:colId xmlns:a16="http://schemas.microsoft.com/office/drawing/2014/main" val="2261277420"/>
                    </a:ext>
                  </a:extLst>
                </a:gridCol>
              </a:tblGrid>
              <a:tr h="295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Sample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Sample mean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109763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843254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432908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842616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100.8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721843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100.1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532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652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428D-102E-8E8E-056B-DFF52E7A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07C51-9C70-EFBB-EE9F-BC53059F9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Measures variability </a:t>
            </a:r>
            <a:r>
              <a:rPr lang="en-IN" b="1" dirty="0"/>
              <a:t>of an estimator across repeated samples.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20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5DAED-30F7-E310-573B-6D9E513C5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159E-114D-1FEC-5666-A95013131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87377-62C9-C3C0-C303-107296EE2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For the sample mean: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If population standard deviation is unknown: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54BED-2C99-6B91-89E2-4850D7AFC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737" y="2992048"/>
            <a:ext cx="3476426" cy="12951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F16CF7-3B60-7BBE-B569-2D874B051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683" y="4971036"/>
            <a:ext cx="3066480" cy="138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91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C062-D67E-DF43-27B7-74DD5AA1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the sample proportion: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B7DAE-9F73-2E0F-D8E1-B8E38F868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P^= No. of successes / total population</a:t>
            </a:r>
          </a:p>
          <a:p>
            <a:endParaRPr lang="en-US" b="1" dirty="0"/>
          </a:p>
          <a:p>
            <a:r>
              <a:rPr lang="en-US" b="1" dirty="0"/>
              <a:t>Interpretation of SE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Smaller SE means more precise estimates.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 is directly related to the variability of the population and inversely related to the sample size.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7120A6-F1AE-5DFB-E7BB-78D887307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088" y="1825625"/>
            <a:ext cx="3724780" cy="144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61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E9E3-D601-78BB-7F1A-5EE5BD6F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BE819-F160-FCAD-14B2-95AD73A85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Given: s=20 , n=100</a:t>
            </a:r>
          </a:p>
          <a:p>
            <a:r>
              <a:rPr lang="en-IN" b="1" dirty="0"/>
              <a:t>Calculate : Standard Error</a:t>
            </a:r>
          </a:p>
        </p:txBody>
      </p:sp>
    </p:spTree>
    <p:extLst>
      <p:ext uri="{BB962C8B-B14F-4D97-AF65-F5344CB8AC3E}">
        <p14:creationId xmlns:p14="http://schemas.microsoft.com/office/powerpoint/2010/main" val="4204083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77127-8CF5-CD19-9FD4-8C534421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 of Sample Size on 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6E9BD-9063-73DE-A371-826C50380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 </a:t>
            </a:r>
          </a:p>
          <a:p>
            <a:r>
              <a:rPr lang="en-IN" dirty="0"/>
              <a:t>σ=20,n=100.</a:t>
            </a:r>
            <a:endParaRPr lang="en-IN" b="1" dirty="0"/>
          </a:p>
          <a:p>
            <a:r>
              <a:rPr lang="en-IN" b="1" dirty="0"/>
              <a:t>Calculate: Standard Error</a:t>
            </a:r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77578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871E-40C2-2331-E270-8810D984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677C-F605-D668-A130-1E7DC3FE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 of Sample Size on 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07D1A-524C-8C83-DEAA-D5E4D408B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 </a:t>
            </a:r>
          </a:p>
          <a:p>
            <a:r>
              <a:rPr lang="en-IN" dirty="0"/>
              <a:t>σ=20,n=100.</a:t>
            </a:r>
            <a:endParaRPr lang="en-IN" b="1" dirty="0"/>
          </a:p>
          <a:p>
            <a:r>
              <a:rPr lang="en-IN" b="1" dirty="0"/>
              <a:t>SE= 2</a:t>
            </a:r>
          </a:p>
          <a:p>
            <a:r>
              <a:rPr lang="en-IN" dirty="0"/>
              <a:t>If n=400:= ??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18442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FAE46-6AD4-1157-7409-0F04E5D18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B789-598B-BD16-9B2A-CFF31AA4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 of Sample Size on 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08D0-F36C-FABD-1937-1EA5804F1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 </a:t>
            </a:r>
          </a:p>
          <a:p>
            <a:r>
              <a:rPr lang="en-IN" dirty="0"/>
              <a:t>σ=20,n=100.</a:t>
            </a:r>
            <a:endParaRPr lang="en-IN" b="1" dirty="0"/>
          </a:p>
          <a:p>
            <a:r>
              <a:rPr lang="en-IN" b="1" dirty="0"/>
              <a:t>SE= 2</a:t>
            </a:r>
          </a:p>
          <a:p>
            <a:r>
              <a:rPr lang="en-IN" dirty="0"/>
              <a:t>If n=400:= SE=1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08556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E8573-03F7-927C-3CBA-9FC8EDD55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B592-42C1-3570-6BE6-650BA0069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 of Sample Size on 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A2561-5B11-39B2-6415-9C2A6EC11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 </a:t>
            </a:r>
          </a:p>
          <a:p>
            <a:r>
              <a:rPr lang="en-IN" dirty="0"/>
              <a:t>σ=20,n=100.</a:t>
            </a:r>
            <a:endParaRPr lang="en-IN" b="1" dirty="0"/>
          </a:p>
          <a:p>
            <a:r>
              <a:rPr lang="en-IN" b="1" dirty="0"/>
              <a:t>SE= 2</a:t>
            </a:r>
          </a:p>
          <a:p>
            <a:r>
              <a:rPr lang="en-IN" dirty="0"/>
              <a:t>If n=400:= SE=1</a:t>
            </a:r>
          </a:p>
          <a:p>
            <a:r>
              <a:rPr lang="en-IN" dirty="0"/>
              <a:t>If n=1600:???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8719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7321-6AB6-CCB6-5CF3-24EA70B9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363B-5595-1AE0-CAD5-7B142EB9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 of Sample Size on 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9BB8-F35B-7A1A-D986-7F893A7FD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 </a:t>
            </a:r>
          </a:p>
          <a:p>
            <a:r>
              <a:rPr lang="en-IN" dirty="0"/>
              <a:t>σ=20,n=100.</a:t>
            </a:r>
            <a:endParaRPr lang="en-IN" b="1" dirty="0"/>
          </a:p>
          <a:p>
            <a:r>
              <a:rPr lang="en-IN" b="1" dirty="0"/>
              <a:t>SE= 2</a:t>
            </a:r>
          </a:p>
          <a:p>
            <a:r>
              <a:rPr lang="en-IN" dirty="0"/>
              <a:t>If n=400:= SE=1</a:t>
            </a:r>
          </a:p>
          <a:p>
            <a:r>
              <a:rPr lang="en-IN" dirty="0"/>
              <a:t>If n=1600: 0.5</a:t>
            </a:r>
          </a:p>
          <a:p>
            <a:endParaRPr lang="en-IN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31903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960BD-8859-BE33-36BA-5D2FCE46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Observation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86A6C1-97F5-9380-32DF-98346AB6B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757436"/>
              </p:ext>
            </p:extLst>
          </p:nvPr>
        </p:nvGraphicFramePr>
        <p:xfrm>
          <a:off x="904585" y="2112579"/>
          <a:ext cx="10406770" cy="419280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856752">
                  <a:extLst>
                    <a:ext uri="{9D8B030D-6E8A-4147-A177-3AD203B41FA5}">
                      <a16:colId xmlns:a16="http://schemas.microsoft.com/office/drawing/2014/main" val="1757720030"/>
                    </a:ext>
                  </a:extLst>
                </a:gridCol>
                <a:gridCol w="5550018">
                  <a:extLst>
                    <a:ext uri="{9D8B030D-6E8A-4147-A177-3AD203B41FA5}">
                      <a16:colId xmlns:a16="http://schemas.microsoft.com/office/drawing/2014/main" val="631285918"/>
                    </a:ext>
                  </a:extLst>
                </a:gridCol>
              </a:tblGrid>
              <a:tr h="10482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3000" b="1">
                          <a:solidFill>
                            <a:srgbClr val="FFFFFF"/>
                          </a:solidFill>
                        </a:rPr>
                        <a:t>Sample size</a:t>
                      </a:r>
                    </a:p>
                  </a:txBody>
                  <a:tcPr marL="431951" marR="259171" marT="259171" marB="259171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3000" b="1">
                          <a:solidFill>
                            <a:srgbClr val="FFFFFF"/>
                          </a:solidFill>
                        </a:rPr>
                        <a:t>Standard error</a:t>
                      </a:r>
                    </a:p>
                  </a:txBody>
                  <a:tcPr marL="431951" marR="259171" marT="259171" marB="25917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465399"/>
                  </a:ext>
                </a:extLst>
              </a:tr>
              <a:tr h="10482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3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100</a:t>
                      </a:r>
                    </a:p>
                  </a:txBody>
                  <a:tcPr marL="431951" marR="259171" marT="259171" marB="259171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3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431951" marR="259171" marT="259171" marB="25917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615546"/>
                  </a:ext>
                </a:extLst>
              </a:tr>
              <a:tr h="10482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3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400</a:t>
                      </a:r>
                    </a:p>
                  </a:txBody>
                  <a:tcPr marL="431951" marR="259171" marT="259171" marB="259171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3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431951" marR="259171" marT="259171" marB="25917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569460"/>
                  </a:ext>
                </a:extLst>
              </a:tr>
              <a:tr h="10482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3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1,600</a:t>
                      </a:r>
                    </a:p>
                  </a:txBody>
                  <a:tcPr marL="431951" marR="259171" marT="259171" marB="259171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3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0.5</a:t>
                      </a:r>
                    </a:p>
                  </a:txBody>
                  <a:tcPr marL="431951" marR="259171" marT="259171" marB="25917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88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616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B80BA-CAB8-0159-38D9-A56E7DD12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9B40-5A5A-AE95-6956-D642D286D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point estimate</a:t>
            </a:r>
            <a:r>
              <a:rPr lang="en-US" dirty="0"/>
              <a:t> is a single value that serves as the best guess for a population parameter.</a:t>
            </a:r>
          </a:p>
          <a:p>
            <a:r>
              <a:rPr lang="en-IN" dirty="0"/>
              <a:t>Common point estimators:</a:t>
            </a:r>
          </a:p>
          <a:p>
            <a:r>
              <a:rPr lang="en-US" b="1" dirty="0"/>
              <a:t>Mean</a:t>
            </a:r>
            <a:r>
              <a:rPr lang="en-US" dirty="0"/>
              <a:t> (for the population mean, μ):</a:t>
            </a:r>
            <a:endParaRPr lang="en-IN" dirty="0"/>
          </a:p>
        </p:txBody>
      </p:sp>
      <p:pic>
        <p:nvPicPr>
          <p:cNvPr id="5" name="Picture 4" descr="A number and number symbols&#10;&#10;Description automatically generated with medium confidence">
            <a:extLst>
              <a:ext uri="{FF2B5EF4-FFF2-40B4-BE49-F238E27FC236}">
                <a16:creationId xmlns:a16="http://schemas.microsoft.com/office/drawing/2014/main" id="{9C8441FE-3D09-96BF-2619-9D06A6FB4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254" y="3835984"/>
            <a:ext cx="4001058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B69B0B-0C16-3631-9F1A-2F674187C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4656"/>
            <a:ext cx="9144000" cy="473314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Proportion</a:t>
            </a:r>
            <a:r>
              <a:rPr lang="en-IN" dirty="0"/>
              <a:t> (for the population proportion, p):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where k is the number of successes in a sample.</a:t>
            </a: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5E7E5-200F-15D6-F3ED-BA89DAE1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97" y="1235821"/>
            <a:ext cx="2834331" cy="193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3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F8DDD-ACAB-C13C-4022-21CFEC06D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ECC03-9795-BFE0-AD08-9240CD89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the sample proportion: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AE5B2-320B-83BF-56CD-D24B169F0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P^= No. of successes / total population</a:t>
            </a:r>
          </a:p>
          <a:p>
            <a:endParaRPr lang="en-US" b="1" dirty="0"/>
          </a:p>
          <a:p>
            <a:r>
              <a:rPr lang="en-US" b="1" dirty="0"/>
              <a:t>Interpretation of SE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Smaller SE means more precise estimates.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 is directly related to the variability of the population and inversely related to the sample size.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9C3E74-2967-1A42-3D9F-F5C72D607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088" y="1825625"/>
            <a:ext cx="3724780" cy="144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7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9C69-62C5-4D08-4746-E5743EC5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2: Estimating a Proportion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766E4-E396-1CC7-93F6-E922FBB1C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in a survey of 200 people, 120 people say they prefer online shopping.</a:t>
            </a:r>
          </a:p>
          <a:p>
            <a:r>
              <a:rPr lang="en-US" b="1" dirty="0"/>
              <a:t>Calculate Point Estimate for the Proportion (p^​)</a:t>
            </a:r>
            <a:r>
              <a:rPr lang="en-US" dirty="0"/>
              <a:t>: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79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ACDFA-8702-AA5E-7FF4-A41CFA2C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E4F76-C714-E182-F033-792255117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2: Estimating a Proportion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E0108-A91D-4DEC-C67C-46814AE47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in a survey of 200 people, 120 people say they prefer online shopping.</a:t>
            </a:r>
          </a:p>
          <a:p>
            <a:r>
              <a:rPr lang="en-US" b="1" dirty="0"/>
              <a:t>Calculate Point Estimate for the Proportion (p^​)</a:t>
            </a:r>
            <a:r>
              <a:rPr lang="en-US" dirty="0"/>
              <a:t>: </a:t>
            </a:r>
          </a:p>
          <a:p>
            <a:r>
              <a:rPr lang="en-US" dirty="0"/>
              <a:t>120/200= 0.60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61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A394F-1E9A-191D-F5CA-4F97548D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2314-36E0-6B02-BCB0-3E23045B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2: Estimating a Proportion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3E594-7B5D-592D-7CAC-6BB1D9AA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in a survey of 200 people, 120 people say they prefer online shopping.</a:t>
            </a:r>
          </a:p>
          <a:p>
            <a:r>
              <a:rPr lang="en-US" b="1" dirty="0"/>
              <a:t>Calculate Point Estimate for the Proportion (p^​)</a:t>
            </a:r>
            <a:r>
              <a:rPr lang="en-US" dirty="0"/>
              <a:t>: </a:t>
            </a:r>
          </a:p>
          <a:p>
            <a:r>
              <a:rPr lang="en-US" dirty="0"/>
              <a:t>120/200= 0.60</a:t>
            </a:r>
          </a:p>
          <a:p>
            <a:r>
              <a:rPr lang="en-IN" b="1" dirty="0"/>
              <a:t>Calculate the Standard Error (SE)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02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B5CFC-6475-1F9F-E7F4-22BFC3964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D095-E972-E511-5B53-D1341169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2: Estimating a Proportion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29DAF-0CF7-02BC-BEA9-C0CEEC834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in a survey of 200 people, 120 people say they prefer online shopping.</a:t>
            </a:r>
          </a:p>
          <a:p>
            <a:r>
              <a:rPr lang="en-US" b="1" dirty="0"/>
              <a:t>Calculate Point Estimate for the Proportion (p^​)</a:t>
            </a:r>
            <a:r>
              <a:rPr lang="en-US" dirty="0"/>
              <a:t>: </a:t>
            </a:r>
          </a:p>
          <a:p>
            <a:r>
              <a:rPr lang="en-US" dirty="0"/>
              <a:t>120/200= 0.60</a:t>
            </a:r>
          </a:p>
          <a:p>
            <a:r>
              <a:rPr lang="en-IN" b="1" dirty="0"/>
              <a:t>Calculate the Standard Error (SE)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81E39-A590-9396-9874-ED94F3D1B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249" y="3450460"/>
            <a:ext cx="4958029" cy="110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4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34C8-925F-EE6E-B02C-90505101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49B7-7BE4-CE6C-6AE2-C3EA46A7F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2: Estimating a Proportion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D80E-3696-5D35-F8F9-85848B967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Suppose in a survey of 200 people, 120 people say they prefer online shopping.</a:t>
            </a:r>
          </a:p>
          <a:p>
            <a:r>
              <a:rPr lang="en-US" b="1" dirty="0"/>
              <a:t>Calculate Point Estimate for the Proportion (p^​)</a:t>
            </a:r>
            <a:r>
              <a:rPr lang="en-US" dirty="0"/>
              <a:t>: </a:t>
            </a:r>
          </a:p>
          <a:p>
            <a:r>
              <a:rPr lang="en-US" dirty="0"/>
              <a:t>120/200= 0.60</a:t>
            </a:r>
          </a:p>
          <a:p>
            <a:r>
              <a:rPr lang="en-IN" b="1" dirty="0"/>
              <a:t>Calculate the Standard Error (SE)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Interpretation</a:t>
            </a:r>
            <a:r>
              <a:rPr lang="en-US" dirty="0"/>
              <a:t>: We estimate that 60% of the population prefers online shopping, and the standard error of this estimate is about 3.47%.</a:t>
            </a:r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E784B-1C6A-5699-E8D6-E4A1CB6E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249" y="3450460"/>
            <a:ext cx="4958029" cy="110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1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29F73-C9AD-C8B0-574B-C92C9D7412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/>
              <a:t>Confidence Interval (CI)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AA951-C137-4B45-4CC6-EFC9C29FBF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5122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7732-D35B-5E84-4C2A-AF13205BD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Confidence Interval (CI)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6F020-786A-3DCA-8A56-7D78F25E2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take a sample, calculate an estimate, and then give a range of plausible values for the unknown population parameter.</a:t>
            </a:r>
          </a:p>
        </p:txBody>
      </p:sp>
    </p:spTree>
    <p:extLst>
      <p:ext uri="{BB962C8B-B14F-4D97-AF65-F5344CB8AC3E}">
        <p14:creationId xmlns:p14="http://schemas.microsoft.com/office/powerpoint/2010/main" val="2516108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C2036-E8FC-D782-458E-59247FAC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E.g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7D5C-85A6-0BED-611F-21806321E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average salary is ₹50,000</a:t>
            </a:r>
          </a:p>
        </p:txBody>
      </p:sp>
    </p:spTree>
    <p:extLst>
      <p:ext uri="{BB962C8B-B14F-4D97-AF65-F5344CB8AC3E}">
        <p14:creationId xmlns:p14="http://schemas.microsoft.com/office/powerpoint/2010/main" val="8246046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5035E-175D-3DAD-B37C-D0598FCF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30C9-1E07-8B7D-1D4B-88F42AC3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E.g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B99F-C3FD-BDC2-9743-7CED692AA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estimated average salary is ₹50,000, with a 95% confidence interval from ₹48,000 to ₹52,000.</a:t>
            </a:r>
          </a:p>
        </p:txBody>
      </p:sp>
    </p:spTree>
    <p:extLst>
      <p:ext uri="{BB962C8B-B14F-4D97-AF65-F5344CB8AC3E}">
        <p14:creationId xmlns:p14="http://schemas.microsoft.com/office/powerpoint/2010/main" val="523642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6464B-3E68-4AF1-63DF-AC2A8A663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4754-CA41-24D1-43A0-ADFB72F8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E.g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F8925-2A0A-FE47-8453-3F9FA188A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estimated average salary is ₹50,000, with a 95% confidence interval from ₹48,000 to ₹52,000.</a:t>
            </a:r>
          </a:p>
          <a:p>
            <a:r>
              <a:rPr lang="en-IN" dirty="0"/>
              <a:t>The second statement tells us both the </a:t>
            </a:r>
            <a:r>
              <a:rPr lang="en-IN" b="1" dirty="0"/>
              <a:t>estimate</a:t>
            </a:r>
            <a:r>
              <a:rPr lang="en-IN" dirty="0"/>
              <a:t> and its </a:t>
            </a:r>
            <a:r>
              <a:rPr lang="en-IN" b="1" dirty="0"/>
              <a:t>uncertainty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6876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B5709-B8F3-8BB7-E586-C65628D90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Why Do We Need a Confidence Interval?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57B06-B8E1-C7A6-A913-1C4305917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company wants to know:</a:t>
            </a:r>
          </a:p>
          <a:p>
            <a:pPr lvl="1"/>
            <a:r>
              <a:rPr lang="en-IN" dirty="0"/>
              <a:t>What is the average amount spent by a customer?</a:t>
            </a:r>
          </a:p>
          <a:p>
            <a:r>
              <a:rPr lang="en-IN" dirty="0"/>
              <a:t>Suppose we obtain:</a:t>
            </a:r>
          </a:p>
          <a:p>
            <a:pPr lvl="1"/>
            <a:r>
              <a:rPr lang="en-IN" dirty="0"/>
              <a:t>xˉ=₹5,000 </a:t>
            </a:r>
          </a:p>
          <a:p>
            <a:r>
              <a:rPr lang="en-IN" dirty="0"/>
              <a:t>We could use ₹5,000 as our point estimate.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5152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B1973-5870-B9A8-7B75-5060F03F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3214-7EEB-7E80-368E-517EECBE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Why Do We Need a Confidence Interval?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D39D-F50D-7A1A-9877-EAF849A74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PROBLRM??</a:t>
            </a:r>
          </a:p>
        </p:txBody>
      </p:sp>
    </p:spTree>
    <p:extLst>
      <p:ext uri="{BB962C8B-B14F-4D97-AF65-F5344CB8AC3E}">
        <p14:creationId xmlns:p14="http://schemas.microsoft.com/office/powerpoint/2010/main" val="23275488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5866B-A372-297F-637C-BCFB50A0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Structure of a Confidence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E4DAE-8A17-ADCE-A15E-25696C76C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general formula is:</a:t>
            </a:r>
          </a:p>
          <a:p>
            <a:r>
              <a:rPr lang="en-IN" b="1" dirty="0"/>
              <a:t>Confidence Interval=Point </a:t>
            </a:r>
            <a:r>
              <a:rPr lang="en-IN" b="1" dirty="0" err="1"/>
              <a:t>Estimate±Margin</a:t>
            </a:r>
            <a:r>
              <a:rPr lang="en-IN" b="1" dirty="0"/>
              <a:t> of Error</a:t>
            </a:r>
          </a:p>
        </p:txBody>
      </p:sp>
    </p:spTree>
    <p:extLst>
      <p:ext uri="{BB962C8B-B14F-4D97-AF65-F5344CB8AC3E}">
        <p14:creationId xmlns:p14="http://schemas.microsoft.com/office/powerpoint/2010/main" val="3354551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73BC7-F30E-5691-6C59-1C6818F22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3A8F-68E5-6F5C-E72F-9AC9D7EB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Structure of a Confidence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E888A-6CF3-3903-DD97-EB1EBF4A5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general formula is:</a:t>
            </a:r>
          </a:p>
          <a:p>
            <a:r>
              <a:rPr lang="en-IN" b="1" dirty="0"/>
              <a:t>Confidence Interval=Point </a:t>
            </a:r>
            <a:r>
              <a:rPr lang="en-IN" b="1" dirty="0" err="1"/>
              <a:t>Estimate±Margin</a:t>
            </a:r>
            <a:r>
              <a:rPr lang="en-IN" b="1" dirty="0"/>
              <a:t> of Error</a:t>
            </a:r>
          </a:p>
          <a:p>
            <a:endParaRPr lang="en-IN" b="1" dirty="0"/>
          </a:p>
          <a:p>
            <a:r>
              <a:rPr lang="en-IN" b="1" dirty="0"/>
              <a:t>Margin of Error=Critical </a:t>
            </a:r>
            <a:r>
              <a:rPr lang="en-IN" b="1" dirty="0" err="1"/>
              <a:t>Value×Standard</a:t>
            </a:r>
            <a:r>
              <a:rPr lang="en-IN" b="1" dirty="0"/>
              <a:t> Error</a:t>
            </a:r>
          </a:p>
        </p:txBody>
      </p:sp>
    </p:spTree>
    <p:extLst>
      <p:ext uri="{BB962C8B-B14F-4D97-AF65-F5344CB8AC3E}">
        <p14:creationId xmlns:p14="http://schemas.microsoft.com/office/powerpoint/2010/main" val="39674410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F7A65-7482-30FB-F039-5D7153E5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1FD6-9E52-F332-41CC-A948802E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Structure of a Confidence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6D6AB-F8F3-C942-B412-855552811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general formula is:</a:t>
            </a:r>
          </a:p>
          <a:p>
            <a:r>
              <a:rPr lang="en-IN" b="1" dirty="0"/>
              <a:t>Confidence Interval=Point </a:t>
            </a:r>
            <a:r>
              <a:rPr lang="en-IN" b="1" dirty="0" err="1"/>
              <a:t>Estimate±Margin</a:t>
            </a:r>
            <a:r>
              <a:rPr lang="en-IN" b="1" dirty="0"/>
              <a:t> of Error</a:t>
            </a:r>
          </a:p>
          <a:p>
            <a:endParaRPr lang="en-IN" b="1" dirty="0"/>
          </a:p>
          <a:p>
            <a:r>
              <a:rPr lang="en-IN" b="1" dirty="0"/>
              <a:t>Margin of Error=Critical </a:t>
            </a:r>
            <a:r>
              <a:rPr lang="en-IN" b="1" dirty="0" err="1"/>
              <a:t>Value×Standard</a:t>
            </a:r>
            <a:r>
              <a:rPr lang="en-IN" b="1" dirty="0"/>
              <a:t> Error</a:t>
            </a:r>
          </a:p>
          <a:p>
            <a:endParaRPr lang="en-IN" dirty="0"/>
          </a:p>
          <a:p>
            <a:r>
              <a:rPr lang="en-IN" dirty="0"/>
              <a:t>Therefore:</a:t>
            </a:r>
          </a:p>
          <a:p>
            <a:endParaRPr lang="en-IN" dirty="0"/>
          </a:p>
          <a:p>
            <a:r>
              <a:rPr lang="en-IN" b="1" dirty="0"/>
              <a:t>CI=Estimate±(Critical </a:t>
            </a:r>
            <a:r>
              <a:rPr lang="en-IN" b="1" dirty="0" err="1"/>
              <a:t>Value×SE</a:t>
            </a:r>
            <a:r>
              <a:rPr lang="en-IN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40929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E4AB1-8CA9-5BD4-8B48-3F4E1EF6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Critical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F72E1-B9E9-C1E9-A5E1-692D39353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using the standard normal distribution: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653FED-1497-97E5-A212-D45B4248C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198760"/>
              </p:ext>
            </p:extLst>
          </p:nvPr>
        </p:nvGraphicFramePr>
        <p:xfrm>
          <a:off x="1603947" y="2829063"/>
          <a:ext cx="7861092" cy="219456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930546">
                  <a:extLst>
                    <a:ext uri="{9D8B030D-6E8A-4147-A177-3AD203B41FA5}">
                      <a16:colId xmlns:a16="http://schemas.microsoft.com/office/drawing/2014/main" val="1132557871"/>
                    </a:ext>
                  </a:extLst>
                </a:gridCol>
                <a:gridCol w="3930546">
                  <a:extLst>
                    <a:ext uri="{9D8B030D-6E8A-4147-A177-3AD203B41FA5}">
                      <a16:colId xmlns:a16="http://schemas.microsoft.com/office/drawing/2014/main" val="1300642250"/>
                    </a:ext>
                  </a:extLst>
                </a:gridCol>
              </a:tblGrid>
              <a:tr h="2680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Confidence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Critical value (z^*)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485569"/>
                  </a:ext>
                </a:extLst>
              </a:tr>
              <a:tr h="2680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1.282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913881"/>
                  </a:ext>
                </a:extLst>
              </a:tr>
              <a:tr h="2680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1.645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409655"/>
                  </a:ext>
                </a:extLst>
              </a:tr>
              <a:tr h="2680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1.960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906081"/>
                  </a:ext>
                </a:extLst>
              </a:tr>
              <a:tr h="2680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98%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2.326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2395680"/>
                  </a:ext>
                </a:extLst>
              </a:tr>
              <a:tr h="2680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2.576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613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3924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DB384-F88E-3E54-11AA-9B3BE6071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AD8D-F447-FF02-FA54-6F99DF48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CE0E4-13EE-6C2C-0E10-A59959C2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a data scientist wants to estimate the </a:t>
            </a:r>
            <a:r>
              <a:rPr lang="en-IN" b="1" dirty="0"/>
              <a:t>average time users spend on an app</a:t>
            </a:r>
            <a:r>
              <a:rPr lang="en-IN" dirty="0"/>
              <a:t>.</a:t>
            </a:r>
          </a:p>
          <a:p>
            <a:r>
              <a:rPr lang="en-IN" dirty="0"/>
              <a:t>A random sample of:</a:t>
            </a:r>
          </a:p>
          <a:p>
            <a:pPr lvl="1"/>
            <a:r>
              <a:rPr lang="en-IN" dirty="0"/>
              <a:t>n=100 users is selected.</a:t>
            </a:r>
          </a:p>
          <a:p>
            <a:r>
              <a:rPr lang="en-IN" dirty="0"/>
              <a:t>The sample results are:</a:t>
            </a:r>
          </a:p>
          <a:p>
            <a:pPr lvl="1"/>
            <a:r>
              <a:rPr lang="en-IN" b="1" dirty="0"/>
              <a:t>xˉ=50 minutes s=10 minutes</a:t>
            </a:r>
          </a:p>
          <a:p>
            <a:r>
              <a:rPr lang="en-IN" dirty="0"/>
              <a:t>Construct a </a:t>
            </a:r>
            <a:r>
              <a:rPr lang="en-IN" b="1" dirty="0"/>
              <a:t>95% confidence interval</a:t>
            </a:r>
            <a:r>
              <a:rPr lang="en-IN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684639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0EF66-5437-B063-DA40-B75FDF28D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BADA-62FE-115F-6761-A4BF2DD4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2D6EA-5A08-61B7-D28C-A1CF91501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Calculate Standard Error: 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9495C-9B5E-5A65-C0A6-F224F634A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922" y="2741573"/>
            <a:ext cx="2821128" cy="137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299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F22CC-72FC-7C59-149B-691B85085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D937-6B91-4901-DC63-C145758D7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4E9DB-E91B-E959-DF41-0A0782213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Calculate Margin of Error:</a:t>
            </a:r>
          </a:p>
          <a:p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672FE-093D-5F54-F04A-37AC49A46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608" y="2668250"/>
            <a:ext cx="2978641" cy="116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07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07098-2FDE-AC24-1D2A-244B9275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FD2D-FAC8-CB44-9D6D-30A0A04D1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C5C42-932C-0026-FBD7-72D7284DE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Calculate Confidence Interval:</a:t>
            </a:r>
          </a:p>
          <a:p>
            <a:endParaRPr lang="en-IN" dirty="0"/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084F9-6B0F-ADEB-A6EF-AB92967D2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577" y="2623279"/>
            <a:ext cx="2545328" cy="101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635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6B5F-41E6-A6F1-22C0-7AF03316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2ABC2-8580-E8D7-E007-68E0DD242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CI=(48.04, 51.96)</a:t>
            </a:r>
          </a:p>
        </p:txBody>
      </p:sp>
    </p:spTree>
    <p:extLst>
      <p:ext uri="{BB962C8B-B14F-4D97-AF65-F5344CB8AC3E}">
        <p14:creationId xmlns:p14="http://schemas.microsoft.com/office/powerpoint/2010/main" val="30051100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C193A-5780-EBC6-732B-12074FF1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2AEE-73EA-B713-6E16-6B9092F2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F95EE-C011-9996-FFA5-43D32FD17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CI=(48.04, 51.96)</a:t>
            </a:r>
          </a:p>
          <a:p>
            <a:r>
              <a:rPr lang="en-IN" b="1" dirty="0"/>
              <a:t>Our best estimate is 50, but because we only used a sample, we are not 100% certain that the population average is exactly 50. The plausible range is approximately 48.04 to 51.96.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13A18-2C10-572D-26EC-7D86C720FFB0}"/>
              </a:ext>
            </a:extLst>
          </p:cNvPr>
          <p:cNvSpPr txBox="1"/>
          <p:nvPr/>
        </p:nvSpPr>
        <p:spPr>
          <a:xfrm>
            <a:off x="3852472" y="21286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88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571ED-AC58-CB11-B5F0-26607D131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AE0B9-779A-F400-E135-B95C7750D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data scientist wants to estimate the </a:t>
            </a:r>
            <a:r>
              <a:rPr lang="en-IN" b="1" dirty="0"/>
              <a:t>average daily time students spend on social media</a:t>
            </a:r>
            <a:r>
              <a:rPr lang="en-IN" dirty="0"/>
              <a:t>.</a:t>
            </a:r>
          </a:p>
          <a:p>
            <a:r>
              <a:rPr lang="en-IN" dirty="0"/>
              <a:t>A random sample of </a:t>
            </a:r>
            <a:r>
              <a:rPr lang="en-IN" b="1" dirty="0"/>
              <a:t>100 students</a:t>
            </a:r>
            <a:r>
              <a:rPr lang="en-IN" dirty="0"/>
              <a:t> is selected.</a:t>
            </a:r>
          </a:p>
          <a:p>
            <a:r>
              <a:rPr lang="en-IN" dirty="0"/>
              <a:t>From the sample, we find:</a:t>
            </a:r>
          </a:p>
          <a:p>
            <a:r>
              <a:rPr lang="en-IN" dirty="0"/>
              <a:t>n=100  xˉ=120 minutes s=20 minutes </a:t>
            </a:r>
          </a:p>
          <a:p>
            <a:r>
              <a:rPr lang="en-IN" dirty="0"/>
              <a:t>Construct a </a:t>
            </a:r>
            <a:r>
              <a:rPr lang="en-IN" b="1" dirty="0"/>
              <a:t>95% confidence interval</a:t>
            </a:r>
            <a:r>
              <a:rPr lang="en-IN" dirty="0"/>
              <a:t> for the population mean.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4834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DD55-CF1B-8619-1717-1FFF79ED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EB69B-F662-537C-6C5D-9AE5FC744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5F059-3504-F46A-5478-2EBA3053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Therefore:</a:t>
            </a:r>
          </a:p>
          <a:p>
            <a:r>
              <a:rPr lang="en-IN" dirty="0"/>
              <a:t>CI=(116.08, 123.92)​</a:t>
            </a:r>
          </a:p>
        </p:txBody>
      </p:sp>
    </p:spTree>
    <p:extLst>
      <p:ext uri="{BB962C8B-B14F-4D97-AF65-F5344CB8AC3E}">
        <p14:creationId xmlns:p14="http://schemas.microsoft.com/office/powerpoint/2010/main" val="1374840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1342</Words>
  <Application>Microsoft Office PowerPoint</Application>
  <PresentationFormat>Widescreen</PresentationFormat>
  <Paragraphs>249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Aptos</vt:lpstr>
      <vt:lpstr>Aptos Display</vt:lpstr>
      <vt:lpstr>Arial</vt:lpstr>
      <vt:lpstr>Office Theme</vt:lpstr>
      <vt:lpstr>ESTIMATION</vt:lpstr>
      <vt:lpstr>What is Estimation?</vt:lpstr>
      <vt:lpstr>Population and Sample</vt:lpstr>
      <vt:lpstr>Why Do We Estimate?</vt:lpstr>
      <vt:lpstr>Why Do We Estimate?</vt:lpstr>
      <vt:lpstr>Types of Estimation</vt:lpstr>
      <vt:lpstr>Types of Estimation</vt:lpstr>
      <vt:lpstr> Interval Estimation </vt:lpstr>
      <vt:lpstr> Interval Estimation </vt:lpstr>
      <vt:lpstr>Point Estimation</vt:lpstr>
      <vt:lpstr>Why Isn't ₹2,300 Exactly the Population Mean?</vt:lpstr>
      <vt:lpstr>Why Isn't ₹2,300 Exactly the Population Mean?</vt:lpstr>
      <vt:lpstr>Why Isn't ₹2,300 Exactly the Population Mean?</vt:lpstr>
      <vt:lpstr>Estimator vs Estimate</vt:lpstr>
      <vt:lpstr>Estimator vs Estimate</vt:lpstr>
      <vt:lpstr>Estimator vs Estimate</vt:lpstr>
      <vt:lpstr>Properties of a Good Estimator</vt:lpstr>
      <vt:lpstr>Consistency</vt:lpstr>
      <vt:lpstr>Consistency</vt:lpstr>
      <vt:lpstr>Standard Error</vt:lpstr>
      <vt:lpstr>Standard Error</vt:lpstr>
      <vt:lpstr>For the sample proportion:</vt:lpstr>
      <vt:lpstr>Example</vt:lpstr>
      <vt:lpstr>Effect of Sample Size on Standard Error</vt:lpstr>
      <vt:lpstr>Effect of Sample Size on Standard Error</vt:lpstr>
      <vt:lpstr>Effect of Sample Size on Standard Error</vt:lpstr>
      <vt:lpstr>Effect of Sample Size on Standard Error</vt:lpstr>
      <vt:lpstr>Effect of Sample Size on Standard Error</vt:lpstr>
      <vt:lpstr>Observation</vt:lpstr>
      <vt:lpstr>Point Estimates</vt:lpstr>
      <vt:lpstr>PowerPoint Presentation</vt:lpstr>
      <vt:lpstr>For the sample proportion:</vt:lpstr>
      <vt:lpstr>Example 2: Estimating a Proportion</vt:lpstr>
      <vt:lpstr>Example 2: Estimating a Proportion</vt:lpstr>
      <vt:lpstr>Example 2: Estimating a Proportion</vt:lpstr>
      <vt:lpstr>Example 2: Estimating a Proportion</vt:lpstr>
      <vt:lpstr>Example 2: Estimating a Proportion</vt:lpstr>
      <vt:lpstr>Confidence Interval (CI)</vt:lpstr>
      <vt:lpstr>Confidence Interval (CI)</vt:lpstr>
      <vt:lpstr>E.g</vt:lpstr>
      <vt:lpstr>E.g</vt:lpstr>
      <vt:lpstr>E.g</vt:lpstr>
      <vt:lpstr>Why Do We Need a Confidence Interval?</vt:lpstr>
      <vt:lpstr>Why Do We Need a Confidence Interval?</vt:lpstr>
      <vt:lpstr>Basic Structure of a Confidence Interval</vt:lpstr>
      <vt:lpstr>Basic Structure of a Confidence Interval</vt:lpstr>
      <vt:lpstr>Basic Structure of a Confidence Interval</vt:lpstr>
      <vt:lpstr>Critical value</vt:lpstr>
      <vt:lpstr>Example</vt:lpstr>
      <vt:lpstr>Example</vt:lpstr>
      <vt:lpstr>Example</vt:lpstr>
      <vt:lpstr>Example</vt:lpstr>
      <vt:lpstr>Result</vt:lpstr>
      <vt:lpstr>Result</vt:lpstr>
      <vt:lpstr>Class work</vt:lpstr>
      <vt:lpstr>Class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39</cp:revision>
  <dcterms:created xsi:type="dcterms:W3CDTF">2026-08-16T15:25:05Z</dcterms:created>
  <dcterms:modified xsi:type="dcterms:W3CDTF">2026-08-16T17:19:22Z</dcterms:modified>
</cp:coreProperties>
</file>