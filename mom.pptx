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7E41-C268-4D4E-A406-554FF1221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4953F-B93B-8FE2-DA3E-F5856E0B2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86D44-7C5E-7636-1CE6-4DBFDC23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3F358-3D7D-AF16-F17D-66B068A7A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580F5-A41D-AC46-AE9F-D5E84212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62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D2AB-A462-4E70-E877-6B772C83B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D5CC5-BBAB-5442-4F8C-3C9EA24F9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DD8B6-7866-187A-A8AA-E2340C59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0AB05-5B45-5010-ADB6-9926EDD61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FA568-CF8B-A729-4C53-86DC82CD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29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2EFE-CDEA-E465-5105-FDBCA6F0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051DE-70B2-9245-DF2C-966C6350F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5BC3B-4B35-D16B-8BBF-880F501D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56DB6-4555-065A-3DAE-60F2B9B1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8DF3A-DC90-31CE-35F4-D9B7165F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53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8BCD4-2454-732C-2611-4A10A50E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5253D-BEFB-81DB-8308-074DFFA53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E58FC-4D9D-1A2A-970B-7E20886F7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0B7E8-3B7F-9383-42ED-6BBCDA1F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CB9D9-F079-C618-46A0-E48A4A17C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A6762-D46C-0B13-B4EC-0BD290BA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2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F1B8-B370-6F40-2A8B-D459108B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E8BAD-2003-71EE-345F-5672C6DF2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50E57-A3F6-0369-40D7-2A97ACCB0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4001B-3523-4746-9011-95FC0B6ED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772F2-BE6C-C0D0-5092-80DEA1D24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FA6C87-602C-1758-0B42-69E64A963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ED2904-1FBE-DE84-D870-13871E63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8A1A92-3B70-BE1D-793D-6331E0EC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70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D27A-D029-396C-D192-F08158E0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8639C3-8980-805B-5C4A-4D7454B2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2BFB7-4B4D-97A8-86AD-9DE02CC8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EF877-150B-B5CA-D2E3-09FAF853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72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710D0-69FD-9516-C0EA-6F41F2D9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CF8A36-9BD2-BC31-FF9E-B847DCC2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8BE09-A7BB-242B-254C-A8AE12F1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68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9876-3463-5E0C-DCE7-12C76B29E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3B68-3386-56FB-986D-80AB227A0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6C4FD-3F6C-D09F-AEEA-8B69265A8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BE4D5-80B5-E44D-7A39-DE341151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CFA4C-5ABB-A9E4-32BC-83381016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D961F-5977-AA61-B25E-D8A70A45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750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44BE4-0FA4-7873-EFA4-2673FBF7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731DAF-D529-3084-BED7-E3E22F3EE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9972C-AC53-D545-AA7F-93CC9F288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023B5-3F19-B5E1-5DC3-C5596353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D866C-5EAD-F087-8DA3-7291C81E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0D207-AFC7-234D-5C2B-D77F77F2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21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D1DC-2CA8-067E-B294-DAFDFFE38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DCA36-D415-241E-80FA-4E4D87F9F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B7C14-452A-1FF2-35FA-5DBE0323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06901-DF80-C6C9-4A84-06CD2873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B8B18-75DE-69E5-6A3F-5CDE8D1D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86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D7D89-4C69-B5B7-1CF8-3549F40FD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3564A-125D-5843-FE77-1B7528CC4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8DDE0-0EB3-A36A-636F-04714E39B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525B-EE45-D75E-872A-E82D9779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3D198-023B-880D-7DFF-421B1A2E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53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572E29-C9BF-E8C8-420E-7121DDA2B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C431E-AB37-700F-07C6-7F26AB714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1EEE3-5FC9-6E59-E23D-5B7FD5942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3CC83-AFAE-47B2-9D8D-53F3DBDAA94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CA43-405E-B894-10E2-E75C023073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52112-27AD-3E8A-2897-02E05F3FC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9CC7A-E73E-4F3D-9DD2-02B12E324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33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F299-6E07-644B-89F7-67B3C245F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Point Estimation — Method of Moments</a:t>
            </a:r>
          </a:p>
        </p:txBody>
      </p:sp>
    </p:spTree>
    <p:extLst>
      <p:ext uri="{BB962C8B-B14F-4D97-AF65-F5344CB8AC3E}">
        <p14:creationId xmlns:p14="http://schemas.microsoft.com/office/powerpoint/2010/main" val="86942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7CD54-239C-6A10-973C-13A1B2A6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Point Estimation?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E711-DBC7-E857-D97C-BD34902D6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71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17E890-0000-A74D-3DBA-8CD39D9F4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69626"/>
                <a:ext cx="10515600" cy="5607337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Suppose we want to know the average height of all students in a college.</a:t>
                </a:r>
              </a:p>
              <a:p>
                <a:r>
                  <a:rPr lang="en-IN" dirty="0"/>
                  <a:t>Instead of measuring everyone, we take a sample of 50 students.</a:t>
                </a:r>
              </a:p>
              <a:p>
                <a:endParaRPr lang="en-IN" dirty="0"/>
              </a:p>
              <a:p>
                <a:r>
                  <a:rPr lang="en-IN" dirty="0"/>
                  <a:t>The sample average,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IN" dirty="0"/>
                  <a:t> can be used to estimate the population average,</a:t>
                </a:r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  <m:r>
                      <a:rPr lang="en-IN"/>
                      <m:t>.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So,</a:t>
                </a:r>
              </a:p>
              <a:p>
                <a:pPr algn="ctr"/>
                <a:r>
                  <a:rPr lang="en-IN" b="1" dirty="0"/>
                  <a:t>Xˉ is an estimator of μ​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17E890-0000-A74D-3DBA-8CD39D9F4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69626"/>
                <a:ext cx="10515600" cy="5607337"/>
              </a:xfrm>
              <a:blipFill>
                <a:blip r:embed="rId2"/>
                <a:stretch>
                  <a:fillRect l="-1043" t="-1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35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1CBC-D73A-FAC2-3A13-500BD5CE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Estimator?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81D5F-ED5F-D85D-E1A7-668320D13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938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D63C7-3956-4857-3E2B-53D11013A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C7F5-DBE1-3ADE-CD62-4A20D000D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Estimator?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4543D-1B48-70FE-8316-2DC61F6C13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An </a:t>
                </a:r>
                <a:r>
                  <a:rPr lang="en-IN" b="1" dirty="0"/>
                  <a:t>estimator</a:t>
                </a:r>
                <a:r>
                  <a:rPr lang="en-IN" dirty="0"/>
                  <a:t> is a formula calculated from sample observations to estimate an unknown population parameter.</a:t>
                </a:r>
              </a:p>
              <a:p>
                <a:r>
                  <a:rPr lang="en-IN" dirty="0"/>
                  <a:t>For example: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acc>
                          <m:accPr>
                            <m:chr m:val="̅"/>
                            <m:ctrlPr>
                              <a:rPr lang="en-IN" i="1"/>
                            </m:ctrlPr>
                          </m:accPr>
                          <m:e>
                            <m:r>
                              <a:rPr lang="en-IN" i="1"/>
                              <m:t>𝑋</m:t>
                            </m:r>
                          </m:e>
                        </m:acc>
                        <m:r>
                          <a:rPr lang="en-IN"/>
                          <m:t>=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i="1"/>
                                </m:ctrlPr>
                              </m:sSubPr>
                              <m:e>
                                <m:r>
                                  <a:rPr lang="en-IN" i="1"/>
                                  <m:t>𝑋</m:t>
                                </m:r>
                              </m:e>
                              <m:sub>
                                <m:r>
                                  <a:rPr lang="en-IN"/>
                                  <m:t>1</m:t>
                                </m:r>
                              </m:sub>
                            </m:sSub>
                            <m:r>
                              <a:rPr lang="en-IN"/>
                              <m:t>+</m:t>
                            </m:r>
                            <m:sSub>
                              <m:sSubPr>
                                <m:ctrlPr>
                                  <a:rPr lang="en-IN" i="1"/>
                                </m:ctrlPr>
                              </m:sSubPr>
                              <m:e>
                                <m:r>
                                  <a:rPr lang="en-IN" i="1"/>
                                  <m:t>𝑋</m:t>
                                </m:r>
                              </m:e>
                              <m:sub>
                                <m:r>
                                  <a:rPr lang="en-IN"/>
                                  <m:t>2</m:t>
                                </m:r>
                              </m:sub>
                            </m:sSub>
                            <m:r>
                              <a:rPr lang="en-IN"/>
                              <m:t>+⋯+</m:t>
                            </m:r>
                            <m:sSub>
                              <m:sSubPr>
                                <m:ctrlPr>
                                  <a:rPr lang="en-IN" i="1"/>
                                </m:ctrlPr>
                              </m:sSubPr>
                              <m:e>
                                <m:r>
                                  <a:rPr lang="en-IN" i="1"/>
                                  <m:t>𝑋</m:t>
                                </m:r>
                              </m:e>
                              <m:sub>
                                <m:r>
                                  <a:rPr lang="en-IN" i="1"/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IN" i="1"/>
                              <m:t>𝑛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is an estimator of the population mean </a:t>
                </a:r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</m:oMath>
                </a14:m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4543D-1B48-70FE-8316-2DC61F6C1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540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1BCF29-8B2B-D930-8BA7-A850B53CF7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766535"/>
              </p:ext>
            </p:extLst>
          </p:nvPr>
        </p:nvGraphicFramePr>
        <p:xfrm>
          <a:off x="838199" y="1825624"/>
          <a:ext cx="8755506" cy="3660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7753">
                  <a:extLst>
                    <a:ext uri="{9D8B030D-6E8A-4147-A177-3AD203B41FA5}">
                      <a16:colId xmlns:a16="http://schemas.microsoft.com/office/drawing/2014/main" val="3392744492"/>
                    </a:ext>
                  </a:extLst>
                </a:gridCol>
                <a:gridCol w="4377753">
                  <a:extLst>
                    <a:ext uri="{9D8B030D-6E8A-4147-A177-3AD203B41FA5}">
                      <a16:colId xmlns:a16="http://schemas.microsoft.com/office/drawing/2014/main" val="1255121996"/>
                    </a:ext>
                  </a:extLst>
                </a:gridCol>
              </a:tblGrid>
              <a:tr h="1168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420790"/>
                  </a:ext>
                </a:extLst>
              </a:tr>
              <a:tr h="668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Unknown population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013226"/>
                  </a:ext>
                </a:extLst>
              </a:tr>
              <a:tr h="668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Estimator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Formula used to estimate the parameter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065830"/>
                  </a:ext>
                </a:extLst>
              </a:tr>
              <a:tr h="1154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Estimate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Actual numerical answer obtained from the sample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636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25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CA93-4C3B-1A22-B9A1-B2668269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0C535-AD61-F4EB-B412-80A5DB35C5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example: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  <m:r>
                      <a:rPr lang="en-IN"/>
                      <m:t> → </m:t>
                    </m:r>
                    <m:acc>
                      <m:accPr>
                        <m:chr m:val="̅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𝑋</m:t>
                        </m:r>
                      </m:e>
                    </m:acc>
                    <m:r>
                      <a:rPr lang="en-IN"/>
                      <m:t> → 25.4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Here: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?????????</m:t>
                    </m:r>
                  </m:oMath>
                </a14:m>
                <a:r>
                  <a:rPr lang="en-IN" dirty="0"/>
                  <a:t>= parameter </a:t>
                </a:r>
              </a:p>
              <a:p>
                <a:pPr lvl="0"/>
                <a:r>
                  <a:rPr lang="en-IN" dirty="0"/>
                  <a:t>??????????= estimator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??????????</m:t>
                    </m:r>
                  </m:oMath>
                </a14:m>
                <a:r>
                  <a:rPr lang="en-IN" dirty="0"/>
                  <a:t>= estimate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0C535-AD61-F4EB-B412-80A5DB35C5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59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6E7AE-D0D5-F606-14ED-5FD0D6FA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F83D-982B-FE2D-BF38-F0BB8A05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92903-CCF6-AE9F-94BF-CCAF941846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example: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  <m:r>
                      <a:rPr lang="en-IN"/>
                      <m:t> → </m:t>
                    </m:r>
                    <m:acc>
                      <m:accPr>
                        <m:chr m:val="̅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𝑋</m:t>
                        </m:r>
                      </m:e>
                    </m:acc>
                    <m:r>
                      <a:rPr lang="en-IN"/>
                      <m:t> → 25.4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Here: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</m:oMath>
                </a14:m>
                <a:r>
                  <a:rPr lang="en-IN" dirty="0"/>
                  <a:t>= parameter </a:t>
                </a:r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𝑋</m:t>
                        </m:r>
                      </m:e>
                    </m:acc>
                  </m:oMath>
                </a14:m>
                <a:r>
                  <a:rPr lang="en-IN" dirty="0"/>
                  <a:t>= estimator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/>
                      <m:t>25.4</m:t>
                    </m:r>
                  </m:oMath>
                </a14:m>
                <a:r>
                  <a:rPr lang="en-IN" dirty="0"/>
                  <a:t>= estimate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92903-CCF6-AE9F-94BF-CCAF941846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2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75CF-6988-2106-037A-5F1A362C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Method of Moments?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45DCC-84B2-9413-8EAD-86B02899B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Method of Moments (MOM)</a:t>
            </a:r>
            <a:r>
              <a:rPr lang="en-IN" dirty="0"/>
              <a:t> is a simple method for finding an estimator.</a:t>
            </a:r>
          </a:p>
        </p:txBody>
      </p:sp>
    </p:spTree>
    <p:extLst>
      <p:ext uri="{BB962C8B-B14F-4D97-AF65-F5344CB8AC3E}">
        <p14:creationId xmlns:p14="http://schemas.microsoft.com/office/powerpoint/2010/main" val="734870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AB8C-39D2-8D84-8B79-D31D1F49E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C8571-1950-F2DB-25AA-BB9D679B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Method of Moments?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A0D5C-8097-6C53-C85E-716DEE456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Compare : Population moments with sample moments and make them equal.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15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5369-731C-836B-E636-628188851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moment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05BFF-BD30-6EEA-9F60-B95CE3E60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Moments </a:t>
            </a:r>
            <a:r>
              <a:rPr lang="en-IN" b="1" dirty="0"/>
              <a:t>are numbers that describe important features of a probability distribution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88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219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Point Estimation — Method of Moments</vt:lpstr>
      <vt:lpstr>What is Point Estimation?</vt:lpstr>
      <vt:lpstr>PowerPoint Presentation</vt:lpstr>
      <vt:lpstr>What is an Estimator?</vt:lpstr>
      <vt:lpstr>What is an Estimator?</vt:lpstr>
      <vt:lpstr>PowerPoint Presentation</vt:lpstr>
      <vt:lpstr>Question</vt:lpstr>
      <vt:lpstr>Question</vt:lpstr>
      <vt:lpstr>What is the Method of Moments?</vt:lpstr>
      <vt:lpstr>What is the Method of Moments?</vt:lpstr>
      <vt:lpstr>What is moment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7</cp:revision>
  <dcterms:created xsi:type="dcterms:W3CDTF">2026-08-26T07:20:48Z</dcterms:created>
  <dcterms:modified xsi:type="dcterms:W3CDTF">2026-08-26T07:37:44Z</dcterms:modified>
</cp:coreProperties>
</file>