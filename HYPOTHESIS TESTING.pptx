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3" r:id="rId58"/>
    <p:sldId id="312" r:id="rId59"/>
    <p:sldId id="315" r:id="rId60"/>
    <p:sldId id="314" r:id="rId61"/>
    <p:sldId id="316" r:id="rId62"/>
    <p:sldId id="317" r:id="rId63"/>
    <p:sldId id="318" r:id="rId64"/>
    <p:sldId id="319" r:id="rId65"/>
    <p:sldId id="320" r:id="rId66"/>
    <p:sldId id="321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7" r:id="rId111"/>
    <p:sldId id="366" r:id="rId112"/>
    <p:sldId id="368" r:id="rId113"/>
    <p:sldId id="369" r:id="rId114"/>
    <p:sldId id="370" r:id="rId115"/>
    <p:sldId id="371" r:id="rId116"/>
    <p:sldId id="372" r:id="rId117"/>
    <p:sldId id="374" r:id="rId118"/>
    <p:sldId id="373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3" r:id="rId147"/>
    <p:sldId id="402" r:id="rId148"/>
    <p:sldId id="404" r:id="rId149"/>
    <p:sldId id="405" r:id="rId150"/>
    <p:sldId id="408" r:id="rId151"/>
    <p:sldId id="406" r:id="rId152"/>
    <p:sldId id="407" r:id="rId1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5B6F-640A-3050-316E-A7781CD6F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7C748-F50A-A017-70A4-6F0ECB48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CE94C-27C3-674C-A7D3-9EFA4E02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CAD0-742F-2BC1-BEBE-3967D929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42FC3-4019-A5A2-11D5-02B7E4E3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0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828D-1BE4-5789-9258-2F85FDB4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B109E-5BA9-17EB-7FC0-A6AD26548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CEF06-6C91-D46B-5496-3398148D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E492-5CE4-1887-401B-A4B4BE75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C93B2-11CD-FA52-C6D2-35867847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3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E1BD-A30B-D103-7E63-C061C146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CCFFE-7462-B055-0FEE-3D85DEEED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585AB-1592-E0F2-E10F-1FABC0D6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88F44-7534-D1CF-85FD-8EDD9002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4E18-F562-F89C-7DD5-DDA50269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85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2088-444F-3134-6D2B-AA65A4C4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B7992-6A8B-84F0-FA9B-D35E429E8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7282F-A0CC-6AF5-87C1-112629850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203BB-1A0F-7FD4-337B-B18FED7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B0D34-EF0F-54D1-F87B-70287BCF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F63B3-397B-A0E7-166B-2D4C7402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2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AB9D-2FEE-4206-1042-AB52A85C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24760-321C-E829-29B6-A3FF75192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94806-3F74-2CD4-A8F8-ECA022CE8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E2D5C-FB28-54A0-4FF8-23541408B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10DBC-A50F-88CE-6FE5-9C0E465A7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09CB5-1618-E025-146A-1D0240E4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5F650-1F8A-2C4C-4178-78BAC15C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13B15-60BA-51A8-190A-5DC3D5F4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EC18-2FD0-B5C2-C80C-F3FDE318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782DD-7E4A-20CD-C40D-05AC681E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0EF1A-E4EA-7455-22F5-FDB13190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A69F5-5406-89AF-B9E2-43F023EA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6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AB436-A8D7-04BE-9809-EDB9730D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3F50B-8649-FC0F-5C70-5FC86862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2AFAE-59EC-5ACF-14F4-C81E0D84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3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CE7B-1E3D-889D-C2A2-A5ED1BF7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0260-700A-0731-8C0F-17D867EE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D588D-78E1-47BD-E6B8-1578978E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D0738-D9AA-1CAE-97B2-DCEA5168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584F0-A0C0-86ED-90D1-D91CCCAD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3B65F-82B3-178B-9CF4-C24098BD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11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2839-2123-E0F4-27A0-EEAC6C7BB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49C48-4B91-B412-82C6-AD4C39475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37618-132E-DB87-4F27-96B3C424E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9456A-A125-F3A0-3A68-6B9FDAC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CC992-21D7-06E0-E70E-71B7D52F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3A12F-3DC7-6B8C-8C7C-B19E19CA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11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760E-4D83-6564-2606-2FF676B9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FE87C-1158-DDC8-549A-B1F009B82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4E69D-B03F-66EE-E898-C1A3FAD3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8EF3-0173-30A6-3D55-71B5B86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DF21-73A5-3438-60E0-10BD9E77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66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C2608-703A-459F-3D04-607164187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880E0-263B-F9F7-6711-2CC8A5EB6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C3CDF-3431-2CAF-138E-38D32E5F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06E6-EE3B-7718-F263-EF473F8A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19EE3-AAE0-7BDC-CF96-80F90232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7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B23D2-0BB1-7C0B-B766-BD4E8921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DA596-E09C-E133-5E74-69E5297BB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51AE3-FD0A-14BF-FFE0-90C7094F0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7B459-F265-422A-A48C-F85EC335541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FEFD-C153-33F1-23BE-B4EBA8F1E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D5B7-8ABB-0CD0-ABED-C1CCE4EA9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8D8055-DC32-4FF6-A487-D9009A4AB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8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1641-0367-3F12-0AB1-AA92DF07B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HYPOTHESIS TESTING AND STATISTICAL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D4A10-4665-6E2A-C2A1-9BC7CDF059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DC4A-2972-E693-3EA6-BC2EC471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Statistics?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356A9-0BFB-8E88-11F0-F2FFFD74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49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B08B-80D0-CD5E-C2DF-E4E0F1F4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5686-11CF-3BE0-001D-90DA7C08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Statistics?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A7190-0A58-0A89-9B9B-07A2BCB2B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Statistics is the science of:</a:t>
            </a:r>
          </a:p>
          <a:p>
            <a:pPr lvl="1"/>
            <a:r>
              <a:rPr lang="en-IN" dirty="0"/>
              <a:t>Collecting data </a:t>
            </a:r>
          </a:p>
          <a:p>
            <a:pPr lvl="1"/>
            <a:r>
              <a:rPr lang="en-IN" dirty="0"/>
              <a:t>Organizing data </a:t>
            </a:r>
          </a:p>
          <a:p>
            <a:pPr lvl="1"/>
            <a:r>
              <a:rPr lang="en-IN" dirty="0" err="1"/>
              <a:t>Analyzing</a:t>
            </a:r>
            <a:r>
              <a:rPr lang="en-IN" dirty="0"/>
              <a:t> data </a:t>
            </a:r>
          </a:p>
          <a:p>
            <a:pPr lvl="1"/>
            <a:r>
              <a:rPr lang="en-IN" dirty="0"/>
              <a:t>Interpreting data </a:t>
            </a:r>
          </a:p>
          <a:p>
            <a:pPr lvl="1"/>
            <a:r>
              <a:rPr lang="en-IN" dirty="0"/>
              <a:t>Drawing conclusions from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22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266F-F589-D51E-7D95-D447B278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DED4-EF4C-BBE7-3BE9-83C91DE85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04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E12B-46E8-AC6A-9381-B465DF38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5FB2-6A82-FFBB-2E7E-07CD6E4F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4170F-685B-FB15-DBD2-E7CF806E8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Describes the data we already have.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Mean </a:t>
            </a:r>
          </a:p>
          <a:p>
            <a:pPr lvl="1"/>
            <a:r>
              <a:rPr lang="en-IN" dirty="0"/>
              <a:t>Median </a:t>
            </a:r>
          </a:p>
          <a:p>
            <a:pPr lvl="1"/>
            <a:r>
              <a:rPr lang="en-IN" dirty="0"/>
              <a:t>Mode </a:t>
            </a:r>
          </a:p>
          <a:p>
            <a:pPr lvl="1"/>
            <a:r>
              <a:rPr lang="en-IN" dirty="0"/>
              <a:t>Variance </a:t>
            </a:r>
          </a:p>
          <a:p>
            <a:pPr lvl="1"/>
            <a:r>
              <a:rPr lang="en-IN" dirty="0"/>
              <a:t>Standard deviation </a:t>
            </a:r>
          </a:p>
          <a:p>
            <a:pPr lvl="1"/>
            <a:r>
              <a:rPr lang="en-IN" dirty="0"/>
              <a:t>Graphs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61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6918-60E6-2075-467A-B189A6A8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FBC01-7143-5EF4-2EA3-FBDCB9E24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11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5B7A-F166-7537-53DE-2C4FA41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6EBD-D07F-22AF-36F4-FCB8796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0977-6863-A2BD-9773-06F76B8E3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a sample to make conclusions about a population.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Hypothesis testing </a:t>
            </a:r>
          </a:p>
          <a:p>
            <a:pPr lvl="1"/>
            <a:r>
              <a:rPr lang="en-IN" dirty="0"/>
              <a:t>Confidence intervals </a:t>
            </a:r>
          </a:p>
          <a:p>
            <a:pPr lvl="1"/>
            <a:r>
              <a:rPr lang="en-IN" dirty="0"/>
              <a:t>Regression </a:t>
            </a:r>
          </a:p>
          <a:p>
            <a:pPr lvl="1"/>
            <a:r>
              <a:rPr lang="en-IN" dirty="0"/>
              <a:t>ANOVA </a:t>
            </a:r>
          </a:p>
          <a:p>
            <a:pPr lvl="1"/>
            <a:r>
              <a:rPr lang="en-IN" dirty="0"/>
              <a:t>Z-test </a:t>
            </a:r>
          </a:p>
          <a:p>
            <a:pPr lvl="1"/>
            <a:r>
              <a:rPr lang="en-IN" dirty="0"/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410235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AC0E-6585-30DA-C2A6-0B5FDDDC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2CDF-40C3-C5A2-9F5B-9423BE38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F728-3AE9-8D77-A757-EFA57F23C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a sample to make conclusions about a population.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Hypothesis testing </a:t>
            </a:r>
          </a:p>
          <a:p>
            <a:pPr lvl="1"/>
            <a:r>
              <a:rPr lang="en-IN" dirty="0"/>
              <a:t>Confidence intervals </a:t>
            </a:r>
          </a:p>
          <a:p>
            <a:pPr lvl="1"/>
            <a:r>
              <a:rPr lang="en-IN" dirty="0"/>
              <a:t>Regression </a:t>
            </a:r>
          </a:p>
          <a:p>
            <a:pPr lvl="1"/>
            <a:r>
              <a:rPr lang="en-IN" dirty="0"/>
              <a:t>ANOVA </a:t>
            </a:r>
          </a:p>
          <a:p>
            <a:pPr lvl="1"/>
            <a:r>
              <a:rPr lang="en-IN" dirty="0"/>
              <a:t>Z-test </a:t>
            </a:r>
          </a:p>
          <a:p>
            <a:pPr lvl="1"/>
            <a:r>
              <a:rPr lang="en-IN" dirty="0"/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1282739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3DE6-243D-85F5-2883-3014B3AB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Statistical Inference?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48A2-2373-63FC-E227-A111F839A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want to know the average marks of </a:t>
            </a:r>
            <a:r>
              <a:rPr lang="en-IN" b="1" dirty="0"/>
              <a:t>all students</a:t>
            </a:r>
            <a:r>
              <a:rPr lang="en-IN" dirty="0"/>
              <a:t> in a university.</a:t>
            </a:r>
          </a:p>
        </p:txBody>
      </p:sp>
    </p:spTree>
    <p:extLst>
      <p:ext uri="{BB962C8B-B14F-4D97-AF65-F5344CB8AC3E}">
        <p14:creationId xmlns:p14="http://schemas.microsoft.com/office/powerpoint/2010/main" val="354368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022A9-E205-143C-B673-5B7C7357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0BCA-898D-4BD7-6879-7B233612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Statistical Inference?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B1AD7-EC79-F63B-3140-C1C6E44B62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we want to know the average marks of </a:t>
                </a:r>
                <a:r>
                  <a:rPr lang="en-IN" b="1" dirty="0"/>
                  <a:t>all students</a:t>
                </a:r>
                <a:r>
                  <a:rPr lang="en-IN" dirty="0"/>
                  <a:t> in a university.</a:t>
                </a:r>
              </a:p>
              <a:p>
                <a:r>
                  <a:rPr lang="en-IN" dirty="0"/>
                  <a:t>Select Sample: n =100</a:t>
                </a:r>
              </a:p>
              <a:p>
                <a:r>
                  <a:rPr lang="en-IN" dirty="0"/>
                  <a:t>Suppose their average mark is: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>
                        <a:latin typeface="Cambria Math" panose="02040503050406030204" pitchFamily="18" charset="0"/>
                      </a:rPr>
                      <m:t>=67.4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want to use this sample to say something about the entire population.</a:t>
                </a:r>
              </a:p>
              <a:p>
                <a:r>
                  <a:rPr lang="en-IN" b="1" dirty="0"/>
                  <a:t>This process is called: Statistical Inference​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B1AD7-EC79-F63B-3140-C1C6E44B6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30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6ED6-C546-1460-2C79-3E1D7442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components of – Statistical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DEF6C-57FD-C608-C288-4FDBE6F1C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Estimation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Hypothesis testing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79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F854-7E1D-67A8-AB2F-A2493B72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47FB6-9354-402F-87C1-A2195B3C01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population mean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population standard deviation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population variance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p=population proportion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47FB6-9354-402F-87C1-A2195B3C0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7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1B8D-ACE2-9D7E-2EE4-714B3299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BF9E-BF4E-8EDA-D311-A1D1452D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6716A-86AF-F4E0-095D-B18E10B0E7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Important sample quantities are: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sample mean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sample standard deviation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sample variance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sample proportion</m:t>
                    </m:r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6716A-86AF-F4E0-095D-B18E10B0E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103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6E5A-88D1-F408-07DB-9383652A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Parameter?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DDED-2FD5-D1EE-4641-6AD1F832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6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E08A-A486-4253-D965-BD3E3E48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4177-7310-D6B6-A137-1643BE3D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Parameter?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B0DBE-DBA7-A3F3-FD19-549DA6B0B3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</a:t>
                </a:r>
                <a:r>
                  <a:rPr lang="en-IN" b="1" dirty="0"/>
                  <a:t>parameter</a:t>
                </a:r>
                <a:r>
                  <a:rPr lang="en-IN" dirty="0"/>
                  <a:t> is a numerical characteristic of a population.</a:t>
                </a:r>
              </a:p>
              <a:p>
                <a:r>
                  <a:rPr lang="en-IN" dirty="0"/>
                  <a:t>Examples: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/>
                  <a:t>: Population mean.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IN" dirty="0"/>
                  <a:t>Population standard deviation.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: Population proportion.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B0DBE-DBA7-A3F3-FD19-549DA6B0B3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0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61BB-EEFD-62C0-D5BF-826AB8F6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F737-2746-FADB-426A-2B928F26C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11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925F-204E-D378-EBE0-84F63AA5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5401-2B3B-4DD1-A497-68A55241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E0E0-3924-4E8E-9808-6EF08068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repeatedly take samples of size 100.</a:t>
            </a:r>
          </a:p>
        </p:txBody>
      </p:sp>
    </p:spTree>
    <p:extLst>
      <p:ext uri="{BB962C8B-B14F-4D97-AF65-F5344CB8AC3E}">
        <p14:creationId xmlns:p14="http://schemas.microsoft.com/office/powerpoint/2010/main" val="289302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49FF-9DE9-BE3B-97AC-172C51A4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87D4-7D6E-A191-6A64-AF33301E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01AC-DB54-CF0F-1EFE-9EE61F18A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repeatedly take samples of size 100.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98B96-B995-B6D0-9AAB-59A8CD63A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917573"/>
              </p:ext>
            </p:extLst>
          </p:nvPr>
        </p:nvGraphicFramePr>
        <p:xfrm>
          <a:off x="1387423" y="284827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46650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87905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Sample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71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47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001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E767-482F-FF9B-F2B6-078E9420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94C5-B8C6-14AB-F460-24E52F66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B8EA6-06D6-1479-B957-5B3F86AA5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Suppose we repeatedly take samples of size 100.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The distribution of all possible sample means is called the: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Sampling distribution of </m:t>
                        </m:r>
                        <m:acc>
                          <m:accPr>
                            <m:chr m:val="̅"/>
                            <m:ctrlPr>
                              <a:rPr lang="en-IN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borderBox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B8EA6-06D6-1479-B957-5B3F86AA5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2707A1-5FD4-E3E9-416A-11F5A06DC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615382"/>
              </p:ext>
            </p:extLst>
          </p:nvPr>
        </p:nvGraphicFramePr>
        <p:xfrm>
          <a:off x="1372433" y="2368446"/>
          <a:ext cx="8128000" cy="2450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46650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87905540"/>
                    </a:ext>
                  </a:extLst>
                </a:gridCol>
              </a:tblGrid>
              <a:tr h="595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Sample mean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171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68.4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47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47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69.8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10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72.1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20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987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868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88AC-C4CB-C2C8-F282-A46D2263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Standard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7AB04-25B7-B71D-FAB0-D30300D42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the sample mean: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is unknown: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7AB04-25B7-B71D-FAB0-D30300D42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293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1518-A8F8-61F9-7995-72CC9D96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Example — Standard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90EDB-5F8D-7622-4CD6-5518F22611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and:</a:t>
                </a:r>
              </a:p>
              <a:p>
                <a:r>
                  <a:rPr lang="en-IN" dirty="0"/>
                  <a:t>n=100</a:t>
                </a:r>
              </a:p>
              <a:p>
                <a:r>
                  <a:rPr lang="en-IN" dirty="0"/>
                  <a:t>Calculate:?????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90EDB-5F8D-7622-4CD6-5518F22611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710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9B47-F583-AF9B-0C49-A810D9D6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4B90-E07C-CB12-30C2-46A1B9CE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Example — Standard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30CB40-5F95-655E-EEFA-5B8FC39FD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and:</a:t>
                </a:r>
              </a:p>
              <a:p>
                <a:r>
                  <a:rPr lang="en-IN" dirty="0"/>
                  <a:t>n=100</a:t>
                </a:r>
              </a:p>
              <a:p>
                <a:r>
                  <a:rPr lang="en-IN" dirty="0"/>
                  <a:t>Calculate:?????</a:t>
                </a:r>
              </a:p>
              <a:p>
                <a:r>
                  <a:rPr lang="en-IN" dirty="0"/>
                  <a:t>Now increase sample size: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30CB40-5F95-655E-EEFA-5B8FC39FD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106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8B4-30F4-1D32-9ADA-A04A22A0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604F-CEC4-4F23-E004-19CD723B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Example — Standard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C0121-D74A-E69D-BFF3-FACA3A99B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and:</a:t>
                </a:r>
              </a:p>
              <a:p>
                <a:r>
                  <a:rPr lang="en-IN" dirty="0"/>
                  <a:t>n=100</a:t>
                </a:r>
              </a:p>
              <a:p>
                <a:r>
                  <a:rPr lang="en-IN" dirty="0"/>
                  <a:t>Calculate:?????</a:t>
                </a:r>
              </a:p>
              <a:p>
                <a:r>
                  <a:rPr lang="en-IN" dirty="0"/>
                  <a:t>Now increase sample size:</a:t>
                </a:r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C0121-D74A-E69D-BFF3-FACA3A99B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0459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E549-AB5D-A597-C4FE-943B9267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C2F7-A614-A1A0-15A9-C5E63D6E4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Hypothesis testing is a statistical procedure used to determine whether sample data provide sufficient evidence against a stated null hypothesis about a population.</a:t>
            </a:r>
          </a:p>
        </p:txBody>
      </p:sp>
    </p:spTree>
    <p:extLst>
      <p:ext uri="{BB962C8B-B14F-4D97-AF65-F5344CB8AC3E}">
        <p14:creationId xmlns:p14="http://schemas.microsoft.com/office/powerpoint/2010/main" val="1029426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A7B2-0CA9-F19E-7EC1-6A67888A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ADB-09C2-2A77-E54D-B4EEC8CE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2DB0-7363-A826-314C-61CC3C09D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172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FC90-842A-79C7-D90B-27F3ACD0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3331E-7B05-B0EC-7A99-FE6EB1B30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a company claims:</a:t>
                </a:r>
              </a:p>
              <a:p>
                <a:r>
                  <a:rPr lang="en-IN" dirty="0"/>
                  <a:t>Average battery life is 10 hours.</a:t>
                </a:r>
              </a:p>
              <a:p>
                <a:r>
                  <a:rPr lang="en-IN" dirty="0"/>
                  <a:t>We collect a sample.</a:t>
                </a:r>
              </a:p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and:</a:t>
                </a:r>
              </a:p>
              <a:p>
                <a:r>
                  <a:rPr lang="en-IN" dirty="0"/>
                  <a:t>Xˉ=10.8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3331E-7B05-B0EC-7A99-FE6EB1B30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053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DF08-634F-DA21-2774-33295A41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72714-2D47-24E9-55CD-4C1CEE88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9250-533F-5BFE-73FE-6BADB76B4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question is:</a:t>
            </a:r>
          </a:p>
          <a:p>
            <a:r>
              <a:rPr lang="en-IN" b="1" dirty="0"/>
              <a:t>Is 10.8 sufficiently different from 10 to conclude that the company's claim is questionable?</a:t>
            </a:r>
          </a:p>
          <a:p>
            <a:r>
              <a:rPr lang="en-IN" dirty="0"/>
              <a:t>This is hypothesis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288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2410-C27F-4368-F8E8-15A86F26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DFEE7-2AFF-8A68-55BD-534B5DBBD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hypothesis is a statement about a population parameter.</a:t>
                </a:r>
              </a:p>
              <a:p>
                <a:r>
                  <a:rPr lang="en-IN" dirty="0"/>
                  <a:t>For example: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This says:</a:t>
                </a:r>
              </a:p>
              <a:p>
                <a:r>
                  <a:rPr lang="en-IN" dirty="0"/>
                  <a:t>Population mean battery life is 10 hours.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DFEE7-2AFF-8A68-55BD-534B5DBBD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32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72D6-44D0-4624-A39E-8FD7C25B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41AA-7693-8C85-7E57-3564B43E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0C997-F1D1-4797-5634-744C62EC66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hypothesis is a statement about a population parameter.</a:t>
                </a:r>
              </a:p>
              <a:p>
                <a:r>
                  <a:rPr lang="en-IN" dirty="0"/>
                  <a:t>For example: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This says:</a:t>
                </a:r>
              </a:p>
              <a:p>
                <a:r>
                  <a:rPr lang="en-IN" dirty="0"/>
                  <a:t>Population mean battery life is 10 hours.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0C997-F1D1-4797-5634-744C62EC6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599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140E-78AB-7E57-BEB3-A7959167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4A55-30C0-7B60-3768-159C0FB1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10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FB50-35B9-0DF4-8ACC-ED688E1B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34F0-707F-39DC-FE26-479D044C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1D328-4C04-1671-078D-97D77AA41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null hypothesis is represented by:</a:t>
                </a:r>
              </a:p>
              <a:p>
                <a:pPr lvl="1"/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It generally represents:</a:t>
                </a:r>
              </a:p>
              <a:p>
                <a:pPr lvl="1"/>
                <a:r>
                  <a:rPr lang="en-IN" dirty="0"/>
                  <a:t>No difference </a:t>
                </a:r>
              </a:p>
              <a:p>
                <a:pPr lvl="1"/>
                <a:r>
                  <a:rPr lang="en-IN" dirty="0"/>
                  <a:t>No effect </a:t>
                </a:r>
              </a:p>
              <a:p>
                <a:pPr lvl="1"/>
                <a:r>
                  <a:rPr lang="en-IN" dirty="0"/>
                  <a:t>No relationship </a:t>
                </a:r>
              </a:p>
              <a:p>
                <a:pPr lvl="1"/>
                <a:r>
                  <a:rPr lang="en-IN" dirty="0"/>
                  <a:t>Existing/default condition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1D328-4C04-1671-078D-97D77AA41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928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733A-E371-5741-1D66-CAD6783F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D5C1F-BEC1-9B1F-6261-69095B56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18191A-47FB-2EBC-B30B-E95BD2AC14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Examples: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18191A-47FB-2EBC-B30B-E95BD2AC1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36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3FB9-030E-D11B-27FB-74FFA411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FB1F-5BD4-CE41-6CA9-AEB6D3D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086F8-5455-4465-9308-D6FE28DBA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Represented by: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or: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borderBox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086F8-5455-4465-9308-D6FE28DBA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151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AF34-DB6A-C2AD-854E-1E4AA033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4F17-1DF3-31F6-4AD4-46E7338B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94F0C4-B47A-2A16-6A54-25F7AC5FF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Examples:</a:t>
                </a:r>
              </a:p>
              <a:p>
                <a:r>
                  <a:rPr lang="en-IN" b="1" dirty="0"/>
                  <a:t>Two-sided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≠50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Right-sided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&gt;50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Left-sided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&lt;50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94F0C4-B47A-2A16-6A54-25F7AC5FF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444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9190-BD2A-A604-F03C-FAA2675C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One-Tailed and Two-Tailed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1AB1-271B-234A-7AAA-1BDB0139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258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B4DC-7429-8FC2-DFE0-7A679308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B134-B17C-7198-E7CE-2F5201E0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Two-Tailed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417F9-720F-4A56-CE62-49E375CE97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≠50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are interested in both: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and:</a:t>
                </a:r>
              </a:p>
              <a:p>
                <a:pPr lvl="1"/>
                <a:r>
                  <a:rPr lang="en-IN" dirty="0"/>
                  <a:t>μ&lt;50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417F9-720F-4A56-CE62-49E375CE9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78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48CA-7746-13D9-A478-F0EB5261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8024-6FE8-B285-4AEA-51AB33E7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Right-tailed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F2B24-54CA-615A-ADFB-4CE6FBAC7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Right-tailed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&gt;50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F2B24-54CA-615A-ADFB-4CE6FBAC7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609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191E-CCF7-5BEC-98CB-13E5ECD5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73C5-D06D-4CC5-2B1A-2E212CF9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Left-tailed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38BC42-A250-452A-2050-AC33B2DEA0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Left-tailed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&lt;50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38BC42-A250-452A-2050-AC33B2DEA0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667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4655-0F98-B012-8ABE-8C92A903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F3DD-478B-5065-930C-18F1613C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Significance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49939-E3BB-CBE1-615F-C9EC323989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Most commonly: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=0.05</m:t>
                        </m:r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49939-E3BB-CBE1-615F-C9EC323989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927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6811-DE32-3727-AA82-F17AD700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E5A3-A3FA-C811-F811-100BB364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I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EE8E-3E86-BA9B-EEEB-5701691D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112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09E47-C4F3-03E9-0D57-CE81BAEA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003E-BABD-0D92-D6AD-99E781B1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67B5B-BC24-803D-DE38-366D7367C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when it is actually true.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Type I Error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67B5B-BC24-803D-DE38-366D7367C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392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C898-5172-396F-F0FF-34AC80AA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0667-391F-BEC9-5DED-7D8DE15D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I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EB87D-19CA-311B-3374-316F2C778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  <a:p>
            <a:r>
              <a:rPr lang="en-IN" dirty="0"/>
              <a:t>Actually: </a:t>
            </a:r>
            <a:r>
              <a:rPr lang="en-IN" dirty="0">
                <a:highlight>
                  <a:srgbClr val="FFFF00"/>
                </a:highlight>
              </a:rPr>
              <a:t>New medicine has no effect.</a:t>
            </a:r>
          </a:p>
          <a:p>
            <a:r>
              <a:rPr lang="en-IN" dirty="0"/>
              <a:t>But we </a:t>
            </a:r>
            <a:r>
              <a:rPr lang="en-IN" dirty="0" err="1"/>
              <a:t>conclude:</a:t>
            </a:r>
            <a:r>
              <a:rPr lang="en-IN" dirty="0" err="1">
                <a:highlight>
                  <a:srgbClr val="FF0000"/>
                </a:highlight>
              </a:rPr>
              <a:t>New</a:t>
            </a:r>
            <a:r>
              <a:rPr lang="en-IN" dirty="0">
                <a:highlight>
                  <a:srgbClr val="FF0000"/>
                </a:highlight>
              </a:rPr>
              <a:t> medicine has an effect.</a:t>
            </a:r>
          </a:p>
          <a:p>
            <a:r>
              <a:rPr lang="en-IN" dirty="0"/>
              <a:t>That is Type I error.</a:t>
            </a:r>
          </a:p>
        </p:txBody>
      </p:sp>
    </p:spTree>
    <p:extLst>
      <p:ext uri="{BB962C8B-B14F-4D97-AF65-F5344CB8AC3E}">
        <p14:creationId xmlns:p14="http://schemas.microsoft.com/office/powerpoint/2010/main" val="5969858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A2864-8575-5A9E-12CF-6F3FDE3A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A825-BA3A-5786-36C7-D791739C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II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46E4F-A54B-E10A-6A8C-F69C9419B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Failing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when it is actually false.</a:t>
                </a:r>
              </a:p>
              <a:p>
                <a:r>
                  <a:rPr lang="en-IN" dirty="0"/>
                  <a:t>P(Type II Error)=β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346E4F-A54B-E10A-6A8C-F69C9419B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599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17204-D255-289E-2C2F-9A0BB0A2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6DC2-6D34-9107-114A-5B2A2A53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II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F9EEC-B5DC-54A2-4A29-81EC3FE38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Failing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when it is actually false.</a:t>
                </a:r>
              </a:p>
              <a:p>
                <a:r>
                  <a:rPr lang="en-IN" dirty="0"/>
                  <a:t>P(Type II Error)=β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F9EEC-B5DC-54A2-4A29-81EC3FE38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465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C5EF-09F7-4068-4E44-84A89C90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F892F-03B3-1335-0598-EAF531B52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𝑃𝑜𝑤𝑒𝑟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Power is the probability of detecting an effect when that effect truly exists, under a specified alternative.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F892F-03B3-1335-0598-EAF531B52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4618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EF87-F5C1-DEF7-9983-74BD7199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p-value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0D006-59F0-4FB5-09BA-AE5A9F3663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probability,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is true, of obtaining a result at least as extreme as the observed result according to the test statistic.</a:t>
                </a:r>
              </a:p>
              <a:p>
                <a:r>
                  <a:rPr lang="en-IN" dirty="0"/>
                  <a:t>Decision: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N" dirty="0"/>
              </a:p>
              <a:p>
                <a:r>
                  <a:rPr lang="en-IN" dirty="0"/>
                  <a:t>→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N" dirty="0"/>
              </a:p>
              <a:p>
                <a:r>
                  <a:rPr lang="en-IN" dirty="0"/>
                  <a:t>→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0D006-59F0-4FB5-09BA-AE5A9F3663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553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5F2D-F47C-E5AB-C677-02C80328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Hypothesis Testing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F4DB-A639-32A1-6F1E-D4DE0AC3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4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DD86-3596-BACA-0478-03E1FF56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F543-9484-5C03-D8FA-B4A84E6B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Hypothesis Testing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124DC-BEC5-10E2-1071-66D5E4CC3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1</a:t>
                </a:r>
              </a:p>
              <a:p>
                <a:r>
                  <a:rPr lang="en-IN" dirty="0"/>
                  <a:t>State: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124DC-BEC5-10E2-1071-66D5E4CC3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17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D96C-EC5B-1D70-3EE0-CC84586F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382E-6111-50E1-8226-BF4A0709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Hypothesis Testing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F58B-E8EC-125F-0B57-7A2AA71E3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2</a:t>
                </a:r>
              </a:p>
              <a:p>
                <a:r>
                  <a:rPr lang="en-IN" dirty="0"/>
                  <a:t>State: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0F58B-E8EC-125F-0B57-7A2AA71E3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583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8276-1D05-BEC0-FA86-2DA77AC0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BEB1-C704-92EF-7F05-2F567654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Hypothesis Testing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B660-D251-D5B0-A83C-D71F86AB9A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3</a:t>
                </a:r>
              </a:p>
              <a:p>
                <a:r>
                  <a:rPr lang="en-IN" dirty="0"/>
                  <a:t>Choose: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B660-D251-D5B0-A83C-D71F86AB9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730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09C9-439F-67EF-D003-3CD68518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F083-8175-81F2-DECB-82D6F233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Hypothesis Testing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183F-C2CE-FDC5-BD76-CA9C2C78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Step 4</a:t>
            </a:r>
          </a:p>
          <a:p>
            <a:r>
              <a:rPr lang="en-IN" dirty="0"/>
              <a:t>Choose appropriate statistical test.</a:t>
            </a:r>
          </a:p>
          <a:p>
            <a:r>
              <a:rPr lang="en-IN" b="1" dirty="0"/>
              <a:t>Step 5</a:t>
            </a:r>
          </a:p>
          <a:p>
            <a:r>
              <a:rPr lang="en-IN" dirty="0"/>
              <a:t>Calculate test statistic.</a:t>
            </a:r>
          </a:p>
          <a:p>
            <a:r>
              <a:rPr lang="en-IN" b="1" dirty="0"/>
              <a:t>Step 6</a:t>
            </a:r>
          </a:p>
          <a:p>
            <a:r>
              <a:rPr lang="en-IN" dirty="0"/>
              <a:t>Determine p-value or critical value.</a:t>
            </a:r>
          </a:p>
          <a:p>
            <a:r>
              <a:rPr lang="en-IN" b="1" dirty="0"/>
              <a:t>Step 7</a:t>
            </a:r>
          </a:p>
          <a:p>
            <a:r>
              <a:rPr lang="en-IN" dirty="0"/>
              <a:t>Make decision.</a:t>
            </a:r>
          </a:p>
          <a:p>
            <a:r>
              <a:rPr lang="en-IN" b="1" dirty="0"/>
              <a:t>Step 8</a:t>
            </a:r>
          </a:p>
          <a:p>
            <a:r>
              <a:rPr lang="en-IN" dirty="0"/>
              <a:t>Write conclusion in words.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5337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DB4E-6BB7-5826-EA24-E83FEAD5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0E5E-C828-B761-8456-9C495024D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Z-test</a:t>
            </a:r>
            <a:r>
              <a:rPr lang="en-IN" dirty="0"/>
              <a:t> is a hypothesis test using the standard normal distribution.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40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B77D-1F39-4322-2100-C81F032C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5F9B-2454-67CB-8BEA-EEAE9FD4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Z-TEST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6420B0-B5B8-F6F8-6AE4-851729A05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testing a population mean when population SD is known: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6420B0-B5B8-F6F8-6AE4-851729A05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D911187-708E-1130-1217-BD3F7887D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43661"/>
                  </p:ext>
                </p:extLst>
              </p:nvPr>
            </p:nvGraphicFramePr>
            <p:xfrm>
              <a:off x="1432393" y="3567797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54114762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645274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3194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Calculated Z 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90740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Sample mean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5365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Mean specified under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647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Population standard deviation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37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Sample size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29705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D911187-708E-1130-1217-BD3F7887D5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43661"/>
                  </p:ext>
                </p:extLst>
              </p:nvPr>
            </p:nvGraphicFramePr>
            <p:xfrm>
              <a:off x="1432393" y="3567797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54114762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645274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3194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6557" r="-100449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Calculated Z 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90740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6557" r="-100449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Sample mean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5365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06557" r="-10044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0" t="-30655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647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06557" r="-100449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Population standard deviation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37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506557" r="-100449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Sample size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29705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07833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D2C2-6D71-860A-3796-9C832EEA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E369-ACE1-FB30-FF38-DE59255C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company claims that its machine produces components with an average diameter of: μ0​=50 mm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DE509AE-50F4-561B-66A4-E606B969F9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9946450"/>
                  </p:ext>
                </p:extLst>
              </p:nvPr>
            </p:nvGraphicFramePr>
            <p:xfrm>
              <a:off x="1019331" y="3087279"/>
              <a:ext cx="981855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09279">
                      <a:extLst>
                        <a:ext uri="{9D8B030D-6E8A-4147-A177-3AD203B41FA5}">
                          <a16:colId xmlns:a16="http://schemas.microsoft.com/office/drawing/2014/main" val="2164902876"/>
                        </a:ext>
                      </a:extLst>
                    </a:gridCol>
                    <a:gridCol w="4909279">
                      <a:extLst>
                        <a:ext uri="{9D8B030D-6E8A-4147-A177-3AD203B41FA5}">
                          <a16:colId xmlns:a16="http://schemas.microsoft.com/office/drawing/2014/main" val="184664231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278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Population Standard Deviation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σ=4 mm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1929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n=64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902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components gives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IN" sz="2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IN" sz="24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=51</m:t>
                                </m:r>
                                <m:r>
                                  <m:rPr>
                                    <m:nor/>
                                  </m:rPr>
                                  <a:rPr lang="en-IN" sz="2400" b="0" i="0" kern="1200">
                                    <a:solidFill>
                                      <a:schemeClr val="dk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IN" sz="2400" dirty="0"/>
                        </a:p>
                        <a:p>
                          <a:endParaRPr lang="en-I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3292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Test At: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α=0.05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8362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DE509AE-50F4-561B-66A4-E606B969F9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9946450"/>
                  </p:ext>
                </p:extLst>
              </p:nvPr>
            </p:nvGraphicFramePr>
            <p:xfrm>
              <a:off x="1019331" y="3087279"/>
              <a:ext cx="9818558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09279">
                      <a:extLst>
                        <a:ext uri="{9D8B030D-6E8A-4147-A177-3AD203B41FA5}">
                          <a16:colId xmlns:a16="http://schemas.microsoft.com/office/drawing/2014/main" val="2164902876"/>
                        </a:ext>
                      </a:extLst>
                    </a:gridCol>
                    <a:gridCol w="4909279">
                      <a:extLst>
                        <a:ext uri="{9D8B030D-6E8A-4147-A177-3AD203B41FA5}">
                          <a16:colId xmlns:a16="http://schemas.microsoft.com/office/drawing/2014/main" val="184664231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27873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Population Standard Deviation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σ=4 mm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19299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n=64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90228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components gives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48" t="-173333" r="-621" b="-7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73292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Test At: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400" dirty="0"/>
                            <a:t>α=0.05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8362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20125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0ECC-879C-97AB-99A0-3859E040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1 —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5402-204F-313A-ED72-2117ACC38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Because we want to know whether the mean is different: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≠50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Two-tailed test.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C5402-204F-313A-ED72-2117ACC38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089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DDC6-5323-74DE-8DD6-676C1525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—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8383B4-D022-1DE8-CD95-FCF239E98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2 — Formula</a:t>
                </a:r>
              </a:p>
              <a:p>
                <a:endParaRPr lang="en-IN" sz="4800" i="1" dirty="0"/>
              </a:p>
              <a:p>
                <a:pPr lvl="7"/>
                <a14:m>
                  <m:oMath xmlns:m="http://schemas.openxmlformats.org/officeDocument/2006/math">
                    <m:r>
                      <a:rPr lang="en-IN" sz="3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sz="3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IN" sz="38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3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3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IN" sz="380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8383B4-D022-1DE8-CD95-FCF239E98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0751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627E-EFE9-C6F4-1EC0-7AC249B9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8624-7199-2F67-7DEB-6DF8C443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—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5406D-D3C9-99E6-9230-BF10479B69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2 — Formula</a:t>
                </a:r>
              </a:p>
              <a:p>
                <a:endParaRPr lang="en-IN" sz="4800" i="1" dirty="0"/>
              </a:p>
              <a:p>
                <a:pPr lvl="7"/>
                <a14:m>
                  <m:oMath xmlns:m="http://schemas.openxmlformats.org/officeDocument/2006/math">
                    <m:r>
                      <a:rPr lang="en-IN" sz="3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sz="3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IN" sz="38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3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3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IN" sz="380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3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3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r>
                  <a:rPr lang="en-IN" dirty="0">
                    <a:highlight>
                      <a:srgbClr val="FFFF00"/>
                    </a:highlight>
                  </a:rPr>
                  <a:t>Z=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5406D-D3C9-99E6-9230-BF10479B6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5570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261E-4209-0749-A551-E18F129F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— Critical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665FA-BAEF-E7C1-E4DB-B12813F5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At:</a:t>
            </a:r>
          </a:p>
          <a:p>
            <a:r>
              <a:rPr lang="en-IN" dirty="0"/>
              <a:t>α=0.05</a:t>
            </a:r>
          </a:p>
          <a:p>
            <a:r>
              <a:rPr lang="en-IN" dirty="0"/>
              <a:t>for a two-tailed test: </a:t>
            </a:r>
            <a:r>
              <a:rPr lang="en-IN" dirty="0" err="1"/>
              <a:t>Zcritical</a:t>
            </a:r>
            <a:r>
              <a:rPr lang="en-IN" dirty="0"/>
              <a:t> ​=±1.96</a:t>
            </a:r>
          </a:p>
        </p:txBody>
      </p:sp>
    </p:spTree>
    <p:extLst>
      <p:ext uri="{BB962C8B-B14F-4D97-AF65-F5344CB8AC3E}">
        <p14:creationId xmlns:p14="http://schemas.microsoft.com/office/powerpoint/2010/main" val="16515368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BB8D-D6D5-095E-3734-6E1C89BB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8C2A-8091-873A-BCE1-27989ADA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— Critical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834B3-37AF-7010-251C-FE166E1E5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At:</a:t>
                </a:r>
              </a:p>
              <a:p>
                <a:r>
                  <a:rPr lang="en-IN" dirty="0"/>
                  <a:t>α=0.05</a:t>
                </a:r>
              </a:p>
              <a:p>
                <a:r>
                  <a:rPr lang="en-IN" dirty="0"/>
                  <a:t>for a two-tailed test: </a:t>
                </a:r>
                <a:r>
                  <a:rPr lang="en-IN" dirty="0" err="1"/>
                  <a:t>Zcritical</a:t>
                </a:r>
                <a:r>
                  <a:rPr lang="en-IN" dirty="0"/>
                  <a:t> ​=±1.96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0.05→0.025</m:t>
                    </m:r>
                  </m:oMath>
                </a14:m>
                <a:r>
                  <a:rPr lang="en-IN" dirty="0"/>
                  <a:t> in each tail → cumulative area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0.975</m:t>
                    </m:r>
                  </m:oMath>
                </a14:m>
                <a:r>
                  <a:rPr lang="en-IN" dirty="0"/>
                  <a:t>→ Z-table gives </a:t>
                </a:r>
                <a:r>
                  <a:rPr lang="en-IN" b="1" dirty="0"/>
                  <a:t>1.96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834B3-37AF-7010-251C-FE166E1E5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2600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821A-F0D3-524E-3CEC-2CD074CA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 —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4DD5E-E903-FBF1-C9CB-96A8F5391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Calculated: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Since: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2&gt;1.96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reject:</a:t>
                </a:r>
              </a:p>
              <a:p>
                <a:r>
                  <a:rPr lang="en-IN" dirty="0"/>
                  <a:t>H0​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4DD5E-E903-FBF1-C9CB-96A8F5391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4110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1962-3807-8C72-F660-334FCB9A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6 —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BD7DB-DAB7-EF1C-BB99-35958238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statistically significant evidence at the 5% significance level that the population mean diameter differs from 50 mm.</a:t>
            </a:r>
          </a:p>
        </p:txBody>
      </p:sp>
    </p:spTree>
    <p:extLst>
      <p:ext uri="{BB962C8B-B14F-4D97-AF65-F5344CB8AC3E}">
        <p14:creationId xmlns:p14="http://schemas.microsoft.com/office/powerpoint/2010/main" val="27963717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5490-B9F8-22B3-E385-7E7A0089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Critical Value Method vs p-value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4FCD6-AC31-CE03-A1C8-4262AAFCD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Critical-value method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∣&gt;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𝑐𝑟𝑖𝑡𝑖𝑐𝑎𝑙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>
                    <a:highlight>
                      <a:srgbClr val="FFFF00"/>
                    </a:highlight>
                  </a:rPr>
                  <a:t>→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highlight>
                      <a:srgbClr val="FFFF00"/>
                    </a:highlight>
                  </a:rPr>
                  <a:t>.</a:t>
                </a:r>
              </a:p>
              <a:p>
                <a:r>
                  <a:rPr lang="en-IN" b="1" dirty="0"/>
                  <a:t>p-value method</a:t>
                </a:r>
              </a:p>
              <a:p>
                <a:r>
                  <a:rPr lang="en-IN" dirty="0"/>
                  <a:t>Calculate p-value.</a:t>
                </a:r>
              </a:p>
              <a:p>
                <a:r>
                  <a:rPr lang="en-IN" dirty="0"/>
                  <a:t>If: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endParaRPr lang="en-IN" dirty="0"/>
              </a:p>
              <a:p>
                <a:r>
                  <a:rPr lang="en-IN" dirty="0">
                    <a:highlight>
                      <a:srgbClr val="FFFF00"/>
                    </a:highlight>
                  </a:rPr>
                  <a:t>→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highlight>
                      <a:srgbClr val="FFFF00"/>
                    </a:highlight>
                  </a:rPr>
                  <a:t>.</a:t>
                </a:r>
              </a:p>
              <a:p>
                <a:r>
                  <a:rPr lang="en-IN" dirty="0"/>
                  <a:t>Both methods lead to the same decision when used correctly.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4FCD6-AC31-CE03-A1C8-4262AAFCD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099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A7B3-79DC-E167-0DFE-635CA10A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Z-Test Is Appropriate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E790-16E5-6AD0-850D-550C0CBA3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Typical conditions include:</a:t>
            </a:r>
          </a:p>
          <a:p>
            <a:pPr lvl="1" algn="just"/>
            <a:r>
              <a:rPr lang="en-IN" dirty="0"/>
              <a:t>Population SD known for the classical one-sample mean Z-test. </a:t>
            </a:r>
          </a:p>
          <a:p>
            <a:pPr lvl="1" algn="just"/>
            <a:r>
              <a:rPr lang="en-IN" dirty="0"/>
              <a:t>Random/representative sampling. </a:t>
            </a:r>
          </a:p>
          <a:p>
            <a:pPr lvl="1" algn="just"/>
            <a:r>
              <a:rPr lang="en-IN" dirty="0"/>
              <a:t>Independence. </a:t>
            </a:r>
          </a:p>
          <a:p>
            <a:pPr lvl="1" algn="just"/>
            <a:r>
              <a:rPr lang="en-IN" dirty="0"/>
              <a:t>Normal population or a sufficiently large sample under appropriate conditions.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12075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3A96-470F-1DC2-1061-48D06342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Where Z-Test Can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3B5ED-24BE-DC94-1E19-D55993A061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Case 1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is small. Use a t-test under appropriate assumptions.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3B5ED-24BE-DC94-1E19-D55993A06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2030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13ED-0321-B777-31D3-08F60685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18BD-72A3-CAEA-2925-CE728B86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Where Z-Test Can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6AD3A-9181-357F-8576-CB14A628F8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Case 1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is small. Use a t-test under appropriate assumptions.</a:t>
                </a:r>
              </a:p>
              <a:p>
                <a:r>
                  <a:rPr lang="en-IN" b="1" dirty="0"/>
                  <a:t>Case 2</a:t>
                </a:r>
              </a:p>
              <a:p>
                <a:r>
                  <a:rPr lang="en-IN" dirty="0"/>
                  <a:t>Very small sample from a severely non-normal population.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6AD3A-9181-357F-8576-CB14A628F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6648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F8EA-620E-662B-4A0B-3E8F43B0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FA5A-D6B5-AB57-018E-7486A011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Where Z-Test Can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4AD7A-8BF2-5273-D5CD-680767397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Case 1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is small. Use a t-test under appropriate assumptions.</a:t>
                </a:r>
              </a:p>
              <a:p>
                <a:r>
                  <a:rPr lang="en-IN" b="1" dirty="0"/>
                  <a:t>Case 2</a:t>
                </a:r>
              </a:p>
              <a:p>
                <a:r>
                  <a:rPr lang="en-IN" dirty="0"/>
                  <a:t>Very small sample from a severely non-normal population.</a:t>
                </a:r>
              </a:p>
              <a:p>
                <a:r>
                  <a:rPr lang="en-IN" b="1" dirty="0"/>
                  <a:t>Case 3</a:t>
                </a:r>
              </a:p>
              <a:p>
                <a:r>
                  <a:rPr lang="en-IN" dirty="0"/>
                  <a:t>Strong outliers.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4AD7A-8BF2-5273-D5CD-680767397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1539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72A8-3105-466C-2059-8DD1E067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6357-0E3F-413A-775F-B051861F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Where Z-Test Can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93209-8D28-94DF-4536-77DE682EB3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Case 1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is small. Use a t-test under appropriate assumptions.</a:t>
                </a:r>
              </a:p>
              <a:p>
                <a:r>
                  <a:rPr lang="en-IN" b="1" dirty="0"/>
                  <a:t>Case 2</a:t>
                </a:r>
              </a:p>
              <a:p>
                <a:r>
                  <a:rPr lang="en-IN" dirty="0"/>
                  <a:t>Very small sample from a severely non-normal population.</a:t>
                </a:r>
              </a:p>
              <a:p>
                <a:r>
                  <a:rPr lang="en-IN" b="1" dirty="0"/>
                  <a:t>Case 3</a:t>
                </a:r>
              </a:p>
              <a:p>
                <a:r>
                  <a:rPr lang="en-IN" dirty="0"/>
                  <a:t>Strong outliers.</a:t>
                </a:r>
              </a:p>
              <a:p>
                <a:r>
                  <a:rPr lang="en-IN" b="1" dirty="0"/>
                  <a:t>Case 4</a:t>
                </a:r>
              </a:p>
              <a:p>
                <a:r>
                  <a:rPr lang="en-IN" dirty="0"/>
                  <a:t>Observations are dependent.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93209-8D28-94DF-4536-77DE682EB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4242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413C-C28F-2465-21CA-F5E8C378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T-TEST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89466-FF05-9BB6-089F-D605E1C43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the population standard deviation: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89466-FF05-9BB6-089F-D605E1C43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0410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1861-EDE7-5CBB-E2E2-D3EE18C4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B706-CADB-BD0B-85E0-A5079566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T-TEST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E7CB7-C3F8-CB90-830B-952891038F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the population standard deviation: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dirty="0"/>
                  <a:t> is unknown.</a:t>
                </a:r>
              </a:p>
              <a:p>
                <a:r>
                  <a:rPr lang="en-IN" dirty="0"/>
                  <a:t>We estimate it using: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 test statistic becomes: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E7CB7-C3F8-CB90-830B-952891038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3637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DA43-C12A-73B6-66D5-381564BD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One-Sample T-Test Numerical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79FADE-DFBF-BA4A-7E83-FCDCDECFA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Suppose a teacher claims:</a:t>
                </a:r>
              </a:p>
              <a:p>
                <a:r>
                  <a:rPr lang="en-IN" dirty="0"/>
                  <a:t>Average student score is 60.</a:t>
                </a:r>
              </a:p>
              <a:p>
                <a:r>
                  <a:rPr lang="en-IN" dirty="0"/>
                  <a:t>A sample of 10 students gives: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IN" dirty="0"/>
                  <a:t> and  s=5</a:t>
                </a:r>
              </a:p>
              <a:p>
                <a:r>
                  <a:rPr lang="en-IN" dirty="0"/>
                  <a:t>Test: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≠60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at:</a:t>
                </a:r>
              </a:p>
              <a:p>
                <a:r>
                  <a:rPr lang="en-IN" dirty="0"/>
                  <a:t>α=0.05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79FADE-DFBF-BA4A-7E83-FCDCDECFA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8964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A7EA-8010-E5AD-5171-B8B6C26A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15E255-07E7-AB23-0AE6-AEEEFA798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Calculate: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15E255-07E7-AB23-0AE6-AEEEFA798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388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41E6-4CD7-E819-96CF-F99010C0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2E8F-515F-A33B-5594-9BB4E022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E7EAB-FED3-1EF0-43A2-EFD7553DF2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Calculate: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t≈2.53​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E7EAB-FED3-1EF0-43A2-EFD7553DF2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0533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3F1A-D9A4-4E10-EADE-5286A5FF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56291-194C-9A5B-9005-9061475D2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4778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8A270-5931-ED5E-E6F1-FC166C22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D939-4433-A5F6-1228-125A6D79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Degrees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DD5B2-1F86-1E53-0DB3-4ED1055A3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/>
                  <a:t>df=n−1 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=10−1</m:t>
                    </m:r>
                  </m:oMath>
                </a14:m>
                <a:endParaRPr lang="en-IN"/>
              </a:p>
              <a:p>
                <a:r>
                  <a:rPr lang="en-IN"/>
                  <a:t>df=9​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DD5B2-1F86-1E53-0DB3-4ED1055A3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9301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7B7D-EFC4-8E26-DEEB-3B88A357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Critical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B9D26-2C22-5EBD-36BF-AA789BAA1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two-tailed test and: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approximately: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𝑐𝑟𝑖𝑡𝑖𝑐𝑎𝑙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=2.262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B9D26-2C22-5EBD-36BF-AA789BAA1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5537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8D53-D749-774F-CEBE-E98750E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—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F1B6-1C2B-11F2-C4A3-F8936B874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∣2.53∣&gt;2.262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𝑅𝑒𝑗𝑒𝑐𝑡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F1B6-1C2B-11F2-C4A3-F8936B874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5402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D150-69A3-12B8-1438-7871C1D2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74A3-2F76-E3AE-062C-B3743655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—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9C0AA-BB66-3B7F-19F8-E000C0481A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∣2.53∣&gt;2.262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𝑅𝑒𝑗𝑒𝑐𝑡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There is sufficient statistical evidence at the 5% significance level that the population mean score differs from 60.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9C0AA-BB66-3B7F-19F8-E000C0481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9256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1B43-C9CA-8F81-0EDC-CF939E1FD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ONE-WAY ANOVA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C03B7-CA79-79A7-B2C2-C7C1BDF13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726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CA8F-985D-FE70-E811-98A0E8C8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0F90F-0923-BC76-38D1-47339B45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183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E318-2C62-DCDE-AE6A-8B740A88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C692-A90F-760D-8C9D-15136C4F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26CFC-8EE1-FA76-26C0-E098A39EC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ANOVA stands for: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ANalysis Of VAriance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ANOVA is a statistical technique used to determine whether there is a </a:t>
                </a:r>
                <a:r>
                  <a:rPr lang="en-IN" b="1" dirty="0"/>
                  <a:t>statistically significant difference between the means of two or more groups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26CFC-8EE1-FA76-26C0-E098A39EC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1021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FE3A-9BFF-AE00-11BD-755586B7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55B4-2D28-040B-C5C8-FFCB0502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Analysis of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BE5B-4DE1-2FAF-FAD7-E3E43170B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ANOVA is used to compare </a:t>
            </a:r>
            <a:r>
              <a:rPr lang="en-IN" b="1" dirty="0"/>
              <a:t>means</a:t>
            </a:r>
            <a:r>
              <a:rPr lang="en-IN" dirty="0"/>
              <a:t>, so why is it called </a:t>
            </a:r>
            <a:r>
              <a:rPr lang="en-IN" b="1" dirty="0"/>
              <a:t>Analysis of Variance</a:t>
            </a:r>
            <a:r>
              <a:rPr lang="en-I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74893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012D-46CA-7329-4478-C29BC82C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1E8A-898E-D11E-4348-71D0F517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Analysis of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28D96E-B8B4-065A-0BBD-01C13C0159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IN" dirty="0"/>
                  <a:t>Because ANOVA determines whether group means are different by comparing two types of variation:</a:t>
                </a:r>
              </a:p>
              <a:p>
                <a:r>
                  <a:rPr lang="en-IN" b="1" dirty="0"/>
                  <a:t>1. Variation Between Groups</a:t>
                </a:r>
              </a:p>
              <a:p>
                <a:pPr lvl="1"/>
                <a:r>
                  <a:rPr lang="en-IN" dirty="0"/>
                  <a:t>How much do the group means differ from each other?</a:t>
                </a:r>
              </a:p>
              <a:p>
                <a:r>
                  <a:rPr lang="en-IN" b="1" dirty="0"/>
                  <a:t>2. Variation Within Groups</a:t>
                </a:r>
              </a:p>
              <a:p>
                <a:pPr lvl="1"/>
                <a:r>
                  <a:rPr lang="en-IN" dirty="0"/>
                  <a:t>How much do observations vary inside each group?</a:t>
                </a:r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ANOVA compares Between−Group Variation with Within−Group Variation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If the variation between groups is much greater than the variation within groups, then we have evidence that the group means differ.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28D96E-B8B4-065A-0BBD-01C13C015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6347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33B9-29E3-774D-3B8C-C65F99FE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ANOVA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DB8A01-06E2-FB6C-4948-657D8DA8A3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𝐹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/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/>
                              <m:t>Variation Between Groups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/>
                              <m:t>Variation Within Groups</m:t>
                            </m:r>
                          </m:den>
                        </m:f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This is the central idea behind ANOVA.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DB8A01-06E2-FB6C-4948-657D8DA8A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4359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4233-ED5B-94D5-F075-DFD1DFBE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F27C7-C2AA-F490-4790-8866D47FC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Suppose we have marks from three classes.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Calculate :  Xa, </a:t>
            </a:r>
            <a:r>
              <a:rPr lang="en-IN" dirty="0" err="1"/>
              <a:t>Xb</a:t>
            </a:r>
            <a:r>
              <a:rPr lang="en-IN" dirty="0"/>
              <a:t>, </a:t>
            </a:r>
            <a:r>
              <a:rPr lang="en-IN" dirty="0" err="1"/>
              <a:t>Xc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F406BC-7B86-588C-B2C6-E79B087EB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85406"/>
              </p:ext>
            </p:extLst>
          </p:nvPr>
        </p:nvGraphicFramePr>
        <p:xfrm>
          <a:off x="2032000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481638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7165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60, 62, 58, 61, 59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857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61, 63, 60, 62, 64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3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80, 82, 78, 81, 79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429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101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A21B-F3CE-2FEF-73A9-AB874626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7E2B-BF33-8E08-CBF9-88FA87A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98759-EC86-8EA4-66BB-5E941CC50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9095"/>
                <a:ext cx="10515600" cy="4797868"/>
              </a:xfrm>
            </p:spPr>
            <p:txBody>
              <a:bodyPr>
                <a:normAutofit/>
              </a:bodyPr>
              <a:lstStyle/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Clearly, Class C appears different.</a:t>
                </a:r>
              </a:p>
              <a:p>
                <a:r>
                  <a:rPr lang="en-IN" dirty="0"/>
                  <a:t>ANOVA formally tests: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𝐻</m:t>
                        </m:r>
                      </m:e>
                      <m:sub>
                        <m:r>
                          <a:rPr lang="en-IN"/>
                          <m:t>0</m:t>
                        </m:r>
                      </m:sub>
                    </m:sSub>
                    <m:r>
                      <a:rPr lang="en-IN"/>
                      <m:t>: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𝜇</m:t>
                        </m:r>
                      </m:e>
                      <m:sub>
                        <m:r>
                          <a:rPr lang="en-IN" i="1"/>
                          <m:t>𝐴</m:t>
                        </m:r>
                      </m:sub>
                    </m:sSub>
                    <m:r>
                      <a:rPr lang="en-IN"/>
                      <m:t>=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𝜇</m:t>
                        </m:r>
                      </m:e>
                      <m:sub>
                        <m:r>
                          <a:rPr lang="en-IN" i="1"/>
                          <m:t>𝐵</m:t>
                        </m:r>
                      </m:sub>
                    </m:sSub>
                    <m:r>
                      <a:rPr lang="en-IN"/>
                      <m:t>=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𝜇</m:t>
                        </m:r>
                      </m:e>
                      <m:sub>
                        <m:r>
                          <a:rPr lang="en-IN" i="1"/>
                          <m:t>𝐶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against:</a:t>
                </a:r>
              </a:p>
              <a:p>
                <a:r>
                  <a:rPr lang="en-IN" dirty="0"/>
                  <a:t>H1​:At least one mean is different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98759-EC86-8EA4-66BB-5E941CC50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9095"/>
                <a:ext cx="10515600" cy="479786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E63A0F-A7C5-C886-3CD1-AB90425FB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32971"/>
              </p:ext>
            </p:extLst>
          </p:nvPr>
        </p:nvGraphicFramePr>
        <p:xfrm>
          <a:off x="1777167" y="169068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481638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71651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60, 62, 58, 61, 59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857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61, 63, 60, 62, 64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3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80, 82, 78, 81, 79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429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5362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260B-2487-4E40-4B82-38E84883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ANOVA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D2C2C3-4A90-EEDC-F04B-42E7F1A33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551978"/>
              </p:ext>
            </p:extLst>
          </p:nvPr>
        </p:nvGraphicFramePr>
        <p:xfrm>
          <a:off x="838200" y="2034584"/>
          <a:ext cx="10515600" cy="325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891867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44828918"/>
                    </a:ext>
                  </a:extLst>
                </a:gridCol>
              </a:tblGrid>
              <a:tr h="5428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Number of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581262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One-Way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967464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Two-Way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277666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Repeated Measures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subjects measured repeatedly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399144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Three-Way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Three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945015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dependent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31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3068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A155-6ECE-2A68-A172-676FD33D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CONCEPT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2141B-CF7A-DB41-1EED-3F30622A0A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One-Way ANOVA is used when there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One Independent Factor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and that factor has: Two or More Groups/Levels​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2141B-CF7A-DB41-1EED-3F30622A0A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8578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6B22-146E-951D-33B9-3870C74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62B5-4645-5126-4755-C693AFFF9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want to compare customer spending based </a:t>
            </a:r>
            <a:r>
              <a:rPr lang="en-IN" dirty="0" err="1"/>
              <a:t>on:</a:t>
            </a:r>
            <a:r>
              <a:rPr lang="en-IN" b="1" dirty="0" err="1"/>
              <a:t>Mode</a:t>
            </a:r>
            <a:r>
              <a:rPr lang="en-IN" b="1" dirty="0"/>
              <a:t> of Payment</a:t>
            </a:r>
          </a:p>
          <a:p>
            <a:pPr lvl="0"/>
            <a:r>
              <a:rPr lang="en-IN" dirty="0"/>
              <a:t>Cash </a:t>
            </a:r>
          </a:p>
          <a:p>
            <a:pPr lvl="0"/>
            <a:r>
              <a:rPr lang="en-IN" dirty="0"/>
              <a:t>Card </a:t>
            </a:r>
          </a:p>
          <a:p>
            <a:pPr lvl="0"/>
            <a:r>
              <a:rPr lang="en-IN" dirty="0"/>
              <a:t>UPI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Which one is independent factor?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8379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4F7D-FAB6-576D-7A0B-6DAA1EF8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B10E-47FB-E941-CF71-34409D7B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82D99-0226-3C69-F181-E267D005FA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Suppose we want to compare customer spending based </a:t>
                </a:r>
                <a:r>
                  <a:rPr lang="en-IN" dirty="0" err="1"/>
                  <a:t>on:</a:t>
                </a:r>
                <a:r>
                  <a:rPr lang="en-IN" b="1" dirty="0" err="1"/>
                  <a:t>Mode</a:t>
                </a:r>
                <a:r>
                  <a:rPr lang="en-IN" b="1" dirty="0"/>
                  <a:t> of Payment</a:t>
                </a:r>
              </a:p>
              <a:p>
                <a:pPr lvl="0"/>
                <a:r>
                  <a:rPr lang="en-IN" dirty="0"/>
                  <a:t>Cash </a:t>
                </a:r>
              </a:p>
              <a:p>
                <a:pPr lvl="0"/>
                <a:r>
                  <a:rPr lang="en-IN" dirty="0"/>
                  <a:t>Card </a:t>
                </a:r>
              </a:p>
              <a:p>
                <a:pPr lvl="0"/>
                <a:r>
                  <a:rPr lang="en-IN" dirty="0"/>
                  <a:t>UPI</a:t>
                </a:r>
              </a:p>
              <a:p>
                <a:pPr marL="0" lvl="0" indent="0">
                  <a:buNone/>
                </a:pPr>
                <a:endParaRPr lang="en-IN" dirty="0"/>
              </a:p>
              <a:p>
                <a:r>
                  <a:rPr lang="en-IN" b="1" dirty="0"/>
                  <a:t>Independent Factor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Mode of Payment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This factor has three levels:</a:t>
                </a:r>
              </a:p>
              <a:p>
                <a:r>
                  <a:rPr lang="en-IN" dirty="0"/>
                  <a:t>Cash, Card, UPI​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82D99-0226-3C69-F181-E267D005F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8316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8972-0920-6C19-2F33-9FB5817C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Consider the following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20A24D7-0E73-9EF8-9ABE-8C4C43AD88A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12378820"/>
                  </p:ext>
                </p:extLst>
              </p:nvPr>
            </p:nvGraphicFramePr>
            <p:xfrm>
              <a:off x="703288" y="2020497"/>
              <a:ext cx="10515597" cy="3705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9228058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51266327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49449190"/>
                        </a:ext>
                      </a:extLst>
                    </a:gridCol>
                  </a:tblGrid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CASH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CARD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UPI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8679871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110860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745949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5548200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5339324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9378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20A24D7-0E73-9EF8-9ABE-8C4C43AD88A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12378820"/>
                  </p:ext>
                </p:extLst>
              </p:nvPr>
            </p:nvGraphicFramePr>
            <p:xfrm>
              <a:off x="703288" y="2020497"/>
              <a:ext cx="10515597" cy="3705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9228058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51266327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49449190"/>
                        </a:ext>
                      </a:extLst>
                    </a:gridCol>
                  </a:tblGrid>
                  <a:tr h="6176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980" r="-200870" b="-499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980" r="-100521" b="-499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980" r="-696" b="-499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679871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110860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745949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5548200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5339324"/>
                      </a:ext>
                    </a:extLst>
                  </a:tr>
                  <a:tr h="6176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93781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466462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CDC2-A1AA-400A-F26C-917A0DD4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3E68B-9395-D1EB-03ED-E5E7DED44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Mean: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/>
                          <m:t>1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/>
                          <m:t>2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/>
                          <m:t>3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3E68B-9395-D1EB-03ED-E5E7DED44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1197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AB50-F181-E654-C504-24C7F5CB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One-Way ANOVA Test?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48D1-B9CB-3A8C-03E5-87276C198A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We want to determine whether: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10,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/>
                      <m:t>8,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/>
                      <m:t>12</m:t>
                    </m:r>
                  </m:oMath>
                </a14:m>
                <a:endParaRPr lang="en-IN" b="0" dirty="0"/>
              </a:p>
              <a:p>
                <a:r>
                  <a:rPr lang="en-IN" dirty="0">
                    <a:highlight>
                      <a:srgbClr val="FFFF00"/>
                    </a:highlight>
                  </a:rPr>
                  <a:t>are genuinely different population means or whether these differences could reasonably occur because of sampling variation.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48D1-B9CB-3A8C-03E5-87276C198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9281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6C60-23AE-79F4-6C99-1153F338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954DA-4C31-F86B-1AD8-93578D1BB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Null Hypothesis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9425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7CEF-490C-E5BD-FEBA-C00804D3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A2D6-4506-1560-8347-75D5C105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7407A-B7F1-4DF6-6410-25F78B2203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Null Hypothesis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𝐻</m:t>
                            </m:r>
                          </m:e>
                          <m:sub>
                            <m:r>
                              <a:rPr lang="en-IN"/>
                              <m:t>0</m:t>
                            </m:r>
                          </m:sub>
                        </m:sSub>
                        <m:r>
                          <a:rPr lang="en-IN"/>
                          <m:t>: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</m:sSub>
                        <m:r>
                          <a:rPr lang="en-IN"/>
                          <m:t>=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/>
                              <m:t>2</m:t>
                            </m:r>
                          </m:sub>
                        </m:sSub>
                        <m:r>
                          <a:rPr lang="en-IN"/>
                          <m:t>=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/>
                              <m:t>3</m:t>
                            </m:r>
                          </m:sub>
                        </m:sSub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Meaning:</a:t>
                </a:r>
              </a:p>
              <a:p>
                <a:r>
                  <a:rPr lang="en-IN" dirty="0"/>
                  <a:t>The population means of all groups are equal.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7407A-B7F1-4DF6-6410-25F78B2203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4745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F2C2-5A68-4756-5CCF-7FA7CAEC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 Hypothesis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E4A65-0088-D80A-CB14-E154A5CE1F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Alternative Hypothesis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𝐻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</m:sSub>
                        <m:r>
                          <a:rPr lang="en-IN"/>
                          <m:t>:</m:t>
                        </m:r>
                        <m:r>
                          <m:rPr>
                            <m:nor/>
                          </m:rPr>
                          <a:rPr lang="en-IN"/>
                          <m:t>At least one mean is different</m:t>
                        </m:r>
                      </m:e>
                    </m:borderBox>
                  </m:oMath>
                </a14:m>
                <a:endParaRPr lang="en-IN" b="0" dirty="0"/>
              </a:p>
              <a:p>
                <a:endParaRPr lang="en-IN" dirty="0"/>
              </a:p>
              <a:p>
                <a:r>
                  <a:rPr lang="en-IN" dirty="0"/>
                  <a:t>Important: ANOVA does </a:t>
                </a:r>
                <a:r>
                  <a:rPr lang="en-IN" b="1" dirty="0"/>
                  <a:t>not</a:t>
                </a:r>
                <a:r>
                  <a:rPr lang="en-IN" dirty="0"/>
                  <a:t> initially tell us which group is different.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It only tells us: At least one difference exists​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E4A65-0088-D80A-CB14-E154A5CE1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798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6EB4-BC48-2B0A-8296-58BC8522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8ACDF-0961-D691-EA71-6A6EFC50A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X  :   represents an observation or data value.</a:t>
                </a:r>
              </a:p>
              <a:p>
                <a:r>
                  <a:rPr lang="en-IN" b="1" dirty="0"/>
                  <a:t>∑X:  </a:t>
                </a:r>
                <a:r>
                  <a:rPr lang="en-IN" dirty="0"/>
                  <a:t>Summation​</a:t>
                </a:r>
                <a:endParaRPr lang="en-IN" b="1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</m:oMath>
                </a14:m>
                <a:r>
                  <a:rPr lang="en-IN" dirty="0"/>
                  <a:t> : represents the number of observations.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</m:oMath>
                </a14:m>
                <a:r>
                  <a:rPr lang="en-IN" dirty="0"/>
                  <a:t>: represents the </a:t>
                </a:r>
                <a:r>
                  <a:rPr lang="en-IN" b="1" dirty="0"/>
                  <a:t>total number of observations across all groups</a:t>
                </a:r>
                <a:r>
                  <a:rPr lang="en-IN" dirty="0"/>
                  <a:t>.</a:t>
                </a:r>
                <a:endParaRPr lang="en-IN" b="1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</m:oMath>
                </a14:m>
                <a:r>
                  <a:rPr lang="en-IN" dirty="0"/>
                  <a:t>: represents the number of groups or columns.</a:t>
                </a:r>
                <a:endParaRPr lang="en-IN" b="1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𝑇</m:t>
                    </m:r>
                  </m:oMath>
                </a14:m>
                <a:r>
                  <a:rPr lang="en-IN" dirty="0"/>
                  <a:t>: Grand Total​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8ACDF-0961-D691-EA71-6A6EFC50A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3503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CF3A-CAE3-18DF-ADEE-61430F95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28664-A0DA-1D6C-F1A0-5FF42018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A37C4D-FFE7-B6EA-41DA-96B53ADA06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CF</a:t>
                </a:r>
              </a:p>
              <a:p>
                <a:r>
                  <a:rPr lang="en-IN" dirty="0"/>
                  <a:t>CF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Correction Factor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𝐶𝐹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𝑇</m:t>
                                </m:r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i="1"/>
                              <m:t>𝑁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A37C4D-FFE7-B6EA-41DA-96B53ADA0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6552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9ECC-C5CD-79AF-D903-4C8E6BD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6855-5EFE-7EE2-FCA8-D7726AF5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1EE01-BAAC-5AA0-382B-5B2951494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SSC</a:t>
                </a:r>
              </a:p>
              <a:p>
                <a:r>
                  <a:rPr lang="en-IN" dirty="0"/>
                  <a:t>SSC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Sum of Squares Between Samples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It measures variation between group means.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1EE01-BAAC-5AA0-382B-5B2951494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8262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0312-8582-294D-DB78-7DF0ABD5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67DB-795D-7FB5-AD52-244713E8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5F734-7FE7-F35F-AEE2-E918B76513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SST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Total Sum of Squares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It represents total variation in the complete dataset.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5F734-7FE7-F35F-AEE2-E918B76513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6130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42B2-F93F-5765-4605-64E9D8EA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49A7-B54E-B6B5-DA37-C3CE3884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179A4-4958-C0C3-4FFC-B340F7666E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SSE</a:t>
                </a:r>
              </a:p>
              <a:p>
                <a:r>
                  <a:rPr lang="en-IN" dirty="0"/>
                  <a:t>SSE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Sum of Squares Error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 also calls: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Sum of Squares Within Samples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It represents variation inside groups.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179A4-4958-C0C3-4FFC-B340F7666E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8756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3F6A-EB8E-DEB5-3CAB-470E56E0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5B5E-9F49-F58A-B5E3-9B26BFB2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17112-1832-6508-5B73-9560A6D624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MSC</a:t>
                </a:r>
              </a:p>
              <a:p>
                <a:r>
                  <a:rPr lang="en-IN" dirty="0"/>
                  <a:t>MSC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Mean Sum of Squares Between Samples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𝑀𝑆𝐶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𝑆𝑆𝐶</m:t>
                            </m:r>
                          </m:num>
                          <m:den>
                            <m:r>
                              <a:rPr lang="en-IN" i="1"/>
                              <m:t>𝐶</m:t>
                            </m:r>
                            <m:r>
                              <a:rPr lang="en-IN"/>
                              <m:t>−1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17112-1832-6508-5B73-9560A6D62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2524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B71D-1A30-49AA-BAB6-71FD1BDC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73D4-684E-EADB-8FE5-B1D8D102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7B420B-86B2-51E0-0BD1-670C59A60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MSE</a:t>
                </a:r>
              </a:p>
              <a:p>
                <a:r>
                  <a:rPr lang="en-IN" dirty="0"/>
                  <a:t>MSE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Mean Sum of Squares Error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𝑀𝑆𝐸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𝑆𝑆𝐸</m:t>
                            </m:r>
                          </m:num>
                          <m:den>
                            <m:r>
                              <a:rPr lang="en-IN" i="1"/>
                              <m:t>𝑁</m:t>
                            </m:r>
                            <m:r>
                              <a:rPr lang="en-IN"/>
                              <m:t>−</m:t>
                            </m:r>
                            <m:r>
                              <a:rPr lang="en-IN" i="1"/>
                              <m:t>𝐶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7B420B-86B2-51E0-0BD1-670C59A60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8075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36A6-16E1-5A0E-5AEA-A8C362DF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6367-6FE4-73F1-CECF-CF20291E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66C0A-6D01-8E97-F08C-EE0B3031E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 F</a:t>
                </a:r>
              </a:p>
              <a:p>
                <a:r>
                  <a:rPr lang="en-IN" dirty="0"/>
                  <a:t>F represents: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F Statistic or F−Ratio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𝐹</m:t>
                        </m:r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𝑀𝑆𝐶</m:t>
                            </m:r>
                          </m:num>
                          <m:den>
                            <m:r>
                              <a:rPr lang="en-IN" i="1"/>
                              <m:t>𝑀𝑆𝐸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66C0A-6D01-8E97-F08C-EE0B3031E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7703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3638-09A9-5EAE-3C4D-894B90A5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E05A-327E-A25D-AA31-20A59570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ONE-WAY ANOVA 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887AB-5952-2EC7-9ED8-BE87129BD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endParaRPr lang="en-IN" b="1" dirty="0"/>
              </a:p>
              <a:p>
                <a:r>
                  <a:rPr lang="en-IN" sz="4000" dirty="0" err="1"/>
                  <a:t>df</a:t>
                </a:r>
                <a:r>
                  <a:rPr lang="en-IN" sz="4000" dirty="0"/>
                  <a:t> means: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N" sz="4000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sz="4000" b="0" i="0"/>
                          <m:t>Degrees of Freedom</m:t>
                        </m:r>
                      </m:e>
                    </m:borderBox>
                  </m:oMath>
                </a14:m>
                <a:endParaRPr lang="en-IN" sz="4000" b="0" dirty="0"/>
              </a:p>
              <a:p>
                <a:r>
                  <a:rPr lang="en-IN" sz="4000" dirty="0"/>
                  <a:t>For One-Way ANOVA:</a:t>
                </a:r>
              </a:p>
              <a:p>
                <a:r>
                  <a:rPr lang="en-IN" sz="4000" b="1" dirty="0"/>
                  <a:t>Between Groups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3600" i="1"/>
                      <m:t>𝑑𝑓</m:t>
                    </m:r>
                    <m:r>
                      <a:rPr lang="en-IN" sz="3600"/>
                      <m:t>=</m:t>
                    </m:r>
                    <m:r>
                      <a:rPr lang="en-IN" sz="3600" i="1"/>
                      <m:t>𝐶</m:t>
                    </m:r>
                    <m:r>
                      <a:rPr lang="en-IN" sz="3600"/>
                      <m:t>−1</m:t>
                    </m:r>
                  </m:oMath>
                </a14:m>
                <a:endParaRPr lang="en-IN" sz="3600" dirty="0"/>
              </a:p>
              <a:p>
                <a:r>
                  <a:rPr lang="en-IN" sz="4000" b="1" dirty="0"/>
                  <a:t>Within Groups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3600" i="1"/>
                      <m:t>𝑑𝑓</m:t>
                    </m:r>
                    <m:r>
                      <a:rPr lang="en-IN" sz="3600"/>
                      <m:t>=</m:t>
                    </m:r>
                    <m:r>
                      <a:rPr lang="en-IN" sz="3600" i="1"/>
                      <m:t>𝑁</m:t>
                    </m:r>
                    <m:r>
                      <a:rPr lang="en-IN" sz="3600"/>
                      <m:t>−</m:t>
                    </m:r>
                    <m:r>
                      <a:rPr lang="en-IN" sz="3600" i="1"/>
                      <m:t>𝐶</m:t>
                    </m:r>
                  </m:oMath>
                </a14:m>
                <a:endParaRPr lang="en-IN" sz="3600" dirty="0"/>
              </a:p>
              <a:p>
                <a:r>
                  <a:rPr lang="en-IN" sz="4000" b="1" dirty="0"/>
                  <a:t>Total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3600" i="1"/>
                      <m:t>𝑑𝑓</m:t>
                    </m:r>
                    <m:r>
                      <a:rPr lang="en-IN" sz="3600"/>
                      <m:t>=</m:t>
                    </m:r>
                    <m:r>
                      <a:rPr lang="en-IN" sz="3600" i="1"/>
                      <m:t>𝑁</m:t>
                    </m:r>
                    <m:r>
                      <a:rPr lang="en-IN" sz="3600"/>
                      <m:t>−1</m:t>
                    </m:r>
                  </m:oMath>
                </a14:m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887AB-5952-2EC7-9ED8-BE87129BD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4703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6217-D9AA-9315-81A0-0DD55C23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D29E-08B4-2B40-509F-FA57F1B90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assess the significance of possible variation in performance in a certain test between the schools of a city, a common test was given to students randomly selected from four schools.</a:t>
            </a:r>
          </a:p>
        </p:txBody>
      </p:sp>
    </p:spTree>
    <p:extLst>
      <p:ext uri="{BB962C8B-B14F-4D97-AF65-F5344CB8AC3E}">
        <p14:creationId xmlns:p14="http://schemas.microsoft.com/office/powerpoint/2010/main" val="11077554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467C-0CCD-86CA-257A-7BC050AFF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C796-5EEF-7CA7-57EB-0353A9BE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537B55-9D14-0F1F-ECF6-E3DB91797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061074"/>
              </p:ext>
            </p:extLst>
          </p:nvPr>
        </p:nvGraphicFramePr>
        <p:xfrm>
          <a:off x="838200" y="1668978"/>
          <a:ext cx="105156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445404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612836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53750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191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School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School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School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School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943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8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56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93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01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8965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5D6181-7BA0-AC49-52FF-BD43F4E4A367}"/>
              </a:ext>
            </a:extLst>
          </p:cNvPr>
          <p:cNvSpPr txBox="1"/>
          <p:nvPr/>
        </p:nvSpPr>
        <p:spPr>
          <a:xfrm>
            <a:off x="1098030" y="4499758"/>
            <a:ext cx="693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Make an analysis of variance.</a:t>
            </a:r>
          </a:p>
        </p:txBody>
      </p:sp>
    </p:spTree>
    <p:extLst>
      <p:ext uri="{BB962C8B-B14F-4D97-AF65-F5344CB8AC3E}">
        <p14:creationId xmlns:p14="http://schemas.microsoft.com/office/powerpoint/2010/main" val="13029855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2F4C-196E-C8E5-9D7D-3D631186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Identify the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4DB142-65BC-3F17-4E60-EFC9283C8A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factor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School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There are four levels: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𝐴</m:t>
                    </m:r>
                    <m:r>
                      <a:rPr lang="en-IN"/>
                      <m:t>,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 i="1"/>
                      <m:t>𝐵</m:t>
                    </m:r>
                    <m:r>
                      <a:rPr lang="en-IN"/>
                      <m:t>,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 i="1"/>
                      <m:t>𝐶</m:t>
                    </m:r>
                    <m:r>
                      <a:rPr lang="en-IN"/>
                      <m:t>,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 i="1"/>
                      <m:t>𝐷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/>
                  <a:t>C=4​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4DB142-65BC-3F17-4E60-EFC9283C8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391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C402-73BB-4A2E-8BBB-DF64273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Number of Observations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7723A-AA64-D13A-4F0D-5AD9DD1BF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ach school has: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students.</a:t>
                </a:r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𝑛</m:t>
                        </m:r>
                      </m:e>
                      <m:sub>
                        <m:r>
                          <a:rPr lang="en-IN"/>
                          <m:t>1</m:t>
                        </m:r>
                      </m:sub>
                    </m:sSub>
                    <m:r>
                      <a:rPr lang="en-IN"/>
                      <m:t>=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𝑛</m:t>
                        </m:r>
                      </m:e>
                      <m:sub>
                        <m:r>
                          <a:rPr lang="en-IN"/>
                          <m:t>2</m:t>
                        </m:r>
                      </m:sub>
                    </m:sSub>
                    <m:r>
                      <a:rPr lang="en-IN"/>
                      <m:t>=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𝑛</m:t>
                        </m:r>
                      </m:e>
                      <m:sub>
                        <m:r>
                          <a:rPr lang="en-IN"/>
                          <m:t>3</m:t>
                        </m:r>
                      </m:sub>
                    </m:sSub>
                    <m:r>
                      <a:rPr lang="en-IN"/>
                      <m:t>=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𝑛</m:t>
                        </m:r>
                      </m:e>
                      <m:sub>
                        <m:r>
                          <a:rPr lang="en-IN"/>
                          <m:t>4</m:t>
                        </m:r>
                      </m:sub>
                    </m:sSub>
                    <m:r>
                      <a:rPr lang="en-IN"/>
                      <m:t>=5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Total observations: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  <m:r>
                      <a:rPr lang="en-IN"/>
                      <m:t>=5+5+5+5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N=20​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7723A-AA64-D13A-4F0D-5AD9DD1BF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1118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539E-2B90-F926-A4A1-6934F754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DB00D-C0F8-FD9A-AE25-A26A54E4F0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Null Hypothesis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𝐻</m:t>
                            </m:r>
                          </m:e>
                          <m:sub>
                            <m:r>
                              <a:rPr lang="en-IN"/>
                              <m:t>0</m:t>
                            </m:r>
                          </m:sub>
                        </m:sSub>
                        <m:r>
                          <a:rPr lang="en-IN"/>
                          <m:t>: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 i="1"/>
                              <m:t>𝐴</m:t>
                            </m:r>
                          </m:sub>
                        </m:sSub>
                        <m:r>
                          <a:rPr lang="en-IN"/>
                          <m:t>=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 i="1"/>
                              <m:t>𝐵</m:t>
                            </m:r>
                          </m:sub>
                        </m:sSub>
                        <m:r>
                          <a:rPr lang="en-IN"/>
                          <m:t>=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 i="1"/>
                              <m:t>𝐶</m:t>
                            </m:r>
                          </m:sub>
                        </m:sSub>
                        <m:r>
                          <a:rPr lang="en-IN"/>
                          <m:t>=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𝜇</m:t>
                            </m:r>
                          </m:e>
                          <m:sub>
                            <m:r>
                              <a:rPr lang="en-IN" i="1"/>
                              <m:t>𝐷</m:t>
                            </m:r>
                          </m:sub>
                        </m:sSub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Meaning:</a:t>
                </a:r>
              </a:p>
              <a:p>
                <a:r>
                  <a:rPr lang="en-IN" dirty="0"/>
                  <a:t>The performance of students in all four schools is the same.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DB00D-C0F8-FD9A-AE25-A26A54E4F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24293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96A5-0A2D-7666-87F5-042923B7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7FAF-5809-E230-5085-440842ED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E02E-AAA5-ACB7-5556-12ABFBC9B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93948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8FDE-3197-3BD9-E161-6663FBC9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917F-734E-493F-0CC5-C74C09E7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Alternative Hypothesis</a:t>
            </a:r>
          </a:p>
          <a:p>
            <a:r>
              <a:rPr lang="en-IN" dirty="0"/>
              <a:t>H1​:At least one school mean is different​</a:t>
            </a:r>
          </a:p>
        </p:txBody>
      </p:sp>
    </p:spTree>
    <p:extLst>
      <p:ext uri="{BB962C8B-B14F-4D97-AF65-F5344CB8AC3E}">
        <p14:creationId xmlns:p14="http://schemas.microsoft.com/office/powerpoint/2010/main" val="277577583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5EA6-E973-F43C-E076-B04D91FD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Create Calculation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5A206B0-96AE-23F7-7F86-EF0BAF014AB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1663470"/>
                  </p:ext>
                </p:extLst>
              </p:nvPr>
            </p:nvGraphicFramePr>
            <p:xfrm>
              <a:off x="838200" y="1825625"/>
              <a:ext cx="10515596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2228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5A206B0-96AE-23F7-7F86-EF0BAF014AB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1663470"/>
                  </p:ext>
                </p:extLst>
              </p:nvPr>
            </p:nvGraphicFramePr>
            <p:xfrm>
              <a:off x="838200" y="1825625"/>
              <a:ext cx="10515596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2228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502228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13" t="-6557" r="-50284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220" t="-6557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1626" t="-6557" r="-102033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298976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5DC02-49C8-32AE-5A05-D133DBEF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BF7D3-E834-C7CD-3F0B-86EEE457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Create Calculation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AC4C676-D818-6B0C-5799-DDA3C09F27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75771699"/>
                  </p:ext>
                </p:extLst>
              </p:nvPr>
            </p:nvGraphicFramePr>
            <p:xfrm>
              <a:off x="838200" y="1825625"/>
              <a:ext cx="105156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8698363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AC4C676-D818-6B0C-5799-DDA3C09F27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75771699"/>
                  </p:ext>
                </p:extLst>
              </p:nvPr>
            </p:nvGraphicFramePr>
            <p:xfrm>
              <a:off x="838200" y="1825625"/>
              <a:ext cx="105156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8698363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63" t="-6557" r="-60092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6557" r="-40138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6557" r="-20138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9537" t="-6557" r="-1852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23731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8226B-6702-FA20-F2D7-ED247058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CD1E-4DB5-FE0A-678E-7B55A1A9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Create Calculation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0F8A2A5-6BF7-55D7-731D-E0F1FAB82B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09289665"/>
                  </p:ext>
                </p:extLst>
              </p:nvPr>
            </p:nvGraphicFramePr>
            <p:xfrm>
              <a:off x="838200" y="1825625"/>
              <a:ext cx="105156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136216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324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81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54797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196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854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6370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421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10957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0F8A2A5-6BF7-55D7-731D-E0F1FAB82B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09289665"/>
                  </p:ext>
                </p:extLst>
              </p:nvPr>
            </p:nvGraphicFramePr>
            <p:xfrm>
              <a:off x="838200" y="1825625"/>
              <a:ext cx="105156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30937726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7444956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39193866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3185894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7182502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6356103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011992480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136216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63" t="-6557" r="-600926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6557" r="-401389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6557" r="-201389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9537" t="-6557" r="-1852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87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324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439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81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2044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54797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196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854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 dirty="0"/>
                            <a:t>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0"/>
                            <a:t>225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6370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421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875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10957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216493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1BDB-AF5A-3C80-DCF0-5CA59DDE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Calculate Group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89616-88A9-F271-09DD-9A080BF7E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School 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 i="1"/>
                          <m:t>𝐴</m:t>
                        </m:r>
                      </m:sub>
                    </m:sSub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45</m:t>
                        </m:r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b="1" dirty="0"/>
                  <a:t>School B: </a:t>
                </a:r>
              </a:p>
              <a:p>
                <a:r>
                  <a:rPr lang="en-IN" b="1" dirty="0"/>
                  <a:t>School C:</a:t>
                </a:r>
              </a:p>
              <a:p>
                <a:r>
                  <a:rPr lang="en-IN" b="1" dirty="0"/>
                  <a:t>School D: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89616-88A9-F271-09DD-9A080BF7E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61061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B03-CF90-3FC9-3FD4-C6D0D04B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A1D7-B82E-FE20-C635-D859464F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Calculate Group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297DA-51E1-5462-6FBA-B9A8636EB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School A</a:t>
                </a: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/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IN" i="1"/>
                              <m:t>𝐴</m:t>
                            </m:r>
                          </m:sub>
                        </m:sSub>
                        <m:r>
                          <a:rPr lang="en-IN"/>
                          <m:t>=9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School B</a:t>
                </a: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/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IN" i="1"/>
                              <m:t>𝐵</m:t>
                            </m:r>
                          </m:sub>
                        </m:sSub>
                        <m:r>
                          <a:rPr lang="en-IN"/>
                          <m:t>=10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School C</a:t>
                </a: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/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IN" i="1"/>
                              <m:t>𝐶</m:t>
                            </m:r>
                          </m:sub>
                        </m:sSub>
                        <m:r>
                          <a:rPr lang="en-IN"/>
                          <m:t>=12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School D</a:t>
                </a:r>
                <a:endParaRPr lang="en-IN" dirty="0"/>
              </a:p>
              <a:p>
                <a:r>
                  <a:rPr lang="en-IN" dirty="0"/>
                  <a:t>XˉD​=13​</a:t>
                </a:r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297DA-51E1-5462-6FBA-B9A8636EB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36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10507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A5FC-A69F-0A59-B9B6-1E771AE1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ADD3-2F7A-8E17-708F-6E0CAFC1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Grand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B598-2844-EC43-1FD9-8981136A9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8931897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B6E4-5101-1529-48E8-05C1BFE8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Grand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785C8-99E7-EDAB-92C3-89724C54E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T=45+50+60+65 =220​	</a:t>
            </a:r>
          </a:p>
        </p:txBody>
      </p:sp>
    </p:spTree>
    <p:extLst>
      <p:ext uri="{BB962C8B-B14F-4D97-AF65-F5344CB8AC3E}">
        <p14:creationId xmlns:p14="http://schemas.microsoft.com/office/powerpoint/2010/main" val="296911967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DBAF-6C73-FD90-447D-FD539F35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7: Grand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0502A-6B71-9328-0B9E-D75BFCAF6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 i="1"/>
                          <m:t>𝑔𝑟𝑎𝑛𝑑</m:t>
                        </m:r>
                      </m:sub>
                    </m:sSub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𝑇</m:t>
                        </m:r>
                      </m:num>
                      <m:den>
                        <m:r>
                          <a:rPr lang="en-IN" i="1"/>
                          <m:t>𝑁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0502A-6B71-9328-0B9E-D75BFCAF6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3221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D05B-C75A-71F3-37A4-15E6D1C5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D2D3-45DB-6502-88F1-9C923EE4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7: Grand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9C42E-D7AF-8442-BB40-AB9C29037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/>
                      <m:t>Substitute: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IN" i="1"/>
                          <m:t>𝑔𝑟𝑎𝑛𝑑</m:t>
                        </m:r>
                      </m:sub>
                    </m:sSub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220</m:t>
                        </m:r>
                      </m:num>
                      <m:den>
                        <m:r>
                          <a:rPr lang="en-IN"/>
                          <m:t>20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b>
                          <m:sSubPr>
                            <m:ctrlPr>
                              <a:rPr lang="en-IN"/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IN" i="1"/>
                              <m:t>𝑔𝑟𝑎𝑛𝑑</m:t>
                            </m:r>
                          </m:sub>
                        </m:sSub>
                        <m:r>
                          <a:rPr lang="en-IN"/>
                          <m:t>=11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9C42E-D7AF-8442-BB40-AB9C29037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2145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31E0-C151-9456-3BA7-7FE1D752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8: Calculate Correction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4C2B1-ED13-0441-A5B4-92BEB0DEB2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𝑇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i="1"/>
                          <m:t>𝑁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C4C2B1-ED13-0441-A5B4-92BEB0DEB2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3047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9828-F635-A6AD-0856-CC70246E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10EB-F11D-4F4F-0BE9-A6DEDAAA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8: Calculate Correction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9097E-D4DB-B403-8063-0C147638F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𝑇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i="1"/>
                          <m:t>𝑁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48400</m:t>
                        </m:r>
                      </m:num>
                      <m:den>
                        <m:r>
                          <a:rPr lang="en-IN"/>
                          <m:t>20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CF=2420​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9097E-D4DB-B403-8063-0C147638F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8009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1161-B6F1-02C1-7D30-38B79443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9: Calculate SSC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B4255-FD04-CF19-814D-C7D4882BE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2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3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3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4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4</m:t>
                            </m:r>
                          </m:sub>
                        </m:sSub>
                      </m:den>
                    </m:f>
                    <m:r>
                      <a:rPr lang="en-IN"/>
                      <m:t>−</m:t>
                    </m:r>
                    <m:r>
                      <a:rPr lang="en-IN" i="1"/>
                      <m:t>𝐶𝐹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 values: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B4255-FD04-CF19-814D-C7D4882BE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62632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E344B-0293-DB2E-7445-3D942DB4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8B07-0453-07BC-331D-10C0D360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9: Calculate SSC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483A6-3714-31CC-4BC6-AE63A2A3B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2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3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3</m:t>
                            </m:r>
                          </m:sub>
                        </m:sSub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IN" i="1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/>
                                          <m:t>4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𝑛</m:t>
                            </m:r>
                          </m:e>
                          <m:sub>
                            <m:r>
                              <a:rPr lang="en-IN"/>
                              <m:t>4</m:t>
                            </m:r>
                          </m:sub>
                        </m:sSub>
                      </m:den>
                    </m:f>
                    <m:r>
                      <a:rPr lang="en-IN"/>
                      <m:t>−</m:t>
                    </m:r>
                    <m:r>
                      <a:rPr lang="en-IN" i="1"/>
                      <m:t>𝐶𝐹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 values:</a:t>
                </a:r>
              </a:p>
              <a:p>
                <a:r>
                  <a:rPr lang="en-IN" dirty="0"/>
                  <a:t>Substitute values: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45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50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60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sSup>
                          <m:sSupPr>
                            <m:ctrlPr>
                              <a:rPr lang="en-IN"/>
                            </m:ctrlPr>
                          </m:sSupPr>
                          <m:e>
                            <m:r>
                              <a:rPr lang="en-IN"/>
                              <m:t>65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  <m:r>
                      <a:rPr lang="en-IN"/>
                      <m:t>−2420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𝑆𝑆𝐶</m:t>
                        </m:r>
                        <m:r>
                          <a:rPr lang="en-IN"/>
                          <m:t>=50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483A6-3714-31CC-4BC6-AE63A2A3B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7042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DBA1-1908-9D6A-5820-2F865A20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10: Degrees of Freedom for SSC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F7EBEE-839E-3A8A-2011-04389B331E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𝑏𝑒𝑡𝑤𝑒𝑒𝑛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𝐶</m:t>
                    </m:r>
                    <m:r>
                      <a:rPr lang="en-IN"/>
                      <m:t>−1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F7EBEE-839E-3A8A-2011-04389B331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2277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9CB5-E8FF-2140-6BD2-FE0285AE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1093-C937-71E5-89E3-6E1F0777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10: Degrees of Freedom for SSC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E99F6-F730-C3F0-6253-47BF040B3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𝑏𝑒𝑡𝑤𝑒𝑒𝑛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𝐶</m:t>
                    </m:r>
                    <m:r>
                      <a:rPr lang="en-IN"/>
                      <m:t>−1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We have: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  <m:r>
                      <a:rPr lang="en-IN"/>
                      <m:t>=4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𝑏𝑒𝑡𝑤𝑒𝑒𝑛</m:t>
                        </m:r>
                      </m:sub>
                    </m:sSub>
                    <m:r>
                      <a:rPr lang="en-IN"/>
                      <m:t>=4−1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𝑏𝑒𝑡𝑤𝑒𝑒𝑛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E99F6-F730-C3F0-6253-47BF040B3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6846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65A0-13D4-4518-2E32-83C1AAA9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11: Calculate SST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05798-84FE-04BC-D999-994BFDD67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𝑆𝑆𝑇</m:t>
                    </m:r>
                    <m:r>
                      <a:rPr lang="en-IN"/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2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3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4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−</m:t>
                    </m:r>
                    <m:r>
                      <a:rPr lang="en-IN" i="1"/>
                      <m:t>𝐶𝐹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05798-84FE-04BC-D999-994BFDD67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589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F2C6-65FC-9919-E921-D5C8D256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5A6B-B05F-461C-82BF-5B3596F8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11: Calculate SST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B063D-7DB0-9847-07D4-55E5AAC4C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𝑆𝑆𝑇</m:t>
                    </m:r>
                    <m:r>
                      <a:rPr lang="en-IN"/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1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2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3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+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IN" i="1"/>
                            </m:ctrlPr>
                          </m:sSubSupPr>
                          <m:e>
                            <m:r>
                              <a:rPr lang="en-IN" i="1"/>
                              <m:t>𝑋</m:t>
                            </m:r>
                          </m:e>
                          <m:sub>
                            <m:r>
                              <a:rPr lang="en-IN"/>
                              <m:t>4</m:t>
                            </m:r>
                          </m:sub>
                          <m:sup>
                            <m:r>
                              <a:rPr lang="en-IN"/>
                              <m:t>2</m:t>
                            </m:r>
                          </m:sup>
                        </m:sSubSup>
                      </m:e>
                    </m:nary>
                    <m:r>
                      <a:rPr lang="en-IN"/>
                      <m:t>−</m:t>
                    </m:r>
                    <m:r>
                      <a:rPr lang="en-IN" i="1"/>
                      <m:t>𝐶𝐹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r>
                  <a:rPr lang="en-IN" dirty="0"/>
                  <a:t>SST=421+558+824+875−2420</a:t>
                </a:r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𝑆𝑆𝑇</m:t>
                        </m:r>
                        <m:r>
                          <a:rPr lang="en-IN"/>
                          <m:t>=258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1B063D-7DB0-9847-07D4-55E5AAC4C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143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A0DB-11D2-A999-7117-5800120F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12: Degrees of Freedom for SST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869F5-23BC-1CF9-6E90-0EBD6203D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𝑡𝑜𝑡𝑎𝑙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𝑁</m:t>
                    </m:r>
                    <m:r>
                      <a:rPr lang="en-IN"/>
                      <m:t>−1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869F5-23BC-1CF9-6E90-0EBD6203D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0391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0ED0B-0ABD-5315-A84A-35EBB880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0B0C-0971-26A8-BA78-D17F8BCC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12: Degrees of Freedom for SST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D8A61-E558-F794-7ED3-8EF299D69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𝑡𝑜𝑡𝑎𝑙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𝑁</m:t>
                    </m:r>
                    <m:r>
                      <a:rPr lang="en-IN"/>
                      <m:t>−1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𝑑𝑓</m:t>
                    </m:r>
                    <m:r>
                      <a:rPr lang="en-IN"/>
                      <m:t>=20−1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𝑡𝑜𝑡𝑎𝑙</m:t>
                            </m:r>
                          </m:sub>
                        </m:sSub>
                        <m:r>
                          <a:rPr lang="en-IN"/>
                          <m:t>=19</m:t>
                        </m:r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D8A61-E558-F794-7ED3-8EF299D69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9218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0E4C-8E7D-1012-30CA-083FAC21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13: Calculate SSE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9A3AE7-5D94-3B07-D54C-36A652F35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𝑆𝑆𝐸</m:t>
                    </m:r>
                    <m:r>
                      <a:rPr lang="en-IN"/>
                      <m:t>=</m:t>
                    </m:r>
                    <m:r>
                      <a:rPr lang="en-IN" i="1"/>
                      <m:t>𝑆𝑆𝑇</m:t>
                    </m:r>
                    <m:r>
                      <a:rPr lang="en-IN"/>
                      <m:t>−</m:t>
                    </m:r>
                    <m:r>
                      <a:rPr lang="en-IN" i="1"/>
                      <m:t>𝑆𝑆𝐶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9A3AE7-5D94-3B07-D54C-36A652F35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9873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98D6-F541-17E1-745C-E1ED2449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2439-7924-7BAF-9EF1-0B11AF66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13: Calculate SSE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646B5A-B446-2AF9-7550-1662A07CD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𝑆𝑆𝐸</m:t>
                    </m:r>
                    <m:r>
                      <a:rPr lang="en-IN"/>
                      <m:t>=</m:t>
                    </m:r>
                    <m:r>
                      <a:rPr lang="en-IN" i="1"/>
                      <m:t>𝑆𝑆𝑇</m:t>
                    </m:r>
                    <m:r>
                      <a:rPr lang="en-IN"/>
                      <m:t>−</m:t>
                    </m:r>
                    <m:r>
                      <a:rPr lang="en-IN" i="1"/>
                      <m:t>𝑆𝑆𝐶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𝑆𝑆𝐸</m:t>
                    </m:r>
                    <m:r>
                      <a:rPr lang="en-IN"/>
                      <m:t>=258−50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𝑆𝑆𝐸</m:t>
                        </m:r>
                        <m:r>
                          <a:rPr lang="en-IN"/>
                          <m:t>=208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646B5A-B446-2AF9-7550-1662A07CD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64331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FFD3-E648-4F2F-2FDF-4BDD95D2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14: Degrees of Freedom for SSE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3AEC-6645-DDA7-AA7C-654B4D9A6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𝑒𝑟𝑟𝑜𝑟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𝑁</m:t>
                    </m:r>
                    <m:r>
                      <a:rPr lang="en-IN"/>
                      <m:t>−</m:t>
                    </m:r>
                    <m:r>
                      <a:rPr lang="en-IN" i="1"/>
                      <m:t>𝐶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3AEC-6645-DDA7-AA7C-654B4D9A6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3108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AE18-2B30-3A7E-D2AD-9ABB96F8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0FB0-BBD8-06C3-E013-14B88EFB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14: Degrees of Freedom for SSE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A0541-C9E0-D34C-19C9-5ADF79C3DC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Step 14: Degrees of Freedom for SSE</a:t>
                </a:r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𝑒𝑟𝑟𝑜𝑟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𝑁</m:t>
                    </m:r>
                    <m:r>
                      <a:rPr lang="en-IN"/>
                      <m:t>−</m:t>
                    </m:r>
                    <m:r>
                      <a:rPr lang="en-IN" i="1"/>
                      <m:t>𝐶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𝑑𝑓</m:t>
                    </m:r>
                    <m:r>
                      <a:rPr lang="en-IN"/>
                      <m:t>=20−4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𝑒𝑟𝑟𝑜𝑟</m:t>
                            </m:r>
                          </m:sub>
                        </m:sSub>
                        <m:r>
                          <a:rPr lang="en-IN"/>
                          <m:t>=16</m:t>
                        </m:r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A0541-C9E0-D34C-19C9-5ADF79C3D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76247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2927-75B8-BD2A-F0BA-7C9726AE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Check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20827-8F7A-C00A-EF35-D86BB26F5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Always verify: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𝑡𝑜𝑡𝑎𝑙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𝑏𝑒𝑡𝑤𝑒𝑒𝑛</m:t>
                        </m:r>
                      </m:sub>
                    </m:sSub>
                    <m:r>
                      <a:rPr lang="en-IN"/>
                      <m:t>+</m:t>
                    </m:r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 i="1"/>
                          <m:t>𝑒𝑟𝑟𝑜𝑟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19=3+16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Correct:</a:t>
                </a:r>
              </a:p>
              <a:p>
                <a:r>
                  <a:rPr lang="en-IN" dirty="0"/>
                  <a:t>19=19​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20827-8F7A-C00A-EF35-D86BB26F5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64054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C442-5740-F804-BAA5-9F1F27AA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Another Important Check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37AE4-5983-728C-926A-37DF0EFD62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Always verify: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𝑆𝑆𝑇</m:t>
                    </m:r>
                    <m:r>
                      <a:rPr lang="en-IN"/>
                      <m:t>=</m:t>
                    </m:r>
                    <m:r>
                      <a:rPr lang="en-IN" i="1"/>
                      <m:t>𝑆𝑆𝐶</m:t>
                    </m:r>
                    <m:r>
                      <a:rPr lang="en-IN"/>
                      <m:t>+</m:t>
                    </m:r>
                    <m:r>
                      <a:rPr lang="en-IN" i="1"/>
                      <m:t>𝑆𝑆𝐸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37AE4-5983-728C-926A-37DF0EFD6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35833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9845-2FED-39DD-2A4F-CF313E71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15: Calculate MSC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B26D8B-F92E-ADFD-61A5-2ACFF6C07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MSC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Mean Sum of Squares Between Samples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𝑆𝑆𝐶</m:t>
                        </m:r>
                      </m:num>
                      <m:den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𝑏𝑒𝑡𝑤𝑒𝑒𝑛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B26D8B-F92E-ADFD-61A5-2ACFF6C07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93421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A401-9B12-C8C4-B10A-EFB7277D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6EA2-C025-7F3B-1B4B-AC924D27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15: Calculate MSC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1C643-EE6D-1F88-B075-6C6A38D4D0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MSC means: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Mean Sum of Squares Between Samples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𝑆𝑆𝐶</m:t>
                        </m:r>
                      </m:num>
                      <m:den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𝑏𝑒𝑡𝑤𝑒𝑒𝑛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𝑀𝑆𝐶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50</m:t>
                        </m:r>
                      </m:num>
                      <m:den>
                        <m:r>
                          <a:rPr lang="en-IN"/>
                          <m:t>3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MSC=16.67​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1C643-EE6D-1F88-B075-6C6A38D4D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0735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6B59-20AB-BC01-20C4-154CA67D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MSC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8071-6F9D-2613-9A49-36EBD989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MSC represents the average variation between groups per degree of freedom.</a:t>
            </a:r>
          </a:p>
          <a:p>
            <a:r>
              <a:rPr lang="en-IN" dirty="0"/>
              <a:t>In simple teaching language:</a:t>
            </a:r>
          </a:p>
          <a:p>
            <a:r>
              <a:rPr lang="en-IN" dirty="0">
                <a:highlight>
                  <a:srgbClr val="FFFF00"/>
                </a:highlight>
              </a:rPr>
              <a:t>It tells us how much variation exists between the different school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88887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69E5-28A1-673E-5EAE-34B088A8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16: Calculate MSE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2F39A1-56A9-A014-92D0-6B600432A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𝑀𝑆𝐸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𝑆𝑆𝐸</m:t>
                        </m:r>
                      </m:num>
                      <m:den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𝑒𝑟𝑟𝑜𝑟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2F39A1-56A9-A014-92D0-6B600432A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59008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1D1C-7F33-4715-2BBF-986EBFC9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5084-D2FF-25EF-73AA-05FDE995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16: Calculate MSE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3E6A2-407C-64DD-1CBE-5CADFA7B0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𝑀𝑆𝐸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𝑆𝑆𝐸</m:t>
                        </m:r>
                      </m:num>
                      <m:den>
                        <m:r>
                          <a:rPr lang="en-IN" i="1"/>
                          <m:t>𝑑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𝑓</m:t>
                            </m:r>
                          </m:e>
                          <m:sub>
                            <m:r>
                              <a:rPr lang="en-IN" i="1"/>
                              <m:t>𝑒𝑟𝑟𝑜𝑟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𝑀𝑆𝐸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208</m:t>
                        </m:r>
                      </m:num>
                      <m:den>
                        <m:r>
                          <a:rPr lang="en-IN"/>
                          <m:t>16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MSE = 13​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3E6A2-407C-64DD-1CBE-5CADFA7B0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40929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9515-8177-0D65-4B97-DB8F627B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69B0-243A-FB23-E62B-19A524381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MSE represents variation within the groups.</a:t>
            </a:r>
          </a:p>
          <a:p>
            <a:r>
              <a:rPr lang="en-IN" dirty="0"/>
              <a:t>In simple language:</a:t>
            </a:r>
          </a:p>
          <a:p>
            <a:r>
              <a:rPr lang="en-IN" dirty="0">
                <a:highlight>
                  <a:srgbClr val="FFFF00"/>
                </a:highlight>
              </a:rPr>
              <a:t>It tells us how much students differ from one another inside the same school.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72177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1258-078F-69E7-0210-7B13B42F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17: Calculate F-Ratio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287DF-5130-E485-3706-37DEBAA25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𝑀𝑆𝐶</m:t>
                        </m:r>
                      </m:num>
                      <m:den>
                        <m:r>
                          <a:rPr lang="en-IN" i="1"/>
                          <m:t>𝑀𝑆𝐸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287DF-5130-E485-3706-37DEBAA25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60678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CFBC-493F-DCFE-D516-0F21ECF28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190F-F7C3-D587-ADDD-C0355359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17: Calculate F-Ratio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74A2E-C2F5-262D-14C2-71180BCA2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𝑀𝑆𝐶</m:t>
                        </m:r>
                      </m:num>
                      <m:den>
                        <m:r>
                          <a:rPr lang="en-IN" i="1"/>
                          <m:t>𝑀𝑆𝐸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Substitute: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𝐹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16.67</m:t>
                        </m:r>
                      </m:num>
                      <m:den>
                        <m:r>
                          <a:rPr lang="en-IN"/>
                          <m:t>13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𝐹</m:t>
                        </m:r>
                        <m:r>
                          <a:rPr lang="en-IN"/>
                          <m:t>≈1.28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74A2E-C2F5-262D-14C2-71180BCA2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66750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8A42-591F-9134-2EA9-571DE5AE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18: Create ANOVA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B97B3A-242D-AD4F-8164-C7967DDA2B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989295"/>
              </p:ext>
            </p:extLst>
          </p:nvPr>
        </p:nvGraphicFramePr>
        <p:xfrm>
          <a:off x="598357" y="2605113"/>
          <a:ext cx="10515600" cy="2626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580275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62122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507087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691237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5715430"/>
                    </a:ext>
                  </a:extLst>
                </a:gridCol>
              </a:tblGrid>
              <a:tr h="831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 of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Sum of Squares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Mean 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24207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Between Schools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SSC = 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MSC = 16.67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856497"/>
                  </a:ext>
                </a:extLst>
              </a:tr>
              <a:tr h="831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Within Schools/Error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SSE = 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MSE =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101683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SST = 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853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6558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2275-A820-B4D2-7DAF-3004A49C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F-Distribution Table for 5% level of significance (</a:t>
            </a:r>
            <a:r>
              <a:rPr lang="el-GR" dirty="0"/>
              <a:t>α = 0.05</a:t>
            </a:r>
            <a:r>
              <a:rPr lang="en-IN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9CA1C-CDAA-81D1-9574-ECE01B2030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7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631">
                  <a:extLst>
                    <a:ext uri="{9D8B030D-6E8A-4147-A177-3AD203B41FA5}">
                      <a16:colId xmlns:a16="http://schemas.microsoft.com/office/drawing/2014/main" val="61076484"/>
                    </a:ext>
                  </a:extLst>
                </a:gridCol>
                <a:gridCol w="1355569">
                  <a:extLst>
                    <a:ext uri="{9D8B030D-6E8A-4147-A177-3AD203B41FA5}">
                      <a16:colId xmlns:a16="http://schemas.microsoft.com/office/drawing/2014/main" val="38828218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469450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556533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33047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32787823"/>
                    </a:ext>
                  </a:extLst>
                </a:gridCol>
              </a:tblGrid>
              <a:tr h="92403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Numerator df1 / Denominator df2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5281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26942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8996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045672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9822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9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54142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0081-C509-2D6E-3222-15CE9955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19: Compare Calculated F and Tabulated 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D030C-E00B-867F-1574-42CB9E84EE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Calculated: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𝐹</m:t>
                        </m:r>
                      </m:e>
                      <m:sub>
                        <m:r>
                          <a:rPr lang="en-IN" i="1"/>
                          <m:t>𝑐𝑎𝑙</m:t>
                        </m:r>
                      </m:sub>
                    </m:sSub>
                    <m:r>
                      <a:rPr lang="en-IN"/>
                      <m:t>=1.28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Degrees of freedom:</a:t>
                </a:r>
              </a:p>
              <a:p>
                <a:r>
                  <a:rPr lang="en-IN" dirty="0"/>
                  <a:t>Numerator: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/>
                          <m:t>1</m:t>
                        </m:r>
                      </m:sub>
                    </m:sSub>
                    <m:r>
                      <a:rPr lang="en-IN"/>
                      <m:t>=3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Denominator: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𝑓</m:t>
                        </m:r>
                      </m:e>
                      <m:sub>
                        <m:r>
                          <a:rPr lang="en-IN"/>
                          <m:t>2</m:t>
                        </m:r>
                      </m:sub>
                    </m:sSub>
                    <m:r>
                      <a:rPr lang="en-IN"/>
                      <m:t>=16</m:t>
                    </m:r>
                  </m:oMath>
                </a14:m>
                <a:endParaRPr lang="en-IN" dirty="0"/>
              </a:p>
              <a:p>
                <a:r>
                  <a:rPr lang="en-IN" dirty="0"/>
                  <a:t>At:</a:t>
                </a:r>
              </a:p>
              <a:p>
                <a:r>
                  <a:rPr lang="en-IN" dirty="0"/>
                  <a:t>α=0.05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D030C-E00B-867F-1574-42CB9E84EE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85188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9AE26-DE51-8661-B0C4-8CA7E11C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8684-E1D2-C58E-1A00-43B3757C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19: Compare Calculated F and Tabulated 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8C462-F5E4-77D3-48D6-B08163C5A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𝐹</m:t>
                        </m:r>
                      </m:e>
                      <m:sub>
                        <m:r>
                          <a:rPr lang="en-IN" i="1"/>
                          <m:t>𝑐𝑎𝑙</m:t>
                        </m:r>
                      </m:sub>
                    </m:sSub>
                    <m:r>
                      <a:rPr lang="en-IN"/>
                      <m:t>=1.28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𝐹</m:t>
                        </m:r>
                      </m:e>
                      <m:sub>
                        <m:r>
                          <a:rPr lang="en-IN" i="1"/>
                          <m:t>𝑡𝑎𝑏</m:t>
                        </m:r>
                      </m:sub>
                    </m:sSub>
                    <m:r>
                      <a:rPr lang="en-IN"/>
                      <m:t>=3.24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Compare: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1.28&lt;3.24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 err="1"/>
                  <a:t>Fcal</a:t>
                </a:r>
                <a:r>
                  <a:rPr lang="en-IN" dirty="0"/>
                  <a:t>​ &lt; </a:t>
                </a:r>
                <a:r>
                  <a:rPr lang="en-IN" dirty="0" err="1"/>
                  <a:t>Ftab</a:t>
                </a:r>
                <a:r>
                  <a:rPr lang="en-IN" dirty="0"/>
                  <a:t>​​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8C462-F5E4-77D3-48D6-B08163C5A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57899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D7C7-3363-B67F-138E-2447FBA6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313C-F315-FF61-1670-C7B8A1C9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19: Compare Calculated F and Tabulated 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3541D-31DD-7092-9150-C7312E991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𝐹</m:t>
                        </m:r>
                      </m:e>
                      <m:sub>
                        <m:r>
                          <a:rPr lang="en-IN" i="1"/>
                          <m:t>𝑐𝑎𝑙</m:t>
                        </m:r>
                      </m:sub>
                    </m:sSub>
                    <m:r>
                      <a:rPr lang="en-IN"/>
                      <m:t>=1.28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𝐹</m:t>
                        </m:r>
                      </m:e>
                      <m:sub>
                        <m:r>
                          <a:rPr lang="en-IN" i="1"/>
                          <m:t>𝑡𝑎𝑏</m:t>
                        </m:r>
                      </m:sub>
                    </m:sSub>
                    <m:r>
                      <a:rPr lang="en-IN"/>
                      <m:t>=3.24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Compare: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1.28&lt;3.24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 err="1"/>
                  <a:t>Fcal</a:t>
                </a:r>
                <a:r>
                  <a:rPr lang="en-IN" dirty="0"/>
                  <a:t>​ &lt; </a:t>
                </a:r>
                <a:r>
                  <a:rPr lang="en-IN" dirty="0" err="1"/>
                  <a:t>Ftab</a:t>
                </a:r>
                <a:r>
                  <a:rPr lang="en-IN" dirty="0"/>
                  <a:t>​​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3541D-31DD-7092-9150-C7312E991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24443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F3EE-0461-6410-5D10-4229C2D1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B6D3727-7C12-B7B7-FFC2-5B4F28BFE2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92241757"/>
                  </p:ext>
                </p:extLst>
              </p:nvPr>
            </p:nvGraphicFramePr>
            <p:xfrm>
              <a:off x="838200" y="2814975"/>
              <a:ext cx="10515597" cy="3205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192715426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80404864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7495572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Decision about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Conclusion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3554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𝑐𝑎𝑙</m:t>
                                    </m:r>
                                  </m:sub>
                                </m:sSub>
                                <m:r>
                                  <a:rPr lang="en-IN" sz="2400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𝑡𝑎𝑏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 b="1" dirty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Significant difference exists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3972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𝑐𝑎𝑙</m:t>
                                    </m:r>
                                  </m:sub>
                                </m:sSub>
                                <m:r>
                                  <a:rPr lang="en-IN" sz="2400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𝑡𝑎𝑏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 dirty="0"/>
                            <a:t> </a:t>
                          </a:r>
                          <a:r>
                            <a:rPr lang="en-IN" sz="2400" b="1" dirty="0"/>
                            <a:t>Fail to 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No significant difference found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5404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𝑐𝑎𝑙</m:t>
                                    </m:r>
                                  </m:sub>
                                </m:sSub>
                                <m:r>
                                  <a:rPr lang="en-IN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  <m:t>𝑡𝑎𝑏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Boundary/Critical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 dirty="0"/>
                            <a:t>Usually reject at the specified significance level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56618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B6D3727-7C12-B7B7-FFC2-5B4F28BFE2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92241757"/>
                  </p:ext>
                </p:extLst>
              </p:nvPr>
            </p:nvGraphicFramePr>
            <p:xfrm>
              <a:off x="838200" y="2814975"/>
              <a:ext cx="10515597" cy="3205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192715426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80404864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7495572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918" r="-100521" b="-8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Conclusion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355446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47407" r="-200870" b="-2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7407" r="-100521" b="-2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Significant difference exists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3972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146324" r="-200870" b="-16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46324" r="-100521" b="-16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No significant difference found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540400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171795" r="-200870" b="-1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/>
                            <a:t>Boundary/Critical 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2400" dirty="0"/>
                            <a:t>Usually reject at the specified significance level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5661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646552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9B44-A05D-6A6F-E2C0-CD9BCECB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20: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E5571-2E04-79A9-418C-21B3FAB9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Fail to reject H0​​</a:t>
            </a:r>
          </a:p>
        </p:txBody>
      </p:sp>
    </p:spTree>
    <p:extLst>
      <p:ext uri="{BB962C8B-B14F-4D97-AF65-F5344CB8AC3E}">
        <p14:creationId xmlns:p14="http://schemas.microsoft.com/office/powerpoint/2010/main" val="188844645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2AEB-8982-716D-304C-74862DFB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21: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934C-C9E2-6B7B-926D-12B1157D2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insufficient statistical evidence at the 5% level of significance to conclude that the mean performance differs significantly among the four schools.</a:t>
            </a:r>
          </a:p>
        </p:txBody>
      </p:sp>
    </p:spTree>
    <p:extLst>
      <p:ext uri="{BB962C8B-B14F-4D97-AF65-F5344CB8AC3E}">
        <p14:creationId xmlns:p14="http://schemas.microsoft.com/office/powerpoint/2010/main" val="172744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3322</Words>
  <Application>Microsoft Office PowerPoint</Application>
  <PresentationFormat>Widescreen</PresentationFormat>
  <Paragraphs>991</Paragraphs>
  <Slides>152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7" baseType="lpstr">
      <vt:lpstr>Aptos</vt:lpstr>
      <vt:lpstr>Aptos Display</vt:lpstr>
      <vt:lpstr>Arial</vt:lpstr>
      <vt:lpstr>Cambria Math</vt:lpstr>
      <vt:lpstr>Office Theme</vt:lpstr>
      <vt:lpstr>HYPOTHESIS TESTING AND STATISTICAL TESTS</vt:lpstr>
      <vt:lpstr>What is Statistics?</vt:lpstr>
      <vt:lpstr>What is Statistics?</vt:lpstr>
      <vt:lpstr>Descriptive Statistics</vt:lpstr>
      <vt:lpstr>Descriptive Statistics</vt:lpstr>
      <vt:lpstr>Inferential Statistics</vt:lpstr>
      <vt:lpstr>Inferential Statistics</vt:lpstr>
      <vt:lpstr>Inferential Statistics</vt:lpstr>
      <vt:lpstr>What is Statistical Inference?</vt:lpstr>
      <vt:lpstr>What is Statistical Inference?</vt:lpstr>
      <vt:lpstr>Major components of – Statistical Inference</vt:lpstr>
      <vt:lpstr>Population</vt:lpstr>
      <vt:lpstr>Sample</vt:lpstr>
      <vt:lpstr>What is a Parameter?</vt:lpstr>
      <vt:lpstr>What is a Parameter?</vt:lpstr>
      <vt:lpstr>Sampling Distribution</vt:lpstr>
      <vt:lpstr>Sampling Distribution</vt:lpstr>
      <vt:lpstr>Sampling Distribution</vt:lpstr>
      <vt:lpstr>Sampling Distribution</vt:lpstr>
      <vt:lpstr>Standard Error</vt:lpstr>
      <vt:lpstr>Numerical Example — Standard Error</vt:lpstr>
      <vt:lpstr>Numerical Example — Standard Error</vt:lpstr>
      <vt:lpstr>Numerical Example — Standard Error</vt:lpstr>
      <vt:lpstr>HYPOTHESIS TESTING</vt:lpstr>
      <vt:lpstr>HYPOTHESIS TESTING</vt:lpstr>
      <vt:lpstr>Real-Life Example</vt:lpstr>
      <vt:lpstr>Real-Life Example</vt:lpstr>
      <vt:lpstr>Hypothesis</vt:lpstr>
      <vt:lpstr>Hypothesis</vt:lpstr>
      <vt:lpstr>Null Hypothesis</vt:lpstr>
      <vt:lpstr>Null Hypothesis</vt:lpstr>
      <vt:lpstr>Null Hypothesis</vt:lpstr>
      <vt:lpstr>Alternative Hypothesis</vt:lpstr>
      <vt:lpstr>Alternative Hypothesis</vt:lpstr>
      <vt:lpstr>One-Tailed and Two-Tailed Tests</vt:lpstr>
      <vt:lpstr>Two-Tailed Tests</vt:lpstr>
      <vt:lpstr>Right-tailed</vt:lpstr>
      <vt:lpstr>Left-tailed</vt:lpstr>
      <vt:lpstr>Significance Level</vt:lpstr>
      <vt:lpstr>Type I Error</vt:lpstr>
      <vt:lpstr>Type I Error</vt:lpstr>
      <vt:lpstr>Type I Error</vt:lpstr>
      <vt:lpstr>Type II Error</vt:lpstr>
      <vt:lpstr>Type II Error</vt:lpstr>
      <vt:lpstr>Statistical Power</vt:lpstr>
      <vt:lpstr>p-value</vt:lpstr>
      <vt:lpstr>General Hypothesis Testing Procedure</vt:lpstr>
      <vt:lpstr>General Hypothesis Testing Procedure</vt:lpstr>
      <vt:lpstr>General Hypothesis Testing Procedure</vt:lpstr>
      <vt:lpstr>General Hypothesis Testing Procedure</vt:lpstr>
      <vt:lpstr>General Hypothesis Testing Procedure</vt:lpstr>
      <vt:lpstr>Z-TEST</vt:lpstr>
      <vt:lpstr>Z-TEST</vt:lpstr>
      <vt:lpstr>Example</vt:lpstr>
      <vt:lpstr>Step 1 — Hypotheses</vt:lpstr>
      <vt:lpstr>Step 2 — Formula</vt:lpstr>
      <vt:lpstr>Step 2 — Formula</vt:lpstr>
      <vt:lpstr>Step 4 — Critical Value</vt:lpstr>
      <vt:lpstr>Step 4 — Critical Value</vt:lpstr>
      <vt:lpstr>Step 5 — Decision</vt:lpstr>
      <vt:lpstr>Step 6 — Conclusion</vt:lpstr>
      <vt:lpstr>Critical Value Method vs p-value Method</vt:lpstr>
      <vt:lpstr>When Z-Test Is Appropriate</vt:lpstr>
      <vt:lpstr>Where Z-Test Can Fail</vt:lpstr>
      <vt:lpstr>Where Z-Test Can Fail</vt:lpstr>
      <vt:lpstr>Where Z-Test Can Fail</vt:lpstr>
      <vt:lpstr>Where Z-Test Can Fail</vt:lpstr>
      <vt:lpstr>T-TEST</vt:lpstr>
      <vt:lpstr>T-TEST</vt:lpstr>
      <vt:lpstr>One-Sample T-Test Numerical</vt:lpstr>
      <vt:lpstr>Step 1</vt:lpstr>
      <vt:lpstr>Step 1</vt:lpstr>
      <vt:lpstr>Degrees of Freedom</vt:lpstr>
      <vt:lpstr>Degrees of Freedom</vt:lpstr>
      <vt:lpstr>Critical Value</vt:lpstr>
      <vt:lpstr>Step 5 — Decision</vt:lpstr>
      <vt:lpstr>Step 5 — Decision</vt:lpstr>
      <vt:lpstr>ONE-WAY ANOVA</vt:lpstr>
      <vt:lpstr>What is ANOVA</vt:lpstr>
      <vt:lpstr>What is ANOVA</vt:lpstr>
      <vt:lpstr>Why is it called Analysis of Variance?</vt:lpstr>
      <vt:lpstr>Why is it called Analysis of Variance?</vt:lpstr>
      <vt:lpstr>Basic ANOVA Idea</vt:lpstr>
      <vt:lpstr>Example</vt:lpstr>
      <vt:lpstr>Example</vt:lpstr>
      <vt:lpstr>Types of ANOVA</vt:lpstr>
      <vt:lpstr>ONE-WAY ANOVA CONCEPT</vt:lpstr>
      <vt:lpstr>Example</vt:lpstr>
      <vt:lpstr>Example</vt:lpstr>
      <vt:lpstr>Consider the following data</vt:lpstr>
      <vt:lpstr>Calculate the mean</vt:lpstr>
      <vt:lpstr>What Does One-Way ANOVA Test?</vt:lpstr>
      <vt:lpstr>Hypotheses</vt:lpstr>
      <vt:lpstr>Hypotheses</vt:lpstr>
      <vt:lpstr>Alt Hypothesis </vt:lpstr>
      <vt:lpstr>ONE-WAY ANOVA TERMINOLOGY</vt:lpstr>
      <vt:lpstr>ONE-WAY ANOVA TERMINOLOGY</vt:lpstr>
      <vt:lpstr>ONE-WAY ANOVA TERMINOLOGY</vt:lpstr>
      <vt:lpstr>ONE-WAY ANOVA TERMINOLOGY</vt:lpstr>
      <vt:lpstr>ONE-WAY ANOVA TERMINOLOGY</vt:lpstr>
      <vt:lpstr>ONE-WAY ANOVA TERMINOLOGY</vt:lpstr>
      <vt:lpstr>ONE-WAY ANOVA TERMINOLOGY</vt:lpstr>
      <vt:lpstr>ONE-WAY ANOVA TERMINOLOGY</vt:lpstr>
      <vt:lpstr>ONE-WAY ANOVA TERMINOLOGY</vt:lpstr>
      <vt:lpstr>Question</vt:lpstr>
      <vt:lpstr>Question</vt:lpstr>
      <vt:lpstr>Step 1: Identify the Factor</vt:lpstr>
      <vt:lpstr>Number of Observations</vt:lpstr>
      <vt:lpstr>State Hypotheses</vt:lpstr>
      <vt:lpstr>ALT</vt:lpstr>
      <vt:lpstr>ALT</vt:lpstr>
      <vt:lpstr>Step 4: Create Calculation Table</vt:lpstr>
      <vt:lpstr>Step 4: Create Calculation Table</vt:lpstr>
      <vt:lpstr>Step 4: Create Calculation Table</vt:lpstr>
      <vt:lpstr>Step 5: Calculate Group Means</vt:lpstr>
      <vt:lpstr>Step 5: Calculate Group Means</vt:lpstr>
      <vt:lpstr>Step 6: Grand Total</vt:lpstr>
      <vt:lpstr>Step 6: Grand Total</vt:lpstr>
      <vt:lpstr>STEP 7: Grand Mean</vt:lpstr>
      <vt:lpstr>STEP 7: Grand Mean</vt:lpstr>
      <vt:lpstr>Step 8: Calculate Correction Factor</vt:lpstr>
      <vt:lpstr>Step 8: Calculate Correction Factor</vt:lpstr>
      <vt:lpstr>Step 9: Calculate SSC</vt:lpstr>
      <vt:lpstr>Step 9: Calculate SSC</vt:lpstr>
      <vt:lpstr>Step 10: Degrees of Freedom for SSC</vt:lpstr>
      <vt:lpstr>Step 10: Degrees of Freedom for SSC</vt:lpstr>
      <vt:lpstr>Step 11: Calculate SST</vt:lpstr>
      <vt:lpstr>Step 11: Calculate SST</vt:lpstr>
      <vt:lpstr>Step 12: Degrees of Freedom for SST</vt:lpstr>
      <vt:lpstr>Step 12: Degrees of Freedom for SST</vt:lpstr>
      <vt:lpstr>Step 13: Calculate SSE</vt:lpstr>
      <vt:lpstr>Step 13: Calculate SSE</vt:lpstr>
      <vt:lpstr>Step 14: Degrees of Freedom for SSE</vt:lpstr>
      <vt:lpstr>Step 14: Degrees of Freedom for SSE</vt:lpstr>
      <vt:lpstr>Important Check</vt:lpstr>
      <vt:lpstr>Another Important Check</vt:lpstr>
      <vt:lpstr>Step 15: Calculate MSC</vt:lpstr>
      <vt:lpstr>Step 15: Calculate MSC</vt:lpstr>
      <vt:lpstr>Interpretation of MSC</vt:lpstr>
      <vt:lpstr>Step 16: Calculate MSE</vt:lpstr>
      <vt:lpstr>Step 16: Calculate MSE</vt:lpstr>
      <vt:lpstr>Interpretation of MSE</vt:lpstr>
      <vt:lpstr>Step 17: Calculate F-Ratio</vt:lpstr>
      <vt:lpstr>Step 17: Calculate F-Ratio</vt:lpstr>
      <vt:lpstr>Step 18: Create ANOVA Table</vt:lpstr>
      <vt:lpstr>F-Distribution Table for 5% level of significance (α = 0.05)</vt:lpstr>
      <vt:lpstr>Step 19: Compare Calculated F and Tabulated F</vt:lpstr>
      <vt:lpstr>Step 19: Compare Calculated F and Tabulated F</vt:lpstr>
      <vt:lpstr>Step 19: Compare Calculated F and Tabulated F</vt:lpstr>
      <vt:lpstr>DECISION TABLE</vt:lpstr>
      <vt:lpstr>Step 20: Decision</vt:lpstr>
      <vt:lpstr>Step 21: 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97</cp:revision>
  <dcterms:created xsi:type="dcterms:W3CDTF">2026-08-31T07:36:24Z</dcterms:created>
  <dcterms:modified xsi:type="dcterms:W3CDTF">2026-09-08T10:23:53Z</dcterms:modified>
</cp:coreProperties>
</file>