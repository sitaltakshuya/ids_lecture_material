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4" d="100"/>
          <a:sy n="64" d="100"/>
        </p:scale>
        <p:origin x="95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0B020D-C64D-2E8B-1411-FD89591C1B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A21997-FB61-56FC-7F74-8B2AD82B94D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0589FF-AE17-1A99-9983-8A99BCE53E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079038-0906-1BF3-9DFA-73D43DE88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B857F-1118-9FDB-2DF1-2047A5E0B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4168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D0CF40-4335-981C-970C-AA517496E9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FD3B12-FD0D-7313-03B9-525C626979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90946-2845-9E20-49F6-39BCD51730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218D8C-54DB-E1D9-9C50-E3C9B82E99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7E8D1-9650-C009-9BFD-87B05009AA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5697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3869-3FCD-8885-3F67-BA2BA766D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312164-F073-67F5-4690-BE465116F1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A7629B-C103-0E5B-FDED-F6C714DEA1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D6411E-E466-C23E-B02B-61EEAE4F3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E23EB6-7EA8-4A02-26BF-74F8475F1F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97803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F49C6-A92C-3091-E4D5-AB97691A5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7B328E-973E-61F5-0D90-9D65F33251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AA4EE01-92B7-321C-BD02-1056E1064C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3E95AB-973F-EBC0-B393-640EB42DD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D4DB7B-31EA-6A68-B446-0E2232DD2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52A0764-C8CF-791D-10E2-DC63A06C4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4812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25D91-117E-2160-94C5-C642F8F3E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6E637F-9EB7-6B75-4F40-5F7E4852D8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A52200-F631-2477-8AD2-00C41B1054E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F2BE09-03CB-546B-0038-A59D67835D7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2371DE-E242-7286-52F4-4B02CD41C3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2FCA93-4B84-83E5-A713-DF5A109E5C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F738727-F1BD-C9B4-7AF1-BDD83784D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7C935A-6297-ECE7-358E-2FBC27C54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6999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4C730B-4E9F-8976-F142-AC0231B5E0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078A4F-EA4E-EA39-C3BC-4A1608772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8909EE-AE7B-0468-6DA1-7F9FE55B5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0EFD79C-86CC-B8E0-1C66-0323B84D2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31167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9A38184-4BED-ADE9-C3CE-BABA93F15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6884426-B231-E03F-488C-019D2E8B0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B96A90-5983-A85F-FD58-EA63CB567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83168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D7611B-CCB5-E2E8-674A-CD101A8F36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CBE149-67D7-0FB9-43B6-A0992F03F7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40F1AD-04E4-5154-8277-E5CAED8AE0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554344-495D-DF01-EA93-550B829A2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545D5F-3E93-FF18-8EEC-F9E564DC8F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7EC971-25F7-314F-A6EE-2EA787E40A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81760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7A6A1B-1209-CB13-242A-D5B37AD70D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6610C4-703C-76A1-B869-CB21810A74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D384F6-2163-8A4D-CCDB-1657EA029B7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B6A018-1EBA-7589-AF8F-0BD55C6EE6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851349-14F6-272E-4A50-57C8C85D15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A51AB22-E4BE-F734-5A4C-9A8474B2C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4722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6EF22D-64FF-9D02-B7DA-9F17F9D1C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470E2F-B42F-2FC9-2BC6-E3536C3F2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7C7E26-399F-828E-AEF8-73C1463AAB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AECCA5F-5A3D-2727-837F-49BE251103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BBDB5-F9D7-A544-2A79-0872E3690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70606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72C67DE-53C2-23CD-A3FB-E9003568DA5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DFAD14-D853-69F2-56CE-5BB32D2433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CE89C8-AD1B-FC3C-BCFA-98983B241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CE4D4-9200-E136-22A7-BE0D676792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451A7B-546A-DA0A-B735-104DC48B77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31697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ECD6BB-F62C-3961-701C-BE366C028A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38207-F3EC-6796-9B59-49D38A5669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E45F1A-053F-0035-A175-6523F17DACF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9665DA-D334-49DB-9F62-AA44309E8B48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F7D845-8F42-E99D-BA05-5BD487A4D8B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2346D2-12D4-783A-B994-CDB030A47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69BA34-B02E-423C-A5BA-96A97F24F1D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008233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F2E1D1-53B8-08B5-06F3-F0EF30A7BD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Confusion Matrix and Basic Evaluation Metrics</a:t>
            </a:r>
          </a:p>
        </p:txBody>
      </p:sp>
    </p:spTree>
    <p:extLst>
      <p:ext uri="{BB962C8B-B14F-4D97-AF65-F5344CB8AC3E}">
        <p14:creationId xmlns:p14="http://schemas.microsoft.com/office/powerpoint/2010/main" val="330331294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E6AB2F-E974-5125-318C-CD85045B6F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Problem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4E641-CB90-CABF-A5A1-A9F612380C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681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8671F2-4D46-CBCA-DC3E-03E8A27DB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What is a Confusion Matrix?-cp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6472BE-A88B-887E-26FE-C9F0151B7F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147427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23D0B7-E6D9-20A9-9445-B97688BE37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True Positive (TP)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1B66FF-DD21-758C-95E9-6B0A574B96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35847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C4E715-CF7E-B327-253A-0C2F79EF1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True Negative (TN)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20E416-66E2-E8B2-AF8F-C8DFA26076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118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10B84E-A4D6-48F5-2746-968E4FAE1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False Positive (FP)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13304E-E45B-29EF-ECA4-A71742B0A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16586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96A30-75B6-B9C3-DB6D-5BFF29B8E3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B4AF21-BA90-1A13-2404-8E9A7AC89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False Negative (FN)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2C9C8C-AB90-194F-EFCC-4DC78FF4E4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actual class is positive, but the model predicts negative.</a:t>
            </a:r>
          </a:p>
        </p:txBody>
      </p:sp>
    </p:spTree>
    <p:extLst>
      <p:ext uri="{BB962C8B-B14F-4D97-AF65-F5344CB8AC3E}">
        <p14:creationId xmlns:p14="http://schemas.microsoft.com/office/powerpoint/2010/main" val="3844419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AEBA1-3C08-4DE7-4C4B-E6F6CA9EB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ABFA35-8765-1BE8-8E72-C148114CED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Correct=TP+TN </a:t>
            </a:r>
          </a:p>
          <a:p>
            <a:r>
              <a:rPr lang="en-IN" dirty="0"/>
              <a:t>Incorrect=FP+FN</a:t>
            </a:r>
          </a:p>
        </p:txBody>
      </p:sp>
    </p:spTree>
    <p:extLst>
      <p:ext uri="{BB962C8B-B14F-4D97-AF65-F5344CB8AC3E}">
        <p14:creationId xmlns:p14="http://schemas.microsoft.com/office/powerpoint/2010/main" val="69179368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AC5404-C7DE-B51D-CDF9-5CE4763EB6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Accuracy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8E352E-0C1C-24ED-3951-78F70EA111D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𝐴𝑐𝑐𝑢𝑟𝑎𝑐𝑦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𝑇𝑃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𝑇𝑁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𝑇𝑃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𝑇𝑁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𝐹𝑃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𝐹𝑁</m:t>
                            </m:r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pPr marL="0" indent="0">
                  <a:buNone/>
                </a:pPr>
                <a:br>
                  <a:rPr lang="en-IN" dirty="0"/>
                </a:br>
                <a:r>
                  <a:rPr lang="en-IN" dirty="0"/>
                  <a:t>What proportion of all predictions were correct?</a:t>
                </a:r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6D8E352E-0C1C-24ED-3951-78F70EA111D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1773383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93D0DA-6902-C64B-832D-04D02A2E0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274B04-0917-2F7C-D4AE-49DC2308AC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Rate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90BA3-ADC1-D44D-8062-EF9569B2AAF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marL="0" indent="0">
              <a:buNone/>
            </a:pP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063261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DBFA19-5632-00BE-D964-B2E77E252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733897-0EA9-A25E-75A3-A75B16314C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Error Rate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600D01-D78D-373D-BF4F-96AC104C01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IN" dirty="0"/>
              </a:p>
              <a:p>
                <a:pPr marL="0" indent="0">
                  <a:buNone/>
                </a:pPr>
                <a:br>
                  <a:rPr lang="en-IN" dirty="0"/>
                </a:br>
                <a:endParaRPr lang="en-IN" dirty="0"/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𝐸𝑟𝑟𝑜𝑟</m:t>
                        </m:r>
                        <m:r>
                          <m:rPr>
                            <m:nor/>
                          </m:rPr>
                          <a:rPr lang="en-IN" i="0"/>
                          <m:t> 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𝑅𝑎𝑡𝑒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=1−</m:t>
                        </m:r>
                        <m:r>
                          <a:rPr lang="en-IN" i="1">
                            <a:latin typeface="Cambria Math" panose="02040503050406030204" pitchFamily="18" charset="0"/>
                          </a:rPr>
                          <m:t>𝐴𝑐𝑐𝑢𝑟𝑎𝑐𝑦</m:t>
                        </m:r>
                      </m:e>
                    </m:borderBox>
                  </m:oMath>
                </a14:m>
                <a:endParaRPr lang="en-IN" b="0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C600D01-D78D-373D-BF4F-96AC104C01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7332907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53774-1AE5-D213-A33A-220A1F2E89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Precision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2138E6-BC3D-E5B7-7600-AF297C1C8C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Out of all cases predicted as positive, how many were actually positive?</a:t>
            </a:r>
          </a:p>
        </p:txBody>
      </p:sp>
    </p:spTree>
    <p:extLst>
      <p:ext uri="{BB962C8B-B14F-4D97-AF65-F5344CB8AC3E}">
        <p14:creationId xmlns:p14="http://schemas.microsoft.com/office/powerpoint/2010/main" val="223775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AC4842-975D-8C21-DCCF-CB1B075F87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554296-E62A-BE13-068B-AC8C2A82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Precision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DE2F0-4877-35B9-A8F2-AA7D71F81DD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Out of all cases predicted as positive, how many were actually positive?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𝑃𝑟𝑒𝑐𝑖𝑠𝑖𝑜𝑛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𝑇𝑃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𝑇𝑃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𝐹𝑃</m:t>
                            </m:r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7CDE2F0-4877-35B9-A8F2-AA7D71F81DD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2488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CB3CDC-DD29-BA7C-B772-1E36A62F27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8CCC52-DCF6-650B-2770-8A0AB27619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346832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D67B69-160A-CF5B-29F1-88D8F9034B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468210-8166-E1E2-D405-EC5562E53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Recall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A17DFF-BA6E-5706-F7A4-9524627AC7C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𝑅𝑒𝑐𝑎𝑙𝑙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𝑇𝑃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𝑇𝑃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𝐹𝑁</m:t>
                            </m:r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CA17DFF-BA6E-5706-F7A4-9524627AC7C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46482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936768-893E-C2BE-007A-61E785701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F1-Score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531801-E5A1-EC1C-6193-18250383C0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3119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AE15E-F932-0852-18D4-A2FC996031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6D7632-E39A-BA61-72F8-A0340183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F1-Score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38B5D8-6E11-86E4-1796-6DF585DBE0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F1-score is the </a:t>
            </a:r>
            <a:r>
              <a:rPr lang="en-IN" b="1" dirty="0"/>
              <a:t>harmonic mean</a:t>
            </a:r>
            <a:r>
              <a:rPr lang="en-IN" dirty="0"/>
              <a:t> of precision and recall.</a:t>
            </a:r>
          </a:p>
        </p:txBody>
      </p:sp>
    </p:spTree>
    <p:extLst>
      <p:ext uri="{BB962C8B-B14F-4D97-AF65-F5344CB8AC3E}">
        <p14:creationId xmlns:p14="http://schemas.microsoft.com/office/powerpoint/2010/main" val="58996673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5D57B-9EE8-0224-663D-9E54AE384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982CA-5909-71E8-8AD5-79012A7D0B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F1-Score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3EE567-7EDC-AF5C-15EC-925434F6430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IN" dirty="0"/>
                  <a:t>The F1-score is the </a:t>
                </a:r>
                <a:r>
                  <a:rPr lang="en-IN" b="1" dirty="0"/>
                  <a:t>harmonic mean</a:t>
                </a:r>
                <a:r>
                  <a:rPr lang="en-IN" dirty="0"/>
                  <a:t> of precision and recall.</a:t>
                </a:r>
              </a:p>
              <a:p>
                <a:r>
                  <a:rPr lang="en-IN" dirty="0"/>
                  <a:t>Formula:</a:t>
                </a:r>
              </a:p>
              <a:p>
                <a14:m>
                  <m:oMath xmlns:m="http://schemas.openxmlformats.org/officeDocument/2006/math">
                    <m:borderBox>
                      <m:borderBox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borderBox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a:rPr lang="en-IN">
                            <a:latin typeface="Cambria Math" panose="02040503050406030204" pitchFamily="18" charset="0"/>
                          </a:rPr>
                          <m:t>1=2×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𝑃𝑟𝑒𝑐𝑖𝑠𝑖𝑜𝑛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𝑅𝑒𝑐𝑎𝑙𝑙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𝑃𝑟𝑒𝑐𝑖𝑠𝑖𝑜𝑛</m:t>
                            </m:r>
                            <m:r>
                              <a:rPr lang="en-IN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𝑅𝑒𝑐𝑎𝑙𝑙</m:t>
                            </m:r>
                          </m:den>
                        </m:f>
                      </m:e>
                    </m:borderBox>
                  </m:oMath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543EE567-7EDC-AF5C-15EC-925434F6430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238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5530976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Confusion Matrix - Statistics By Jim">
            <a:extLst>
              <a:ext uri="{FF2B5EF4-FFF2-40B4-BE49-F238E27FC236}">
                <a16:creationId xmlns:a16="http://schemas.microsoft.com/office/drawing/2014/main" id="{1C954609-384A-A5B9-980A-0AEAB4781F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3633" y="606655"/>
            <a:ext cx="6899066" cy="564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475181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Understanding the Power of the Confusion Matrix | by Everton Gomede, PhD |  Artificial Intelligence in Plain English">
            <a:extLst>
              <a:ext uri="{FF2B5EF4-FFF2-40B4-BE49-F238E27FC236}">
                <a16:creationId xmlns:a16="http://schemas.microsoft.com/office/drawing/2014/main" id="{30DCCB8F-8817-CDDF-943B-6EB442D0BE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312" y="190668"/>
            <a:ext cx="8086951" cy="64766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79542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138</Words>
  <Application>Microsoft Office PowerPoint</Application>
  <PresentationFormat>Widescreen</PresentationFormat>
  <Paragraphs>36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Office Theme</vt:lpstr>
      <vt:lpstr>Confusion Matrix and Basic Evaluation Metrics</vt:lpstr>
      <vt:lpstr>Classification Problem</vt:lpstr>
      <vt:lpstr>What is a Confusion Matrix?-cp</vt:lpstr>
      <vt:lpstr>True Positive (TP)</vt:lpstr>
      <vt:lpstr>True Negative (TN)</vt:lpstr>
      <vt:lpstr>False Positive (FP)</vt:lpstr>
      <vt:lpstr>False Negative (FN)</vt:lpstr>
      <vt:lpstr>NOTE</vt:lpstr>
      <vt:lpstr>Accuracy</vt:lpstr>
      <vt:lpstr>Error Rate</vt:lpstr>
      <vt:lpstr>Error Rate</vt:lpstr>
      <vt:lpstr>Precision</vt:lpstr>
      <vt:lpstr>Precision</vt:lpstr>
      <vt:lpstr>Recall</vt:lpstr>
      <vt:lpstr>Recall</vt:lpstr>
      <vt:lpstr>F1-Score</vt:lpstr>
      <vt:lpstr>F1-Score</vt:lpstr>
      <vt:lpstr>F1-Score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Sital Sharma</dc:creator>
  <cp:lastModifiedBy>Sital Sharma</cp:lastModifiedBy>
  <cp:revision>13</cp:revision>
  <dcterms:created xsi:type="dcterms:W3CDTF">2026-09-30T06:08:21Z</dcterms:created>
  <dcterms:modified xsi:type="dcterms:W3CDTF">2026-09-30T06:37:06Z</dcterms:modified>
</cp:coreProperties>
</file>