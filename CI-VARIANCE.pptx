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7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A64C-8C94-AF3C-AB94-71D2573E2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886B5-07F9-76EB-858E-433C13B0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DF5A8-F780-8979-3355-DBECA110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E9A4-A3CE-5159-024D-4AA53284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2AB1-D607-3E79-F1DE-878B0F77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45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1217-7C59-9650-2B2B-741E834A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8B1C2-24C3-63BD-3D9D-9D72825D6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91A60-E725-BF34-25C8-CDB28FF9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CF76-E3C2-910D-05D6-8D42621A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52D77-9CB5-F07E-49C0-9111754E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1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8790-CF58-14C8-E33A-F1F7BDF5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C5986-0664-1601-27B2-E97032C0A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BD753-571B-F89B-C023-4BC6ACE0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3FEA0-DE22-B7D6-7037-9AA4A543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D00A-02AF-0136-6DD1-13415AFE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97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6ED1-029C-B37A-1E51-C716BEE9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EEA4-4391-DE79-7990-381732B08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27231-A183-4FAA-1837-831BD2C69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9CEB0-C693-81EB-062B-D706A16E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209AD-2F14-1C50-E883-01731330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D3299-BC94-1E0E-F79E-A0D4A1FF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395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D657-96B1-2F64-84F8-E7A9F81E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D412C-E909-2F6F-6D7C-E96062B84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EF7BC-93A6-6687-31C8-E780B2E72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82EE7-E13B-736F-42A7-1ED1DC361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7A0AD-66C2-1EAC-17B9-3B20E1A19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D0601-6BB0-4190-1E77-192CE40B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47C660-0113-5A72-FFC4-3D1893C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D7A60-99A0-0FBA-1BA6-1DE6EFEF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52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52CB-38D5-D669-FBBF-053143B1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FD5FD-2541-5B00-B01E-9D859E37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57B24-B228-3472-FAC5-4A95F0B3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D3C0E-05E7-21B1-2E1E-280EE513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59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48CA0-E8FB-C0AF-1FFD-6BD62797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3F6AA-96C7-58F3-F690-07D693E7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4ED15-5AA6-F1AD-0CF3-6574AC19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9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988A-FA07-5C77-33A1-F6EE7BC1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67BB8-7DE5-4252-480E-1A50EA4E8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A59C-9718-644F-9CD2-3B3A60A0F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712C5-9E9B-E6E3-5E53-B0B0626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FD1C0-915D-2E56-4F4A-60B19E73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FFF3F-360D-BB61-0641-B420BBD8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11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15EE-0FBE-D5A3-A2BB-37A09A51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C2F59-6614-B425-CFE6-5D0AA3AA5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C8823-201E-462B-A021-B7FA23B57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64BF3-6F77-E8BB-072B-ADCE192C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0726F-91CA-6BAD-5241-E729200E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32D74-792D-17BE-AB2F-C7739D7E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19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75D8-1568-E6DE-85B5-23F8DC15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06DB0-1B06-E88F-092B-B9A6EA335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87CF-CA16-F010-73EE-E5EB79E0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8BB6-C056-9EB5-03C0-476F2882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17DB-627E-6E66-3FB1-3821E41A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E3F83-F365-7E29-0D16-E1D4AE376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63C89-843D-ABC7-1207-791043149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8E50C-060C-E995-F33C-0D203AAE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9FAB-2243-AB2C-6078-D73F743D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E5F5D-2757-79EC-3E5D-A26D5646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12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C497D-2DFB-690C-05BF-6C0CE606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35B63-6A60-91DE-2E0D-47EA382EF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B30EF-67E1-01B4-25C9-BED82CE4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D4740-F248-43BB-B8E4-8396FA1A87EB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706EA-E1B6-7D4A-AC5A-ACFCFC96C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A0A3-FBB4-CDB4-03C0-7EB9A44BC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E0F83-73FC-48DB-99F9-515638ECA2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41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F18D-06BA-94B9-E951-972199B9A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Confidence Interval for Variance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76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80CF-CC76-5D72-DB22-C564BE66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First, what are we trying to estimate?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591BE-3EB7-8533-B89E-FAEBC779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want to know how </a:t>
            </a:r>
            <a:r>
              <a:rPr lang="en-IN" b="1" dirty="0"/>
              <a:t>spread out</a:t>
            </a:r>
            <a:r>
              <a:rPr lang="en-IN" dirty="0"/>
              <a:t> the values in a population are.</a:t>
            </a:r>
          </a:p>
          <a:p>
            <a:r>
              <a:rPr lang="en-IN" dirty="0"/>
              <a:t>We use </a:t>
            </a:r>
            <a:r>
              <a:rPr lang="en-IN" b="1" dirty="0"/>
              <a:t>variance</a:t>
            </a:r>
            <a:r>
              <a:rPr lang="en-IN" dirty="0"/>
              <a:t> to measure this spread.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003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D47C-467B-E968-049C-EE01D483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2481-8A65-1C92-6C7C-D244B5B5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4EAB-0A8E-2313-B011-2912984D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431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89C7-48C1-3DE5-BB94-53CD895B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D8BC2-2C33-4AFC-C02A-ABACAF52BE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Suppose we take a sample of </a:t>
                </a:r>
                <a:r>
                  <a:rPr lang="en-IN" b="1" dirty="0"/>
                  <a:t>5 students' marks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10,</m:t>
                    </m:r>
                    <m:r>
                      <m:rPr>
                        <m:nor/>
                      </m:rPr>
                      <a:rPr lang="en-IN"/>
                      <m:t>  </m:t>
                    </m:r>
                    <m:r>
                      <a:rPr lang="en-IN"/>
                      <m:t>12,</m:t>
                    </m:r>
                    <m:r>
                      <m:rPr>
                        <m:nor/>
                      </m:rPr>
                      <a:rPr lang="en-IN"/>
                      <m:t>  </m:t>
                    </m:r>
                    <m:r>
                      <a:rPr lang="en-IN"/>
                      <m:t>14,</m:t>
                    </m:r>
                    <m:r>
                      <m:rPr>
                        <m:nor/>
                      </m:rPr>
                      <a:rPr lang="en-IN"/>
                      <m:t>  </m:t>
                    </m:r>
                    <m:r>
                      <a:rPr lang="en-IN"/>
                      <m:t>16,</m:t>
                    </m:r>
                    <m:r>
                      <m:rPr>
                        <m:nor/>
                      </m:rPr>
                      <a:rPr lang="en-IN"/>
                      <m:t>  </m:t>
                    </m:r>
                    <m:r>
                      <a:rPr lang="en-IN"/>
                      <m:t>18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We want to find a </a:t>
                </a:r>
                <a:r>
                  <a:rPr lang="en-IN" b="1" dirty="0"/>
                  <a:t>95% confidence interval for the population variance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D8BC2-2C33-4AFC-C02A-ABACAF52B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68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49B6-0E71-78C1-65AD-B4F581F1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sample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E065-B3C5-5FE1-FA80-0AD7E417F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39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6AB9-CF02-BCF2-46A5-818C6794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512B-AFB6-2443-29A4-3E5FF199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the sample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9FC87-B400-3ABC-FFBF-E9E844178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𝑥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10+12+14+16+18</m:t>
                        </m:r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xˉ=14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9FC87-B400-3ABC-FFBF-E9E844178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62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D6D7-73F7-D444-6850-5B2C0D29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06DF-49F7-AFD0-A56F-EA8BED2EA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Step1: Find the sample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0D3075-659B-49F5-529D-EF6E523F6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/>
                        </m:ctrlPr>
                      </m:accPr>
                      <m:e>
                        <m:r>
                          <a:rPr lang="en-IN" i="1"/>
                          <m:t>𝑥</m:t>
                        </m:r>
                      </m:e>
                    </m:acc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10+12+14+16+18</m:t>
                        </m:r>
                      </m:num>
                      <m:den>
                        <m:r>
                          <a:rPr lang="en-IN"/>
                          <m:t>5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xˉ=14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0D3075-659B-49F5-529D-EF6E523F6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02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3025-62E4-1788-5464-B1235648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57CA-6F74-9A09-AAB2-B1496E48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Find the deviations and squared deviations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B65993B-BB2B-6784-FC17-CFE2FECFEF1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7844802"/>
                  </p:ext>
                </p:extLst>
              </p:nvPr>
            </p:nvGraphicFramePr>
            <p:xfrm>
              <a:off x="838200" y="1825624"/>
              <a:ext cx="10515597" cy="222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139780560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2193241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932484575"/>
                        </a:ext>
                      </a:extLst>
                    </a:gridCol>
                  </a:tblGrid>
                  <a:tr h="11108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IN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5468642"/>
                      </a:ext>
                    </a:extLst>
                  </a:tr>
                  <a:tr h="11108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634057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9B65993B-BB2B-6784-FC17-CFE2FECFEF1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77844802"/>
                  </p:ext>
                </p:extLst>
              </p:nvPr>
            </p:nvGraphicFramePr>
            <p:xfrm>
              <a:off x="838200" y="1825624"/>
              <a:ext cx="10515597" cy="2221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139780560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2193241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932484575"/>
                        </a:ext>
                      </a:extLst>
                    </a:gridCol>
                  </a:tblGrid>
                  <a:tr h="11108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546" r="-200870" b="-10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546" r="-100521" b="-101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546" r="-696" b="-101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5468642"/>
                      </a:ext>
                    </a:extLst>
                  </a:tr>
                  <a:tr h="11108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63405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912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A495-8B27-B39B-F722-8F16D8CD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5F15-BE6C-1FAC-F001-93BFD0A7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Find the deviations and squared deviations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764C6901-6F5A-A434-F21E-375C0F07262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9342766"/>
                  </p:ext>
                </p:extLst>
              </p:nvPr>
            </p:nvGraphicFramePr>
            <p:xfrm>
              <a:off x="838200" y="1825625"/>
              <a:ext cx="1051559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223304615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622821642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376057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IN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3554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-4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5761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9161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3043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79882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6334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b="1"/>
                            <a:t>Total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b="1" dirty="0"/>
                            <a:t>40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05032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764C6901-6F5A-A434-F21E-375C0F07262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49342766"/>
                  </p:ext>
                </p:extLst>
              </p:nvPr>
            </p:nvGraphicFramePr>
            <p:xfrm>
              <a:off x="838200" y="1825625"/>
              <a:ext cx="10515597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2223304615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622821642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2376057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4" t="-1639" r="-20087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639" r="-100521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48" t="-1639" r="-696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3554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-4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57619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491617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30434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279882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36334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b="1"/>
                            <a:t>Total</a:t>
                          </a: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b="1" dirty="0"/>
                            <a:t>40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105032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7E9568B-3C4A-23BA-7CE1-3AD029626BF5}"/>
              </a:ext>
            </a:extLst>
          </p:cNvPr>
          <p:cNvSpPr txBox="1"/>
          <p:nvPr/>
        </p:nvSpPr>
        <p:spPr>
          <a:xfrm>
            <a:off x="2818151" y="4706911"/>
            <a:ext cx="60410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So,</a:t>
            </a:r>
          </a:p>
          <a:p>
            <a:r>
              <a:rPr lang="en-IN" sz="3200" dirty="0"/>
              <a:t>∑(x−xˉ)2=40</a:t>
            </a:r>
          </a:p>
        </p:txBody>
      </p:sp>
    </p:spTree>
    <p:extLst>
      <p:ext uri="{BB962C8B-B14F-4D97-AF65-F5344CB8AC3E}">
        <p14:creationId xmlns:p14="http://schemas.microsoft.com/office/powerpoint/2010/main" val="142838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2A7D-E67C-471D-7089-EA05C50A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Find sample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44988-29A7-8C8E-69DE-F2D81E826A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sample variance is: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𝑠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IN" i="1"/>
                            </m:ctrlPr>
                          </m:naryPr>
                          <m:sub/>
                          <m:sup/>
                          <m:e>
                            <m:r>
                              <a:rPr lang="en-IN"/>
                              <m:t>(</m:t>
                            </m:r>
                          </m:e>
                        </m:nary>
                        <m:d>
                          <m:dPr>
                            <m:begChr m:val=""/>
                            <m:endChr m:val=""/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𝑥</m:t>
                            </m:r>
                            <m:r>
                              <a:rPr lang="en-IN"/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𝑥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i="1"/>
                          <m:t>𝑛</m:t>
                        </m:r>
                        <m:r>
                          <a:rPr lang="en-IN"/>
                          <m:t>−1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=??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44988-29A7-8C8E-69DE-F2D81E826A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99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8BBD-DABA-3ED2-4398-668C8463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5FF7-585B-2728-143C-AFFD045B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Find sample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BA2C08-EE80-29C1-AA3A-12D71391D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sample variance is: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𝑠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=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IN" i="1"/>
                            </m:ctrlPr>
                          </m:naryPr>
                          <m:sub/>
                          <m:sup/>
                          <m:e>
                            <m:r>
                              <a:rPr lang="en-IN"/>
                              <m:t>(</m:t>
                            </m:r>
                          </m:e>
                        </m:nary>
                        <m:d>
                          <m:dPr>
                            <m:begChr m:val=""/>
                            <m:endChr m:val=""/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𝑥</m:t>
                            </m:r>
                            <m:r>
                              <a:rPr lang="en-IN"/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IN" i="1"/>
                                </m:ctrlPr>
                              </m:accPr>
                              <m:e>
                                <m:r>
                                  <a:rPr lang="en-IN" i="1"/>
                                  <m:t>𝑥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i="1"/>
                          <m:t>𝑛</m:t>
                        </m:r>
                        <m:r>
                          <a:rPr lang="en-IN"/>
                          <m:t>−1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= 10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BA2C08-EE80-29C1-AA3A-12D71391D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06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7983-F0ED-2B13-E7D1-DE2C10EE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C513-7611-C63F-4B77-378F3BE9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Find the Degrees of Freedom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8941-51C7-C55C-70A5-6F1281D17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a confidence interval for population variance:</a:t>
            </a:r>
          </a:p>
          <a:p>
            <a:r>
              <a:rPr lang="en-IN" dirty="0" err="1"/>
              <a:t>df</a:t>
            </a:r>
            <a:r>
              <a:rPr lang="en-IN" dirty="0"/>
              <a:t>=n−1</a:t>
            </a:r>
          </a:p>
          <a:p>
            <a:r>
              <a:rPr lang="en-IN" dirty="0" err="1"/>
              <a:t>Df</a:t>
            </a:r>
            <a:r>
              <a:rPr lang="en-IN" dirty="0"/>
              <a:t>=?????</a:t>
            </a:r>
          </a:p>
        </p:txBody>
      </p:sp>
    </p:spTree>
    <p:extLst>
      <p:ext uri="{BB962C8B-B14F-4D97-AF65-F5344CB8AC3E}">
        <p14:creationId xmlns:p14="http://schemas.microsoft.com/office/powerpoint/2010/main" val="833205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CA7B-1DB6-F8D4-69D2-BCA903748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Use the Chi-square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0D80B-A4A8-E1C7-4913-B3CB214E4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normally distributed population, the confidence interval for variance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f>
                          <m:fPr>
                            <m:ctrlPr>
                              <a:rPr lang="en-IN"/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𝑠</m:t>
                                </m:r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/>
                                </m:ctrlPr>
                              </m:sSubSupPr>
                              <m:e>
                                <m:r>
                                  <a:rPr lang="en-IN" i="1"/>
                                  <m:t>𝜒</m:t>
                                </m:r>
                              </m:e>
                              <m:sub>
                                <m:r>
                                  <a:rPr lang="en-IN"/>
                                  <m:t>0.975</m:t>
                                </m:r>
                              </m:sub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IN"/>
                          <m:t>&lt;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𝜎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&lt;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𝑠</m:t>
                                </m:r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/>
                                </m:ctrlPr>
                              </m:sSubSupPr>
                              <m:e>
                                <m:r>
                                  <a:rPr lang="en-IN" i="1"/>
                                  <m:t>𝜒</m:t>
                                </m:r>
                              </m:e>
                              <m:sub>
                                <m:r>
                                  <a:rPr lang="en-IN"/>
                                  <m:t>0.025</m:t>
                                </m:r>
                              </m:sub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0D80B-A4A8-E1C7-4913-B3CB214E4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96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D850-E3A3-4614-BBC6-BEB7CF29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011D-9986-B2C3-B896-A92A7247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Determine the Chi-Square Critical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0FED-EC86-923C-7907-6F40D8634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????????</a:t>
            </a:r>
          </a:p>
        </p:txBody>
      </p:sp>
    </p:spTree>
    <p:extLst>
      <p:ext uri="{BB962C8B-B14F-4D97-AF65-F5344CB8AC3E}">
        <p14:creationId xmlns:p14="http://schemas.microsoft.com/office/powerpoint/2010/main" val="832780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0773-4B16-33EB-58F3-48CD925A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4F84-F0F1-D4DE-D191-DD5352E6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Determine the Chi-Square Critical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9BC46-EBDF-A69B-8783-7E6B08DB7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</a:t>
                </a:r>
                <a:r>
                  <a:rPr lang="en-IN" b="1" dirty="0"/>
                  <a:t>95% confidence interval</a:t>
                </a:r>
                <a:r>
                  <a:rPr lang="en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𝛼</m:t>
                    </m:r>
                    <m:r>
                      <a:rPr lang="en-IN"/>
                      <m:t>=0.05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Therefore,</a:t>
                </a:r>
              </a:p>
              <a:p>
                <a:r>
                  <a:rPr lang="en-IN" dirty="0"/>
                  <a:t>2 / α​=0.025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39BC46-EBDF-A69B-8783-7E6B08DB7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301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C10B-DC22-3720-F528-8E01CE87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4794-9450-22DB-D561-4019F212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F4364-9FB9-27CA-E643-E537BA39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14203"/>
            <a:ext cx="10515599" cy="541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4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9187-649E-824A-33F7-7187AC6A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the C.I for </a:t>
            </a:r>
            <a:r>
              <a:rPr lang="en-IN" dirty="0" err="1"/>
              <a:t>d.f</a:t>
            </a:r>
            <a:r>
              <a:rPr lang="en-IN" dirty="0"/>
              <a:t>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BA163-C0BC-E62D-9B9B-20067FA55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a normally distributed population, the confidence interval for variance is: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IN"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9BA163-C0BC-E62D-9B9B-20067FA55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619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783A-312E-94DF-1AD0-CAA9D43D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36F2-5746-826B-8BBA-CF9AAC81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201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90501-46B7-33F4-9F3A-1856AB066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A24B-948F-A17C-0458-C5156B64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E542A-82C0-E70D-99DE-47D9B7687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So </a:t>
                </a:r>
                <a:r>
                  <a:rPr lang="en-IN" b="1" dirty="0"/>
                  <a:t>if you write the formula exactly in that order</a:t>
                </a:r>
                <a:r>
                  <a:rPr lang="en-IN" dirty="0"/>
                  <a:t>, you get: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82.64&lt;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𝜎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&lt;3.59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E542A-82C0-E70D-99DE-47D9B7687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44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EA67-EF60-E4D7-D6E1-0888D904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9FC2-862B-E377-AEF0-CF9326FC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00CFC-68A9-0B06-53D7-B3000FF0EB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So </a:t>
                </a:r>
                <a:r>
                  <a:rPr lang="en-IN" b="1" dirty="0"/>
                  <a:t>if you write the formula exactly in that order</a:t>
                </a:r>
                <a:r>
                  <a:rPr lang="en-IN" dirty="0"/>
                  <a:t>, you get: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82.64&lt;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𝜎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&lt;3.59</m:t>
                    </m:r>
                  </m:oMath>
                </a14:m>
                <a:endParaRPr lang="en-IN" dirty="0"/>
              </a:p>
              <a:p>
                <a:r>
                  <a:rPr lang="en-IN" dirty="0"/>
                  <a:t>which is impossible because 82.64 cannot be less than 3.59.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900CFC-68A9-0B06-53D7-B3000FF0EB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23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CCCF-A996-BA00-5EE7-1AC64CD6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DEA4-10D4-0628-9B5E-96602419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Therefore, here's the important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AB6A4-A8CA-968F-0DB9-DCC93B6AE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</a:t>
                </a:r>
                <a:r>
                  <a:rPr lang="en-IN" b="1" dirty="0"/>
                  <a:t>chi-square values go in the opposite positions</a:t>
                </a:r>
                <a:r>
                  <a:rPr lang="en-IN" dirty="0"/>
                  <a:t> when forming the actual lower and upper limits: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f>
                          <m:fPr>
                            <m:ctrlPr>
                              <a:rPr lang="en-IN"/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𝑠</m:t>
                                </m:r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/>
                                </m:ctrlPr>
                              </m:sSubSupPr>
                              <m:e>
                                <m:r>
                                  <a:rPr lang="en-IN" i="1"/>
                                  <m:t>𝜒</m:t>
                                </m:r>
                              </m:e>
                              <m:sub>
                                <m:r>
                                  <a:rPr lang="en-IN"/>
                                  <m:t>0.025</m:t>
                                </m:r>
                              </m:sub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IN"/>
                          <m:t>&lt;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𝜎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&lt;</m:t>
                        </m:r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 i="1"/>
                                  <m:t>𝑛</m:t>
                                </m:r>
                                <m:r>
                                  <a:rPr lang="en-IN"/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r>
                                  <a:rPr lang="en-IN" i="1"/>
                                  <m:t>𝑠</m:t>
                                </m:r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IN" i="1"/>
                                </m:ctrlPr>
                              </m:sSubSupPr>
                              <m:e>
                                <m:r>
                                  <a:rPr lang="en-IN" i="1"/>
                                  <m:t>𝜒</m:t>
                                </m:r>
                              </m:e>
                              <m:sub>
                                <m:r>
                                  <a:rPr lang="en-IN"/>
                                  <m:t>0.975</m:t>
                                </m:r>
                              </m:sub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r>
                  <a:rPr lang="en-IN" dirty="0"/>
                  <a:t>Thus: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40</m:t>
                        </m:r>
                      </m:num>
                      <m:den>
                        <m:r>
                          <a:rPr lang="en-IN"/>
                          <m:t>11.143</m:t>
                        </m:r>
                      </m:den>
                    </m:f>
                    <m:r>
                      <a:rPr lang="en-IN"/>
                      <m:t>&lt;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𝜎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&lt;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40</m:t>
                        </m:r>
                      </m:num>
                      <m:den>
                        <m:r>
                          <a:rPr lang="en-IN"/>
                          <m:t>0.484</m:t>
                        </m:r>
                      </m:den>
                    </m:f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/>
                          <m:t>3.59&lt;</m:t>
                        </m:r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𝜎</m:t>
                            </m:r>
                          </m:e>
                          <m:sup>
                            <m:r>
                              <a:rPr lang="en-IN"/>
                              <m:t>2</m:t>
                            </m:r>
                          </m:sup>
                        </m:sSup>
                        <m:r>
                          <a:rPr lang="en-IN"/>
                          <m:t>&lt;82.64</m:t>
                        </m:r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BAB6A4-A8CA-968F-0DB9-DCC93B6AE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471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381</Words>
  <Application>Microsoft Office PowerPoint</Application>
  <PresentationFormat>Widescreen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Confidence Interval for Variance</vt:lpstr>
      <vt:lpstr>First, what are we trying to estimate?</vt:lpstr>
      <vt:lpstr>GRAPH</vt:lpstr>
      <vt:lpstr>Example</vt:lpstr>
      <vt:lpstr>Find the sample mean</vt:lpstr>
      <vt:lpstr>Find the sample mean</vt:lpstr>
      <vt:lpstr>Step1: Find the sample mean</vt:lpstr>
      <vt:lpstr>Step 2: Find the deviations and squared deviations</vt:lpstr>
      <vt:lpstr>Step 2: Find the deviations and squared deviations</vt:lpstr>
      <vt:lpstr>Step 3: Find sample variance</vt:lpstr>
      <vt:lpstr>Step 3: Find sample variance</vt:lpstr>
      <vt:lpstr>Step 4: Find the Degrees of Freedom</vt:lpstr>
      <vt:lpstr>Step 5: Use the Chi-square distribution</vt:lpstr>
      <vt:lpstr>Step 6: Determine the Chi-Square Critical Values</vt:lpstr>
      <vt:lpstr>Step 6: Determine the Chi-Square Critical Values</vt:lpstr>
      <vt:lpstr>Table</vt:lpstr>
      <vt:lpstr>Calculate the C.I for d.f 4</vt:lpstr>
      <vt:lpstr>Final answer</vt:lpstr>
      <vt:lpstr>Final answer</vt:lpstr>
      <vt:lpstr>Final answer</vt:lpstr>
      <vt:lpstr>Therefore, here's the important correction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12</cp:revision>
  <dcterms:created xsi:type="dcterms:W3CDTF">2026-08-28T04:51:19Z</dcterms:created>
  <dcterms:modified xsi:type="dcterms:W3CDTF">2026-08-28T06:13:23Z</dcterms:modified>
</cp:coreProperties>
</file>